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7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7014" autoAdjust="0"/>
  </p:normalViewPr>
  <p:slideViewPr>
    <p:cSldViewPr>
      <p:cViewPr varScale="1">
        <p:scale>
          <a:sx n="75" d="100"/>
          <a:sy n="75" d="100"/>
        </p:scale>
        <p:origin x="-2664" y="-96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8FC99511-58BD-4436-8000-9EFBED939E9B}" type="datetimeFigureOut">
              <a:rPr lang="zh-CN" altLang="en-US"/>
              <a:pPr>
                <a:defRPr/>
              </a:pPr>
              <a:t>2016/9/27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0E151D3B-9B59-4FE6-A360-16A93C680F3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1087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151D3B-9B59-4FE6-A360-16A93C680F37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107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International </a:t>
            </a:r>
            <a:r>
              <a:rPr lang="en-US" altLang="zh-CN" dirty="0" err="1" smtClean="0"/>
              <a:t>Electrotechnical</a:t>
            </a:r>
            <a:r>
              <a:rPr lang="en-US" altLang="zh-CN" dirty="0" smtClean="0"/>
              <a:t> Commission (IEC)</a:t>
            </a:r>
          </a:p>
          <a:p>
            <a:r>
              <a:rPr lang="en-US" altLang="zh-CN" dirty="0" smtClean="0"/>
              <a:t>Standardization Administration of China (SAC)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151D3B-9B59-4FE6-A360-16A93C680F37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201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HDLC</a:t>
            </a:r>
            <a:r>
              <a:rPr lang="zh-CN" altLang="en-US" dirty="0" smtClean="0"/>
              <a:t>：高级数据链路控制（</a:t>
            </a:r>
            <a:r>
              <a:rPr lang="en-US" altLang="zh-CN" dirty="0" smtClean="0"/>
              <a:t>High-Level Data Link Control</a:t>
            </a:r>
            <a:r>
              <a:rPr lang="zh-CN" altLang="en-US" dirty="0" smtClean="0"/>
              <a:t>或简称</a:t>
            </a:r>
            <a:r>
              <a:rPr lang="en-US" altLang="zh-CN" i="1" dirty="0" smtClean="0"/>
              <a:t>HDLC</a:t>
            </a:r>
            <a:r>
              <a:rPr lang="zh-CN" altLang="en-US" dirty="0" smtClean="0"/>
              <a:t>），是一个在同步网上传输数据、面向比特的数据链路层协议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151D3B-9B59-4FE6-A360-16A93C680F37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464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151D3B-9B59-4FE6-A360-16A93C680F37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107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七层是物理层、数据链路层、网络层、传输层、会话层、表示层和应用层，</a:t>
            </a:r>
            <a:r>
              <a:rPr lang="en-US" altLang="zh-CN" dirty="0" err="1" smtClean="0"/>
              <a:t>modbus</a:t>
            </a:r>
            <a:r>
              <a:rPr lang="zh-CN" altLang="en-US" dirty="0" smtClean="0"/>
              <a:t>协议在网络层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151D3B-9B59-4FE6-A360-16A93C680F37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2644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数据场最大</a:t>
            </a:r>
            <a:r>
              <a:rPr lang="en-US" altLang="zh-CN" dirty="0" smtClean="0"/>
              <a:t>256</a:t>
            </a:r>
            <a:r>
              <a:rPr lang="zh-CN" altLang="en-US" dirty="0" smtClean="0"/>
              <a:t>字节的原因：</a:t>
            </a:r>
            <a:r>
              <a:rPr lang="en-US" altLang="zh-CN" dirty="0" smtClean="0"/>
              <a:t>Modbus</a:t>
            </a:r>
            <a:r>
              <a:rPr lang="zh-CN" altLang="en-US" dirty="0" smtClean="0"/>
              <a:t>首先在串行通信网络上实现，</a:t>
            </a:r>
            <a:endParaRPr lang="en-US" altLang="zh-CN" dirty="0" smtClean="0"/>
          </a:p>
          <a:p>
            <a:r>
              <a:rPr lang="en-US" altLang="zh-CN" dirty="0" smtClean="0"/>
              <a:t>RS485</a:t>
            </a:r>
            <a:r>
              <a:rPr lang="zh-CN" altLang="en-US" dirty="0" smtClean="0"/>
              <a:t>的帧为</a:t>
            </a:r>
            <a:r>
              <a:rPr lang="en-US" altLang="zh-CN" dirty="0" smtClean="0"/>
              <a:t>256</a:t>
            </a:r>
            <a:r>
              <a:rPr lang="zh-CN" altLang="en-US" dirty="0" smtClean="0"/>
              <a:t>字节</a:t>
            </a:r>
            <a:r>
              <a:rPr lang="en-US" altLang="zh-CN" dirty="0" smtClean="0"/>
              <a:t>=1</a:t>
            </a:r>
            <a:r>
              <a:rPr lang="zh-CN" altLang="en-US" dirty="0" smtClean="0"/>
              <a:t>字节</a:t>
            </a:r>
            <a:r>
              <a:rPr lang="en-US" altLang="zh-CN" dirty="0" smtClean="0"/>
              <a:t>unit id+</a:t>
            </a:r>
            <a:r>
              <a:rPr lang="zh-CN" altLang="en-US" dirty="0" smtClean="0"/>
              <a:t>编码场</a:t>
            </a:r>
            <a:r>
              <a:rPr lang="en-US" altLang="zh-CN" dirty="0" smtClean="0"/>
              <a:t>1</a:t>
            </a:r>
            <a:r>
              <a:rPr lang="zh-CN" altLang="en-US" dirty="0" smtClean="0"/>
              <a:t>字节</a:t>
            </a:r>
            <a:r>
              <a:rPr lang="en-US" altLang="zh-CN" dirty="0" smtClean="0"/>
              <a:t>+</a:t>
            </a:r>
            <a:r>
              <a:rPr lang="zh-CN" altLang="en-US" dirty="0" smtClean="0"/>
              <a:t>数据场</a:t>
            </a:r>
            <a:r>
              <a:rPr lang="en-US" altLang="zh-CN" dirty="0" smtClean="0"/>
              <a:t>+CRC2</a:t>
            </a:r>
            <a:r>
              <a:rPr lang="zh-CN" altLang="en-US" dirty="0" smtClean="0"/>
              <a:t>字节；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151D3B-9B59-4FE6-A360-16A93C680F37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8943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151D3B-9B59-4FE6-A360-16A93C680F37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0180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151D3B-9B59-4FE6-A360-16A93C680F37}" type="slidenum">
              <a:rPr lang="zh-CN" altLang="en-US" smtClean="0"/>
              <a:pPr>
                <a:defRPr/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107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151D3B-9B59-4FE6-A360-16A93C680F37}" type="slidenum">
              <a:rPr lang="zh-CN" altLang="en-US" smtClean="0"/>
              <a:pPr>
                <a:defRPr/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2613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LRC</a:t>
            </a:r>
            <a:r>
              <a:rPr lang="zh-CN" altLang="en-US" dirty="0" smtClean="0"/>
              <a:t>纵向冗余校验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151D3B-9B59-4FE6-A360-16A93C680F37}" type="slidenum">
              <a:rPr lang="zh-CN" altLang="en-US" smtClean="0"/>
              <a:pPr>
                <a:defRPr/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6034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RTU -- remote terminal unit </a:t>
            </a:r>
          </a:p>
          <a:p>
            <a:r>
              <a:rPr lang="en-US" altLang="zh-CN" dirty="0" smtClean="0"/>
              <a:t>ASCII -- American Standard Code for Information Interchange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151D3B-9B59-4FE6-A360-16A93C680F37}" type="slidenum">
              <a:rPr lang="zh-CN" altLang="en-US" smtClean="0"/>
              <a:pPr>
                <a:defRPr/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7178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151D3B-9B59-4FE6-A360-16A93C680F37}" type="slidenum">
              <a:rPr lang="zh-CN" altLang="en-US" smtClean="0"/>
              <a:pPr>
                <a:defRPr/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1074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EthernetII</a:t>
            </a:r>
            <a:r>
              <a:rPr lang="en-US" altLang="zh-CN" dirty="0" smtClean="0"/>
              <a:t>/802.3 </a:t>
            </a:r>
            <a:r>
              <a:rPr lang="zh-CN" altLang="en-US" dirty="0" smtClean="0"/>
              <a:t>以太网</a:t>
            </a:r>
            <a:endParaRPr lang="en-US" altLang="zh-CN" dirty="0" smtClean="0"/>
          </a:p>
          <a:p>
            <a:r>
              <a:rPr lang="en-US" altLang="zh-CN" dirty="0" smtClean="0"/>
              <a:t>802.11 </a:t>
            </a:r>
            <a:r>
              <a:rPr lang="zh-CN" altLang="en-US" dirty="0" smtClean="0"/>
              <a:t>无线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151D3B-9B59-4FE6-A360-16A93C680F37}" type="slidenum">
              <a:rPr lang="zh-CN" altLang="en-US" smtClean="0"/>
              <a:pPr>
                <a:defRPr/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3390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 smtClean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151D3B-9B59-4FE6-A360-16A93C680F37}" type="slidenum">
              <a:rPr lang="zh-CN" altLang="en-US" smtClean="0"/>
              <a:pPr>
                <a:defRPr/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2246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IANA(The Internet Assigned Numbers Authority</a:t>
            </a:r>
            <a:r>
              <a:rPr lang="zh-CN" altLang="en-US" dirty="0" smtClean="0"/>
              <a:t>，互联网数字分配机构</a:t>
            </a:r>
            <a:r>
              <a:rPr lang="en-US" altLang="zh-CN" dirty="0" smtClean="0"/>
              <a:t>)</a:t>
            </a:r>
          </a:p>
          <a:p>
            <a:r>
              <a:rPr lang="en-US" altLang="zh-CN" dirty="0" smtClean="0"/>
              <a:t>IANA</a:t>
            </a:r>
            <a:r>
              <a:rPr lang="zh-CN" altLang="en-US" dirty="0" smtClean="0"/>
              <a:t>分配和维护在互联网技术标准（或者称为协议）中的唯一编码和数值系统。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151D3B-9B59-4FE6-A360-16A93C680F37}" type="slidenum">
              <a:rPr lang="zh-CN" altLang="en-US" smtClean="0"/>
              <a:pPr>
                <a:defRPr/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8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B25332-5010-4AB0-9E5B-444E3FC5C73E}" type="datetimeFigureOut">
              <a:rPr lang="zh-CN" altLang="en-US"/>
              <a:pPr>
                <a:defRPr/>
              </a:pPr>
              <a:t>2016/9/27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8F2C8-C3F1-413B-B6BC-2C81F228F63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965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4E989-E6A0-4364-A920-7B7CEE8082AA}" type="datetimeFigureOut">
              <a:rPr lang="zh-CN" altLang="en-US"/>
              <a:pPr>
                <a:defRPr/>
              </a:pPr>
              <a:t>2016/9/27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C9D7F2-BEEF-4D6B-9304-A9AA604935E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03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67EB99-3B26-4D43-AD00-4947EEF1B45A}" type="datetimeFigureOut">
              <a:rPr lang="zh-CN" altLang="en-US"/>
              <a:pPr>
                <a:defRPr/>
              </a:pPr>
              <a:t>2016/9/27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8AD29C-DBAC-42AC-B02C-FC0F50A3204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303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0E0160-6056-4D27-9BB8-42963CD63E7E}" type="datetimeFigureOut">
              <a:rPr lang="zh-CN" altLang="en-US"/>
              <a:pPr>
                <a:defRPr/>
              </a:pPr>
              <a:t>2016/9/27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24D0F2-6A6F-4651-BC97-539A4818BFC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167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C63A39-0098-4992-BBE2-D03BD9E50A98}" type="datetimeFigureOut">
              <a:rPr lang="zh-CN" altLang="en-US"/>
              <a:pPr>
                <a:defRPr/>
              </a:pPr>
              <a:t>2016/9/27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9B5819-E69D-46C9-9EBD-BD5DCA58915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843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F903F4-306F-46B6-AFB5-7BCFBE85645C}" type="datetimeFigureOut">
              <a:rPr lang="zh-CN" altLang="en-US"/>
              <a:pPr>
                <a:defRPr/>
              </a:pPr>
              <a:t>2016/9/27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7FA131-1F0D-4822-91F3-B2DBF0B247C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835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B5B80D-2A03-4374-BD9F-8C853D1C77D2}" type="datetimeFigureOut">
              <a:rPr lang="zh-CN" altLang="en-US"/>
              <a:pPr>
                <a:defRPr/>
              </a:pPr>
              <a:t>2016/9/27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41A0D9-FBF4-42D1-81AF-07591886A8B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076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4EBA03-8ADB-4F3E-A0FD-722391F38C05}" type="datetimeFigureOut">
              <a:rPr lang="zh-CN" altLang="en-US"/>
              <a:pPr>
                <a:defRPr/>
              </a:pPr>
              <a:t>2016/9/27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58D615-1705-4F94-A97B-C7B635880C7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76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1940BE-5BA0-4F58-876E-FE249FDF6764}" type="datetimeFigureOut">
              <a:rPr lang="zh-CN" altLang="en-US"/>
              <a:pPr>
                <a:defRPr/>
              </a:pPr>
              <a:t>2016/9/27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E9E723-B06C-4527-9C1E-177E1C9A2C9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418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B52850-22EF-42C9-86CF-88B3EFF85620}" type="datetimeFigureOut">
              <a:rPr lang="zh-CN" altLang="en-US"/>
              <a:pPr>
                <a:defRPr/>
              </a:pPr>
              <a:t>2016/9/27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906B4A-07BF-488E-888D-DF3FC087DCB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293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D62853-682A-4726-B78E-E85062740048}" type="datetimeFigureOut">
              <a:rPr lang="zh-CN" altLang="en-US"/>
              <a:pPr>
                <a:defRPr/>
              </a:pPr>
              <a:t>2016/9/27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B2F16F-CB8E-4C6E-AA99-073DA2D194D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254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107950" y="44450"/>
            <a:ext cx="734377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107950" y="908050"/>
            <a:ext cx="89281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04F2463-1EF9-4D66-B013-E09BB1FB8A3D}" type="datetimeFigureOut">
              <a:rPr lang="zh-CN" altLang="en-US"/>
              <a:pPr>
                <a:defRPr/>
              </a:pPr>
              <a:t>2016/9/27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9376D56-12BD-45FF-8B07-98415CD4BBA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031" name="图片 13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6165850"/>
            <a:ext cx="91440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Line 41"/>
          <p:cNvSpPr>
            <a:spLocks noChangeShapeType="1"/>
          </p:cNvSpPr>
          <p:nvPr userDrawn="1"/>
        </p:nvSpPr>
        <p:spPr bwMode="auto">
          <a:xfrm>
            <a:off x="179388" y="836613"/>
            <a:ext cx="7272337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033" name="图片 15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44450"/>
            <a:ext cx="10033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002060"/>
          </a:solidFill>
          <a:latin typeface="Calibri" panose="020F0502020204030204" pitchFamily="34" charset="0"/>
          <a:ea typeface="楷体_GB2312" panose="02010609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Calibri" pitchFamily="34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Calibri" pitchFamily="34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Calibri" pitchFamily="34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Calibri" pitchFamily="34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Calibri" pitchFamily="34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Calibri" pitchFamily="34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Calibri" pitchFamily="34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Calibri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Ø"/>
        <a:defRPr sz="3200" kern="1200">
          <a:solidFill>
            <a:srgbClr val="4F6228"/>
          </a:solidFill>
          <a:latin typeface="Calibri" panose="020F0502020204030204" pitchFamily="34" charset="0"/>
          <a:ea typeface="楷体_GB2312" panose="0201060903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ü"/>
        <a:defRPr sz="2800" kern="1200">
          <a:solidFill>
            <a:srgbClr val="4F6228"/>
          </a:solidFill>
          <a:latin typeface="Calibri" panose="020F0502020204030204" pitchFamily="34" charset="0"/>
          <a:ea typeface="楷体_GB2312" panose="0201060903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4F6228"/>
          </a:solidFill>
          <a:latin typeface="Calibri" panose="020F0502020204030204" pitchFamily="34" charset="0"/>
          <a:ea typeface="楷体_GB2312" panose="0201060903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lang="zh-CN" altLang="en-US" sz="8000" dirty="0"/>
              <a:t>第</a:t>
            </a:r>
            <a:r>
              <a:rPr lang="en-US" altLang="zh-CN" sz="8000" dirty="0"/>
              <a:t>4</a:t>
            </a:r>
            <a:r>
              <a:rPr lang="zh-CN" altLang="en-US" sz="8000" dirty="0"/>
              <a:t>章 </a:t>
            </a:r>
            <a:r>
              <a:rPr lang="en-US" altLang="zh-CN" sz="8000" dirty="0"/>
              <a:t>Modbus</a:t>
            </a:r>
            <a:endParaRPr lang="zh-CN" altLang="en-US" sz="8000" dirty="0" smtClean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736850" y="4437063"/>
            <a:ext cx="6400800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主讲教师：张筱磊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第</a:t>
            </a:r>
            <a:r>
              <a:rPr lang="en-US" altLang="zh-CN" dirty="0" smtClean="0"/>
              <a:t>4</a:t>
            </a:r>
            <a:r>
              <a:rPr lang="zh-CN" altLang="en-US" dirty="0" smtClean="0"/>
              <a:t>章 </a:t>
            </a:r>
            <a:r>
              <a:rPr lang="en-US" altLang="zh-CN" dirty="0" smtClean="0"/>
              <a:t>Modbus</a:t>
            </a:r>
            <a:endParaRPr lang="zh-CN" altLang="en-US" dirty="0" smtClean="0"/>
          </a:p>
        </p:txBody>
      </p:sp>
      <p:sp>
        <p:nvSpPr>
          <p:cNvPr id="40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b="1" dirty="0" smtClean="0">
                <a:solidFill>
                  <a:srgbClr val="FF0000"/>
                </a:solidFill>
              </a:rPr>
              <a:t>4.1 </a:t>
            </a:r>
            <a:r>
              <a:rPr lang="zh-CN" altLang="en-US" b="1" dirty="0" smtClean="0">
                <a:solidFill>
                  <a:srgbClr val="FF0000"/>
                </a:solidFill>
              </a:rPr>
              <a:t>概述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4.1 </a:t>
            </a:r>
            <a:r>
              <a:rPr lang="zh-CN" altLang="en-US" dirty="0" smtClean="0"/>
              <a:t>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zh-CN" sz="2400" dirty="0" err="1" smtClean="0"/>
              <a:t>Modbus</a:t>
            </a:r>
            <a:r>
              <a:rPr lang="en-US" altLang="zh-CN" sz="2400" baseline="30000" dirty="0" err="1" smtClean="0"/>
              <a:t>TM</a:t>
            </a:r>
            <a:r>
              <a:rPr lang="zh-CN" altLang="en-US" sz="2400" dirty="0" smtClean="0"/>
              <a:t>协议由</a:t>
            </a:r>
            <a:r>
              <a:rPr lang="en-US" altLang="zh-CN" sz="2400" dirty="0" err="1" smtClean="0"/>
              <a:t>Modicon</a:t>
            </a:r>
            <a:r>
              <a:rPr lang="zh-CN" altLang="en-US" sz="2400" dirty="0" smtClean="0"/>
              <a:t>在</a:t>
            </a:r>
            <a:r>
              <a:rPr lang="en-US" altLang="zh-CN" sz="2400" dirty="0" smtClean="0"/>
              <a:t>1978</a:t>
            </a:r>
            <a:r>
              <a:rPr lang="zh-CN" altLang="en-US" sz="2400" dirty="0" smtClean="0"/>
              <a:t>年发明，其使用</a:t>
            </a:r>
            <a:r>
              <a:rPr lang="en-US" altLang="zh-CN" sz="2400" dirty="0" smtClean="0"/>
              <a:t>RS232</a:t>
            </a:r>
            <a:r>
              <a:rPr lang="zh-CN" altLang="en-US" sz="2400" dirty="0" smtClean="0"/>
              <a:t>接口，在控制器与传感器之间通信控制数据。目前，</a:t>
            </a:r>
            <a:r>
              <a:rPr lang="en-US" altLang="zh-CN" sz="2400" dirty="0" smtClean="0"/>
              <a:t>Modbus</a:t>
            </a:r>
            <a:r>
              <a:rPr lang="zh-CN" altLang="en-US" sz="2400" dirty="0" smtClean="0"/>
              <a:t>是自动化设备中支持最多的协议；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zh-CN" sz="2400" dirty="0" smtClean="0"/>
              <a:t>Modbus</a:t>
            </a:r>
            <a:r>
              <a:rPr lang="zh-CN" altLang="en-US" sz="2400" dirty="0"/>
              <a:t>使用客户端</a:t>
            </a:r>
            <a:r>
              <a:rPr lang="en-US" altLang="zh-CN" sz="2400" dirty="0"/>
              <a:t>/</a:t>
            </a:r>
            <a:r>
              <a:rPr lang="zh-CN" altLang="en-US" sz="2400" dirty="0"/>
              <a:t>服务器方式</a:t>
            </a:r>
            <a:r>
              <a:rPr lang="zh-CN" altLang="en-US" sz="2400" dirty="0" smtClean="0"/>
              <a:t>通信，实施简单，可在任意计算机系统（</a:t>
            </a:r>
            <a:r>
              <a:rPr lang="en-US" altLang="zh-CN" sz="2400" dirty="0" smtClean="0"/>
              <a:t>CPU</a:t>
            </a:r>
            <a:r>
              <a:rPr lang="zh-CN" altLang="en-US" sz="2400" dirty="0" smtClean="0"/>
              <a:t>，微处理器等）上运行，添加新节点时无需复杂配置工具，无需专利设备或软件；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zh-CN" sz="2400" dirty="0"/>
              <a:t>Modbus</a:t>
            </a:r>
            <a:r>
              <a:rPr lang="zh-CN" altLang="en-US" sz="2400" dirty="0"/>
              <a:t>商标属于</a:t>
            </a:r>
            <a:r>
              <a:rPr lang="en-US" altLang="zh-CN" sz="2400" dirty="0"/>
              <a:t>Schneider</a:t>
            </a:r>
            <a:r>
              <a:rPr lang="zh-CN" altLang="en-US" sz="2400" dirty="0"/>
              <a:t>电气，但</a:t>
            </a:r>
            <a:r>
              <a:rPr lang="en-US" altLang="zh-CN" sz="2400" dirty="0"/>
              <a:t>Modbus</a:t>
            </a:r>
            <a:r>
              <a:rPr lang="zh-CN" altLang="en-US" sz="2400" dirty="0"/>
              <a:t>与</a:t>
            </a:r>
            <a:r>
              <a:rPr lang="en-US" altLang="zh-CN" sz="2400" dirty="0"/>
              <a:t>Modbus/TCP</a:t>
            </a:r>
            <a:r>
              <a:rPr lang="zh-CN" altLang="en-US" sz="2400" dirty="0"/>
              <a:t>标准被转给了</a:t>
            </a:r>
            <a:r>
              <a:rPr lang="en-US" altLang="zh-CN" sz="2400" dirty="0"/>
              <a:t>Modbus.org</a:t>
            </a:r>
            <a:r>
              <a:rPr lang="zh-CN" altLang="en-US" sz="2400" dirty="0" smtClean="0"/>
              <a:t>社区，即标准可从网站自由下载。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zh-CN" sz="2400" dirty="0" smtClean="0"/>
              <a:t>Modbus</a:t>
            </a:r>
            <a:r>
              <a:rPr lang="zh-CN" altLang="en-US" sz="2400" dirty="0" smtClean="0"/>
              <a:t>是</a:t>
            </a:r>
            <a:r>
              <a:rPr lang="en-US" altLang="zh-CN" sz="2400" dirty="0" smtClean="0"/>
              <a:t>IEC</a:t>
            </a:r>
            <a:r>
              <a:rPr lang="zh-CN" altLang="en-US" sz="2400" dirty="0" smtClean="0"/>
              <a:t>标准与</a:t>
            </a:r>
            <a:r>
              <a:rPr lang="en-US" altLang="zh-CN" sz="2400" dirty="0" smtClean="0"/>
              <a:t>SAC</a:t>
            </a:r>
            <a:r>
              <a:rPr lang="zh-CN" altLang="en-US" sz="2400" dirty="0" smtClean="0"/>
              <a:t>标准；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zh-CN" sz="2400" dirty="0" smtClean="0"/>
              <a:t>Modbus</a:t>
            </a:r>
            <a:r>
              <a:rPr lang="zh-CN" altLang="en-US" sz="2400" dirty="0" smtClean="0"/>
              <a:t>协议栈（下页图）</a:t>
            </a:r>
            <a:endParaRPr lang="en-US" altLang="zh-CN" sz="2400" dirty="0"/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altLang="zh-CN" sz="2400" dirty="0" smtClean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4.1 </a:t>
            </a:r>
            <a:r>
              <a:rPr lang="zh-CN" altLang="en-US" dirty="0"/>
              <a:t>概述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51" y="1196752"/>
            <a:ext cx="8760329" cy="3528392"/>
          </a:xfrm>
        </p:spPr>
      </p:pic>
      <p:sp>
        <p:nvSpPr>
          <p:cNvPr id="5" name="TextBox 4"/>
          <p:cNvSpPr txBox="1"/>
          <p:nvPr/>
        </p:nvSpPr>
        <p:spPr>
          <a:xfrm>
            <a:off x="2699792" y="5229200"/>
            <a:ext cx="3528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 smtClean="0"/>
              <a:t>Modbus</a:t>
            </a:r>
            <a:r>
              <a:rPr lang="zh-CN" altLang="en-US" sz="3200" dirty="0" smtClean="0"/>
              <a:t>协议栈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71840573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第</a:t>
            </a:r>
            <a:r>
              <a:rPr lang="en-US" altLang="zh-CN" dirty="0" smtClean="0"/>
              <a:t>4</a:t>
            </a:r>
            <a:r>
              <a:rPr lang="zh-CN" altLang="en-US" dirty="0" smtClean="0"/>
              <a:t>章 </a:t>
            </a:r>
            <a:r>
              <a:rPr lang="en-US" altLang="zh-CN" dirty="0" smtClean="0"/>
              <a:t>Modbus</a:t>
            </a:r>
            <a:endParaRPr lang="zh-CN" altLang="en-US" dirty="0" smtClean="0"/>
          </a:p>
        </p:txBody>
      </p:sp>
      <p:sp>
        <p:nvSpPr>
          <p:cNvPr id="40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b="1" dirty="0" smtClean="0">
                <a:solidFill>
                  <a:schemeClr val="accent3">
                    <a:lumMod val="50000"/>
                  </a:schemeClr>
                </a:solidFill>
              </a:rPr>
              <a:t>4.1 </a:t>
            </a:r>
            <a:r>
              <a:rPr lang="zh-CN" altLang="en-US" b="1" dirty="0" smtClean="0">
                <a:solidFill>
                  <a:schemeClr val="accent3">
                    <a:lumMod val="50000"/>
                  </a:schemeClr>
                </a:solidFill>
              </a:rPr>
              <a:t>概述</a:t>
            </a:r>
            <a:endParaRPr lang="en-US" altLang="zh-CN" b="1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eaLnBrk="1" hangingPunct="1"/>
            <a:r>
              <a:rPr lang="en-US" altLang="zh-CN" b="1" dirty="0" smtClean="0">
                <a:solidFill>
                  <a:srgbClr val="FF0000"/>
                </a:solidFill>
              </a:rPr>
              <a:t>4.2 Modbus</a:t>
            </a:r>
            <a:r>
              <a:rPr lang="zh-CN" altLang="en-US" b="1" dirty="0" smtClean="0">
                <a:solidFill>
                  <a:srgbClr val="FF0000"/>
                </a:solidFill>
              </a:rPr>
              <a:t>协议</a:t>
            </a:r>
          </a:p>
        </p:txBody>
      </p:sp>
    </p:spTree>
    <p:extLst>
      <p:ext uri="{BB962C8B-B14F-4D97-AF65-F5344CB8AC3E}">
        <p14:creationId xmlns:p14="http://schemas.microsoft.com/office/powerpoint/2010/main" val="13600265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Modbus</a:t>
            </a:r>
            <a:r>
              <a:rPr lang="zh-CN" altLang="en-US" dirty="0" smtClean="0"/>
              <a:t>协议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b="1" dirty="0" smtClean="0">
                <a:solidFill>
                  <a:srgbClr val="FF0000"/>
                </a:solidFill>
              </a:rPr>
              <a:t>1.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客户端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/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服务器通信</a:t>
            </a:r>
            <a:r>
              <a:rPr lang="zh-CN" altLang="en-US" sz="2800" b="1" dirty="0" smtClean="0">
                <a:solidFill>
                  <a:schemeClr val="accent3">
                    <a:lumMod val="50000"/>
                  </a:schemeClr>
                </a:solidFill>
              </a:rPr>
              <a:t>简介</a:t>
            </a:r>
            <a:endParaRPr lang="en-US" altLang="zh-CN" sz="2800" b="1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通信由</a:t>
            </a:r>
            <a:r>
              <a:rPr lang="zh-CN" altLang="en-US" sz="2400" dirty="0" smtClean="0">
                <a:solidFill>
                  <a:srgbClr val="C00000"/>
                </a:solidFill>
              </a:rPr>
              <a:t>客户端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向服务器发送请求</a:t>
            </a:r>
            <a:r>
              <a:rPr lang="zh-CN" altLang="en-US" sz="2400" dirty="0" smtClean="0">
                <a:solidFill>
                  <a:srgbClr val="C00000"/>
                </a:solidFill>
              </a:rPr>
              <a:t>开始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，实现传输信息、执行指令或其他功能；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服务器</a:t>
            </a:r>
            <a:r>
              <a:rPr lang="zh-CN" altLang="en-US" sz="2400" dirty="0" smtClean="0">
                <a:solidFill>
                  <a:srgbClr val="C00000"/>
                </a:solidFill>
              </a:rPr>
              <a:t>收到请求后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，执行指令或准备数据，随后响应客户端，指令已执行或返回请求数据；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系统</a:t>
            </a:r>
            <a:r>
              <a:rPr lang="zh-CN" altLang="en-US" sz="2400" dirty="0" smtClean="0">
                <a:solidFill>
                  <a:srgbClr val="C00000"/>
                </a:solidFill>
              </a:rPr>
              <a:t>响应时间受限于两个因素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：客户端发送请求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/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接收响应时间，服务器在特定时间内应答的能力；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设备中可以实现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Modbus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客户端服务、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Modbus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服务器服务（或同时实现两种服务）；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3">
                    <a:lumMod val="50000"/>
                  </a:schemeClr>
                </a:solidFill>
              </a:rPr>
              <a:t>一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个客户端可以同时向一个或多个服务器发起消息请求，一个服务器也可以同时响应一个或多个客户端请求；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2800" b="1" dirty="0">
                <a:solidFill>
                  <a:srgbClr val="FF0000"/>
                </a:solidFill>
              </a:rPr>
              <a:t>服务器与客户端消息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：服务器与客户端传递的消息通过</a:t>
            </a:r>
            <a:r>
              <a:rPr lang="en-US" altLang="zh-CN" sz="2400" dirty="0" smtClean="0">
                <a:solidFill>
                  <a:srgbClr val="C00000"/>
                </a:solidFill>
              </a:rPr>
              <a:t>APDU</a:t>
            </a:r>
            <a:r>
              <a:rPr lang="zh-CN" altLang="en-US" sz="2400" dirty="0" smtClean="0">
                <a:solidFill>
                  <a:srgbClr val="C00000"/>
                </a:solidFill>
              </a:rPr>
              <a:t>结构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定义</a:t>
            </a:r>
            <a:endParaRPr lang="zh-CN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45502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Modbus</a:t>
            </a:r>
            <a:r>
              <a:rPr lang="zh-CN" altLang="en-US" dirty="0"/>
              <a:t>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sz="2800" b="1" dirty="0" smtClean="0">
                <a:solidFill>
                  <a:srgbClr val="FF0000"/>
                </a:solidFill>
              </a:rPr>
              <a:t>Modbus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客户端服务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实现</a:t>
            </a:r>
            <a:r>
              <a:rPr lang="en-US" altLang="zh-CN" sz="2400" dirty="0" smtClean="0"/>
              <a:t>Modbus</a:t>
            </a:r>
            <a:r>
              <a:rPr lang="zh-CN" altLang="en-US" sz="2400" dirty="0" smtClean="0"/>
              <a:t>客户端服务的设备可以向实现服务器服务的设备发起消息请求，使得客户端可以与远程设备交换数据或向远程设备发送指令；</a:t>
            </a:r>
            <a:endParaRPr lang="en-US" altLang="zh-CN" sz="2400" dirty="0" smtClean="0"/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2800" b="1" dirty="0" smtClean="0">
                <a:solidFill>
                  <a:srgbClr val="FF0000"/>
                </a:solidFill>
              </a:rPr>
              <a:t>Modbus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服务器服务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/>
              <a:t>实现</a:t>
            </a:r>
            <a:r>
              <a:rPr lang="en-US" altLang="zh-CN" sz="2400" dirty="0"/>
              <a:t>Modbus</a:t>
            </a:r>
            <a:r>
              <a:rPr lang="zh-CN" altLang="en-US" sz="2400" dirty="0"/>
              <a:t>服务器服务的设备可响应任一</a:t>
            </a:r>
            <a:r>
              <a:rPr lang="en-US" altLang="zh-CN" sz="2400" dirty="0"/>
              <a:t>Modbus</a:t>
            </a:r>
            <a:r>
              <a:rPr lang="zh-CN" altLang="en-US" sz="2400" dirty="0"/>
              <a:t>客户端，</a:t>
            </a:r>
            <a:r>
              <a:rPr lang="en-US" altLang="zh-CN" sz="2400" dirty="0"/>
              <a:t> Modbus</a:t>
            </a:r>
            <a:r>
              <a:rPr lang="zh-CN" altLang="en-US" sz="2400" dirty="0"/>
              <a:t>服务器服务允许设备向远程设备开放其内部以及</a:t>
            </a:r>
            <a:r>
              <a:rPr lang="en-US" altLang="zh-CN" sz="2400" dirty="0"/>
              <a:t>I/O</a:t>
            </a:r>
            <a:r>
              <a:rPr lang="zh-CN" altLang="en-US" sz="2400" dirty="0"/>
              <a:t>数据的读写，同时允许执行其他指令；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2800" b="1" dirty="0">
                <a:solidFill>
                  <a:srgbClr val="FF0000"/>
                </a:solidFill>
              </a:rPr>
              <a:t>专用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客户端与服务器服务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市场上的许多设备已将有用的</a:t>
            </a:r>
            <a:r>
              <a:rPr lang="en-US" altLang="zh-CN" sz="2400" dirty="0" smtClean="0"/>
              <a:t>Modbus</a:t>
            </a:r>
            <a:r>
              <a:rPr lang="zh-CN" altLang="en-US" sz="2400" dirty="0" smtClean="0"/>
              <a:t>功能打包，通过简单配置即可使用，如</a:t>
            </a:r>
            <a:r>
              <a:rPr lang="en-US" altLang="zh-CN" sz="2400" dirty="0" smtClean="0"/>
              <a:t>Modbus</a:t>
            </a:r>
            <a:r>
              <a:rPr lang="zh-CN" altLang="en-US" sz="2400" dirty="0" smtClean="0"/>
              <a:t>扫描器，其允许反复配置以及读写</a:t>
            </a:r>
            <a:r>
              <a:rPr lang="en-US" altLang="zh-CN" sz="2400" dirty="0" smtClean="0"/>
              <a:t>Modbus</a:t>
            </a:r>
            <a:r>
              <a:rPr lang="zh-CN" altLang="en-US" sz="2400" dirty="0" smtClean="0"/>
              <a:t>网络设备。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7738187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Modbus</a:t>
            </a:r>
            <a:r>
              <a:rPr lang="zh-CN" altLang="en-US" dirty="0"/>
              <a:t>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b="1" dirty="0" smtClean="0">
                <a:solidFill>
                  <a:srgbClr val="FF0000"/>
                </a:solidFill>
              </a:rPr>
              <a:t>2.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应用协议数据单元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– Application Protocol Data Unit 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2800" b="1" dirty="0" smtClean="0">
                <a:solidFill>
                  <a:srgbClr val="FF0000"/>
                </a:solidFill>
              </a:rPr>
              <a:t> 结构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Modbus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协议数据单元（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protocol data unit – PDU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）包括两部分，</a:t>
            </a:r>
            <a:r>
              <a:rPr lang="zh-CN" altLang="en-US" sz="2400" dirty="0" smtClean="0">
                <a:solidFill>
                  <a:srgbClr val="C00000"/>
                </a:solidFill>
              </a:rPr>
              <a:t>编码场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与</a:t>
            </a:r>
            <a:r>
              <a:rPr lang="zh-CN" altLang="en-US" sz="2400" dirty="0" smtClean="0">
                <a:solidFill>
                  <a:srgbClr val="C00000"/>
                </a:solidFill>
              </a:rPr>
              <a:t>数据场，</a:t>
            </a:r>
            <a:r>
              <a:rPr lang="zh-CN" altLang="en-US" sz="2400" dirty="0">
                <a:solidFill>
                  <a:schemeClr val="accent3">
                    <a:lumMod val="50000"/>
                  </a:schemeClr>
                </a:solidFill>
              </a:rPr>
              <a:t>如下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图所示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zh-CN" sz="240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在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PDU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的基础上增加</a:t>
            </a:r>
            <a:r>
              <a:rPr lang="zh-CN" altLang="en-US" sz="2400" dirty="0">
                <a:solidFill>
                  <a:srgbClr val="C00000"/>
                </a:solidFill>
              </a:rPr>
              <a:t>单元标识符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（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Unit ID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），其即为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Modbus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应用协议数据单元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APDU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，如下图所示</a:t>
            </a:r>
            <a:endParaRPr lang="zh-CN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2898352"/>
            <a:ext cx="5811330" cy="91634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013176"/>
            <a:ext cx="7937152" cy="81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86206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Modbus</a:t>
            </a:r>
            <a:r>
              <a:rPr lang="zh-CN" altLang="en-US" dirty="0"/>
              <a:t>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2800" b="1" dirty="0">
                <a:solidFill>
                  <a:srgbClr val="FF0000"/>
                </a:solidFill>
              </a:rPr>
              <a:t>单元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标识符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– Unit 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Unit ID</a:t>
            </a:r>
            <a:r>
              <a:rPr lang="zh-CN" altLang="en-US" sz="2400" dirty="0" smtClean="0"/>
              <a:t>为</a:t>
            </a:r>
            <a:r>
              <a:rPr lang="en-US" altLang="zh-CN" sz="2400" dirty="0" smtClean="0"/>
              <a:t>8</a:t>
            </a:r>
            <a:r>
              <a:rPr lang="zh-CN" altLang="en-US" sz="2400" dirty="0" smtClean="0"/>
              <a:t>位，</a:t>
            </a:r>
            <a:r>
              <a:rPr lang="en-US" altLang="zh-CN" sz="2400" dirty="0" smtClean="0"/>
              <a:t>Modbus</a:t>
            </a:r>
            <a:r>
              <a:rPr lang="zh-CN" altLang="en-US" sz="2400" dirty="0"/>
              <a:t>的服务器服务</a:t>
            </a:r>
            <a:r>
              <a:rPr lang="zh-CN" altLang="en-US" sz="2400" dirty="0" smtClean="0"/>
              <a:t>通过</a:t>
            </a:r>
            <a:r>
              <a:rPr lang="en-US" altLang="zh-CN" sz="2400" dirty="0" smtClean="0"/>
              <a:t>Unit ID</a:t>
            </a:r>
            <a:r>
              <a:rPr lang="zh-CN" altLang="en-US" sz="2400" dirty="0" smtClean="0"/>
              <a:t>寻址</a:t>
            </a:r>
            <a:r>
              <a:rPr lang="zh-CN" altLang="en-US" sz="2400" dirty="0"/>
              <a:t>，即</a:t>
            </a:r>
            <a:r>
              <a:rPr lang="en-US" altLang="zh-CN" sz="2400" dirty="0">
                <a:solidFill>
                  <a:srgbClr val="C00000"/>
                </a:solidFill>
              </a:rPr>
              <a:t>ID</a:t>
            </a:r>
            <a:r>
              <a:rPr lang="zh-CN" altLang="en-US" sz="2400" dirty="0">
                <a:solidFill>
                  <a:srgbClr val="C00000"/>
                </a:solidFill>
              </a:rPr>
              <a:t>分配给服务器</a:t>
            </a:r>
            <a:r>
              <a:rPr lang="zh-CN" altLang="en-US" sz="2400" dirty="0"/>
              <a:t>，而不是客户端</a:t>
            </a:r>
            <a:r>
              <a:rPr lang="zh-CN" altLang="en-US" sz="2400" dirty="0" smtClean="0"/>
              <a:t>；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Unit ID</a:t>
            </a:r>
            <a:r>
              <a:rPr lang="zh-CN" altLang="en-US" sz="2400" dirty="0" smtClean="0"/>
              <a:t>可以表示服务器全部地址或部分地址，在两种情况下都要保证服务器地址唯一；</a:t>
            </a:r>
            <a:endParaRPr lang="en-US" altLang="zh-CN" sz="2400" dirty="0" smtClean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不是所有的</a:t>
            </a:r>
            <a:r>
              <a:rPr lang="en-US" altLang="zh-CN" sz="2400" dirty="0" smtClean="0"/>
              <a:t>Unit ID</a:t>
            </a:r>
            <a:r>
              <a:rPr lang="zh-CN" altLang="en-US" sz="2400" dirty="0" smtClean="0"/>
              <a:t>都用于表示地址，</a:t>
            </a:r>
            <a:r>
              <a:rPr lang="en-US" altLang="zh-CN" sz="2400" dirty="0" smtClean="0">
                <a:solidFill>
                  <a:srgbClr val="C00000"/>
                </a:solidFill>
              </a:rPr>
              <a:t>0</a:t>
            </a:r>
            <a:r>
              <a:rPr lang="zh-CN" altLang="en-US" sz="2400" dirty="0" smtClean="0"/>
              <a:t>为广播，</a:t>
            </a:r>
            <a:r>
              <a:rPr lang="en-US" altLang="zh-CN" sz="2400" dirty="0">
                <a:solidFill>
                  <a:srgbClr val="C00000"/>
                </a:solidFill>
              </a:rPr>
              <a:t>248~254</a:t>
            </a:r>
            <a:r>
              <a:rPr lang="zh-CN" altLang="en-US" sz="2400" dirty="0" smtClean="0"/>
              <a:t>保留；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solidFill>
                  <a:srgbClr val="C00000"/>
                </a:solidFill>
              </a:rPr>
              <a:t>1~247</a:t>
            </a:r>
            <a:r>
              <a:rPr lang="zh-CN" altLang="en-US" sz="2400" dirty="0" smtClean="0"/>
              <a:t>为服务器地址，其响应消息中的</a:t>
            </a:r>
            <a:r>
              <a:rPr lang="en-US" altLang="zh-CN" sz="2400" dirty="0" smtClean="0"/>
              <a:t>Unit ID</a:t>
            </a:r>
            <a:r>
              <a:rPr lang="zh-CN" altLang="en-US" sz="2400" dirty="0" smtClean="0"/>
              <a:t>也为服务器地址；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solidFill>
                  <a:srgbClr val="C00000"/>
                </a:solidFill>
              </a:rPr>
              <a:t>Unit ID</a:t>
            </a:r>
            <a:r>
              <a:rPr lang="zh-CN" altLang="en-US" sz="2400" dirty="0" smtClean="0">
                <a:solidFill>
                  <a:srgbClr val="C00000"/>
                </a:solidFill>
              </a:rPr>
              <a:t>为</a:t>
            </a:r>
            <a:r>
              <a:rPr lang="en-US" altLang="zh-CN" sz="2400" dirty="0" smtClean="0">
                <a:solidFill>
                  <a:srgbClr val="C00000"/>
                </a:solidFill>
              </a:rPr>
              <a:t>255</a:t>
            </a:r>
            <a:r>
              <a:rPr lang="zh-CN" altLang="en-US" sz="2400" dirty="0" smtClean="0"/>
              <a:t>表示：</a:t>
            </a:r>
            <a:endParaRPr lang="en-US" altLang="zh-CN" sz="2400" dirty="0" smtClean="0"/>
          </a:p>
          <a:p>
            <a:pPr marL="914400" lvl="1" indent="-457200">
              <a:buFont typeface="+mj-ea"/>
              <a:buAutoNum type="circleNumDbPlain"/>
            </a:pPr>
            <a:r>
              <a:rPr lang="zh-CN" altLang="en-US" sz="2400" dirty="0" smtClean="0"/>
              <a:t>服务器在传输层已经被标识，无需分配专用</a:t>
            </a:r>
            <a:r>
              <a:rPr lang="en-US" altLang="zh-CN" sz="2400" dirty="0" smtClean="0"/>
              <a:t>Unit ID</a:t>
            </a:r>
            <a:r>
              <a:rPr lang="zh-CN" altLang="en-US" sz="2400" dirty="0" smtClean="0"/>
              <a:t>；</a:t>
            </a:r>
            <a:endParaRPr lang="en-US" altLang="zh-CN" sz="2400" dirty="0" smtClean="0"/>
          </a:p>
          <a:p>
            <a:pPr marL="914400" lvl="1" indent="-457200">
              <a:buFont typeface="+mj-ea"/>
              <a:buAutoNum type="circleNumDbPlain"/>
            </a:pPr>
            <a:r>
              <a:rPr lang="zh-CN" altLang="en-US" sz="2400" dirty="0" smtClean="0"/>
              <a:t>服务器为网关，其只响应自身的请求；</a:t>
            </a:r>
            <a:endParaRPr lang="en-US" altLang="zh-CN" sz="2400" dirty="0" smtClean="0"/>
          </a:p>
          <a:p>
            <a:pPr marL="0" indent="0">
              <a:buNone/>
            </a:pP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94253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Modbus</a:t>
            </a:r>
            <a:r>
              <a:rPr lang="zh-CN" altLang="en-US" dirty="0"/>
              <a:t>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</a:rPr>
              <a:t>编码场 </a:t>
            </a:r>
            <a:r>
              <a:rPr lang="en-US" altLang="zh-CN" sz="2800" b="1" dirty="0">
                <a:solidFill>
                  <a:srgbClr val="FF0000"/>
                </a:solidFill>
              </a:rPr>
              <a:t>– Code Field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编码场用于保存请求服务器服务的</a:t>
            </a:r>
            <a:r>
              <a:rPr lang="zh-CN" altLang="en-US" sz="2400" dirty="0" smtClean="0">
                <a:solidFill>
                  <a:srgbClr val="C00000"/>
                </a:solidFill>
              </a:rPr>
              <a:t>功能码</a:t>
            </a:r>
            <a:r>
              <a:rPr lang="zh-CN" altLang="en-US" sz="2400" dirty="0" smtClean="0"/>
              <a:t>，以及被请求服务</a:t>
            </a:r>
            <a:r>
              <a:rPr lang="zh-CN" altLang="en-US" sz="2400" dirty="0"/>
              <a:t>响应</a:t>
            </a:r>
            <a:r>
              <a:rPr lang="zh-CN" altLang="en-US" sz="2400" dirty="0" smtClean="0"/>
              <a:t>成功或失败的信号（广播请求无响应）；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功能码用于表示被请求服务的编码，范围</a:t>
            </a:r>
            <a:r>
              <a:rPr lang="en-US" altLang="zh-CN" sz="2400" dirty="0" smtClean="0"/>
              <a:t>0x01~0x7F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0x00</a:t>
            </a:r>
            <a:r>
              <a:rPr lang="zh-CN" altLang="en-US" sz="2400" dirty="0" smtClean="0"/>
              <a:t>无效，</a:t>
            </a:r>
            <a:r>
              <a:rPr lang="en-US" altLang="zh-CN" sz="2400" dirty="0" smtClean="0"/>
              <a:t>0x80~0xFF</a:t>
            </a:r>
            <a:r>
              <a:rPr lang="zh-CN" altLang="en-US" sz="2400" dirty="0" smtClean="0"/>
              <a:t>为异常响应保留；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被请求服务成功响应时，响应编码场与请求编码场相同；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被请求服务失败时，请求编码场与</a:t>
            </a:r>
            <a:r>
              <a:rPr lang="en-US" altLang="zh-CN" sz="2400" dirty="0" smtClean="0"/>
              <a:t>0x80</a:t>
            </a:r>
            <a:r>
              <a:rPr lang="zh-CN" altLang="en-US" sz="2400" dirty="0" smtClean="0"/>
              <a:t>做</a:t>
            </a:r>
            <a:r>
              <a:rPr lang="en-US" altLang="zh-CN" sz="2400" dirty="0" smtClean="0"/>
              <a:t>OR</a:t>
            </a:r>
            <a:r>
              <a:rPr lang="zh-CN" altLang="en-US" sz="2400" dirty="0" smtClean="0"/>
              <a:t>，结果放入响应编码场返回，此返回值称为异常；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/>
              <a:t>编码</a:t>
            </a:r>
            <a:r>
              <a:rPr lang="zh-CN" altLang="en-US" sz="2400" dirty="0" smtClean="0"/>
              <a:t>场为</a:t>
            </a:r>
            <a:r>
              <a:rPr lang="en-US" altLang="zh-CN" sz="2400" dirty="0" smtClean="0"/>
              <a:t>8</a:t>
            </a:r>
            <a:r>
              <a:rPr lang="zh-CN" altLang="en-US" sz="2400" dirty="0" smtClean="0"/>
              <a:t>位；</a:t>
            </a: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222483124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Modbus</a:t>
            </a:r>
            <a:r>
              <a:rPr lang="zh-CN" altLang="en-US" dirty="0"/>
              <a:t>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2800" b="1" dirty="0">
                <a:solidFill>
                  <a:srgbClr val="FF0000"/>
                </a:solidFill>
              </a:rPr>
              <a:t> 数据场 </a:t>
            </a:r>
            <a:r>
              <a:rPr lang="en-US" altLang="zh-CN" sz="2800" b="1" dirty="0">
                <a:solidFill>
                  <a:srgbClr val="FF0000"/>
                </a:solidFill>
              </a:rPr>
              <a:t>– Data Field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/>
              <a:t>数据场保存</a:t>
            </a:r>
            <a:r>
              <a:rPr lang="zh-CN" altLang="en-US" sz="2400" dirty="0" smtClean="0"/>
              <a:t>请求的</a:t>
            </a:r>
            <a:r>
              <a:rPr lang="zh-CN" altLang="en-US" sz="2400" dirty="0"/>
              <a:t>附加功能信息，</a:t>
            </a:r>
            <a:r>
              <a:rPr lang="zh-CN" altLang="en-US" sz="2400" dirty="0" smtClean="0"/>
              <a:t>以及</a:t>
            </a:r>
            <a:r>
              <a:rPr lang="zh-CN" altLang="en-US" sz="2400" dirty="0"/>
              <a:t>功能</a:t>
            </a:r>
            <a:r>
              <a:rPr lang="zh-CN" altLang="en-US" sz="2400" dirty="0" smtClean="0"/>
              <a:t>请求的响应结果；</a:t>
            </a:r>
            <a:endParaRPr lang="en-US" altLang="zh-C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/>
              <a:t>对于成功请求</a:t>
            </a:r>
            <a:r>
              <a:rPr lang="zh-CN" altLang="en-US" sz="2400" dirty="0" smtClean="0"/>
              <a:t>，数据场为请求信息；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对于失败请求，数据场为异常码；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/>
              <a:t>数据</a:t>
            </a:r>
            <a:r>
              <a:rPr lang="zh-CN" altLang="en-US" sz="2400" dirty="0" smtClean="0"/>
              <a:t>场大小为</a:t>
            </a:r>
            <a:r>
              <a:rPr lang="en-US" altLang="zh-CN" sz="2400" dirty="0" smtClean="0"/>
              <a:t>0~256</a:t>
            </a:r>
            <a:r>
              <a:rPr lang="zh-CN" altLang="en-US" sz="2400" dirty="0" smtClean="0"/>
              <a:t>字节，由编码场的值确定；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7476138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Modbus</a:t>
            </a:r>
            <a:r>
              <a:rPr lang="zh-CN" altLang="en-US" dirty="0"/>
              <a:t>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3. </a:t>
            </a:r>
            <a:r>
              <a:rPr lang="zh-CN" altLang="en-US" sz="2800" b="1" dirty="0">
                <a:solidFill>
                  <a:srgbClr val="FF0000"/>
                </a:solidFill>
              </a:rPr>
              <a:t>客户端、服务器间的交互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从网络角度看有</a:t>
            </a:r>
            <a:r>
              <a:rPr lang="zh-CN" altLang="en-US" sz="2400" dirty="0" smtClean="0">
                <a:solidFill>
                  <a:srgbClr val="C00000"/>
                </a:solidFill>
              </a:rPr>
              <a:t>两种交互形式</a:t>
            </a:r>
            <a:r>
              <a:rPr lang="zh-CN" altLang="en-US" sz="2400" dirty="0" smtClean="0"/>
              <a:t>，</a:t>
            </a:r>
            <a:r>
              <a:rPr lang="zh-CN" altLang="en-US" sz="2400" dirty="0" smtClean="0">
                <a:solidFill>
                  <a:srgbClr val="C00000"/>
                </a:solidFill>
              </a:rPr>
              <a:t>广播</a:t>
            </a:r>
            <a:r>
              <a:rPr lang="zh-CN" altLang="en-US" sz="2400" dirty="0" smtClean="0"/>
              <a:t>与</a:t>
            </a:r>
            <a:r>
              <a:rPr lang="zh-CN" altLang="en-US" sz="2400" dirty="0" smtClean="0">
                <a:solidFill>
                  <a:srgbClr val="C00000"/>
                </a:solidFill>
              </a:rPr>
              <a:t>单播</a:t>
            </a:r>
            <a:r>
              <a:rPr lang="zh-CN" altLang="en-US" sz="2400" dirty="0" smtClean="0"/>
              <a:t>；客户端发起一个请求，</a:t>
            </a:r>
            <a:r>
              <a:rPr lang="zh-CN" altLang="en-US" sz="2400" dirty="0"/>
              <a:t>随后</a:t>
            </a:r>
            <a:r>
              <a:rPr lang="zh-CN" altLang="en-US" sz="2400" dirty="0" smtClean="0"/>
              <a:t>开始等待应用相关的超时等待；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若交互形式为</a:t>
            </a:r>
            <a:r>
              <a:rPr lang="zh-CN" altLang="en-US" sz="2400" dirty="0" smtClean="0">
                <a:solidFill>
                  <a:srgbClr val="C00000"/>
                </a:solidFill>
              </a:rPr>
              <a:t>广播</a:t>
            </a:r>
            <a:r>
              <a:rPr lang="zh-CN" altLang="en-US" sz="2400" dirty="0" smtClean="0"/>
              <a:t>，则超时被称为</a:t>
            </a:r>
            <a:r>
              <a:rPr lang="zh-CN" altLang="en-US" sz="2400" dirty="0" smtClean="0">
                <a:solidFill>
                  <a:srgbClr val="C00000"/>
                </a:solidFill>
              </a:rPr>
              <a:t>转向滞后</a:t>
            </a:r>
            <a:r>
              <a:rPr lang="zh-CN" altLang="en-US" sz="2400" dirty="0" smtClean="0"/>
              <a:t>，从而没有响应，客户端等待指定的超时后，发起另一次请求；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若交互形式为</a:t>
            </a:r>
            <a:r>
              <a:rPr lang="zh-CN" altLang="en-US" sz="2400" dirty="0" smtClean="0">
                <a:solidFill>
                  <a:srgbClr val="C00000"/>
                </a:solidFill>
              </a:rPr>
              <a:t>单播</a:t>
            </a:r>
            <a:r>
              <a:rPr lang="zh-CN" altLang="en-US" sz="2400" dirty="0" smtClean="0"/>
              <a:t>，则超时被称为</a:t>
            </a:r>
            <a:r>
              <a:rPr lang="zh-CN" altLang="en-US" sz="2400" dirty="0" smtClean="0">
                <a:solidFill>
                  <a:srgbClr val="C00000"/>
                </a:solidFill>
              </a:rPr>
              <a:t>响应超时</a:t>
            </a:r>
            <a:r>
              <a:rPr lang="zh-CN" altLang="en-US" sz="2400" dirty="0" smtClean="0"/>
              <a:t>，</a:t>
            </a:r>
            <a:r>
              <a:rPr lang="zh-CN" altLang="en-US" sz="2400" dirty="0" smtClean="0">
                <a:solidFill>
                  <a:srgbClr val="C00000"/>
                </a:solidFill>
              </a:rPr>
              <a:t>可能出现</a:t>
            </a:r>
            <a:r>
              <a:rPr lang="zh-CN" altLang="en-US" sz="2400" dirty="0" smtClean="0"/>
              <a:t>：</a:t>
            </a:r>
            <a:endParaRPr lang="en-US" altLang="zh-CN" sz="2400" dirty="0" smtClean="0"/>
          </a:p>
          <a:p>
            <a:pPr marL="457200" indent="-457200">
              <a:buFont typeface="+mj-ea"/>
              <a:buAutoNum type="circleNumDbPlain"/>
            </a:pPr>
            <a:r>
              <a:rPr lang="zh-CN" altLang="en-US" sz="2400" dirty="0" smtClean="0">
                <a:solidFill>
                  <a:srgbClr val="0070C0"/>
                </a:solidFill>
              </a:rPr>
              <a:t>通信错误，服务器无法收到请求，客户端在等待响应时超时；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400" dirty="0" smtClean="0">
                <a:solidFill>
                  <a:srgbClr val="0070C0"/>
                </a:solidFill>
              </a:rPr>
              <a:t>服务器收到请求、处理后（成功或失败）发起响应，随后通信错误，客户端在等待响应时超时；</a:t>
            </a:r>
            <a:endParaRPr lang="en-US" altLang="zh-CN" sz="2400" dirty="0" smtClean="0">
              <a:solidFill>
                <a:srgbClr val="0070C0"/>
              </a:solidFill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400" dirty="0">
                <a:solidFill>
                  <a:srgbClr val="0070C0"/>
                </a:solidFill>
              </a:rPr>
              <a:t>服务器收到请求，成功处理，发起响应且在超时之前被收到；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400" dirty="0">
                <a:solidFill>
                  <a:srgbClr val="0070C0"/>
                </a:solidFill>
              </a:rPr>
              <a:t>服务器收到请求，处理失败，发起响应且在超时前被收到。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8682984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Modbus</a:t>
            </a:r>
            <a:r>
              <a:rPr lang="zh-CN" altLang="en-US" dirty="0"/>
              <a:t>协议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25" y="1268760"/>
            <a:ext cx="8702364" cy="3272090"/>
          </a:xfrm>
        </p:spPr>
      </p:pic>
      <p:sp>
        <p:nvSpPr>
          <p:cNvPr id="5" name="TextBox 4"/>
          <p:cNvSpPr txBox="1"/>
          <p:nvPr/>
        </p:nvSpPr>
        <p:spPr>
          <a:xfrm>
            <a:off x="2411760" y="5013176"/>
            <a:ext cx="47525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rgbClr val="C00000"/>
                </a:solidFill>
              </a:rPr>
              <a:t>Modbus</a:t>
            </a:r>
            <a:r>
              <a:rPr lang="zh-CN" altLang="en-US" sz="3200" b="1" dirty="0" smtClean="0">
                <a:solidFill>
                  <a:srgbClr val="C00000"/>
                </a:solidFill>
              </a:rPr>
              <a:t>广播操作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533143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Modbus</a:t>
            </a:r>
            <a:r>
              <a:rPr lang="zh-CN" altLang="en-US" dirty="0"/>
              <a:t>协议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1760" y="5013176"/>
            <a:ext cx="47525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rgbClr val="C00000"/>
                </a:solidFill>
              </a:rPr>
              <a:t>Modbus</a:t>
            </a:r>
            <a:r>
              <a:rPr lang="zh-CN" altLang="en-US" sz="3200" b="1" dirty="0" smtClean="0">
                <a:solidFill>
                  <a:srgbClr val="C00000"/>
                </a:solidFill>
              </a:rPr>
              <a:t>单播</a:t>
            </a:r>
            <a:r>
              <a:rPr lang="zh-CN" altLang="en-US" sz="3200" b="1" dirty="0">
                <a:solidFill>
                  <a:srgbClr val="C00000"/>
                </a:solidFill>
              </a:rPr>
              <a:t>正常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90" y="1268760"/>
            <a:ext cx="8751998" cy="3426391"/>
          </a:xfrm>
        </p:spPr>
      </p:pic>
    </p:spTree>
    <p:extLst>
      <p:ext uri="{BB962C8B-B14F-4D97-AF65-F5344CB8AC3E}">
        <p14:creationId xmlns:p14="http://schemas.microsoft.com/office/powerpoint/2010/main" val="776128162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Modbus</a:t>
            </a:r>
            <a:r>
              <a:rPr lang="zh-CN" altLang="en-US" dirty="0"/>
              <a:t>协议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1760" y="5013176"/>
            <a:ext cx="47525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rgbClr val="C00000"/>
                </a:solidFill>
              </a:rPr>
              <a:t>Modbus</a:t>
            </a:r>
            <a:r>
              <a:rPr lang="zh-CN" altLang="en-US" sz="3200" b="1" dirty="0" smtClean="0">
                <a:solidFill>
                  <a:srgbClr val="C00000"/>
                </a:solidFill>
              </a:rPr>
              <a:t>单播异常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317845"/>
            <a:ext cx="8568952" cy="3335291"/>
          </a:xfrm>
        </p:spPr>
      </p:pic>
    </p:spTree>
    <p:extLst>
      <p:ext uri="{BB962C8B-B14F-4D97-AF65-F5344CB8AC3E}">
        <p14:creationId xmlns:p14="http://schemas.microsoft.com/office/powerpoint/2010/main" val="776128162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Modbus</a:t>
            </a:r>
            <a:r>
              <a:rPr lang="zh-CN" altLang="en-US" dirty="0"/>
              <a:t>协议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44" y="980728"/>
            <a:ext cx="8753095" cy="4032448"/>
          </a:xfrm>
        </p:spPr>
      </p:pic>
      <p:sp>
        <p:nvSpPr>
          <p:cNvPr id="5" name="TextBox 4"/>
          <p:cNvSpPr txBox="1"/>
          <p:nvPr/>
        </p:nvSpPr>
        <p:spPr>
          <a:xfrm>
            <a:off x="2987824" y="5301208"/>
            <a:ext cx="36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 smtClean="0">
                <a:solidFill>
                  <a:srgbClr val="C00000"/>
                </a:solidFill>
              </a:rPr>
              <a:t>Modbus</a:t>
            </a:r>
            <a:r>
              <a:rPr lang="zh-CN" altLang="en-US" sz="2800" b="1" dirty="0" smtClean="0">
                <a:solidFill>
                  <a:srgbClr val="C00000"/>
                </a:solidFill>
              </a:rPr>
              <a:t>客户端状态机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668201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Modbus</a:t>
            </a:r>
            <a:r>
              <a:rPr lang="zh-CN" altLang="en-US" dirty="0"/>
              <a:t>协议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87824" y="5301208"/>
            <a:ext cx="36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 smtClean="0">
                <a:solidFill>
                  <a:srgbClr val="C00000"/>
                </a:solidFill>
              </a:rPr>
              <a:t>Modbus</a:t>
            </a:r>
            <a:r>
              <a:rPr lang="zh-CN" altLang="en-US" sz="2800" b="1" dirty="0" smtClean="0">
                <a:solidFill>
                  <a:srgbClr val="C00000"/>
                </a:solidFill>
              </a:rPr>
              <a:t>服务器状态机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980728"/>
            <a:ext cx="8064896" cy="4267994"/>
          </a:xfrm>
        </p:spPr>
      </p:pic>
    </p:spTree>
    <p:extLst>
      <p:ext uri="{BB962C8B-B14F-4D97-AF65-F5344CB8AC3E}">
        <p14:creationId xmlns:p14="http://schemas.microsoft.com/office/powerpoint/2010/main" val="2772901177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Modbus</a:t>
            </a:r>
            <a:r>
              <a:rPr lang="zh-CN" altLang="en-US" dirty="0"/>
              <a:t>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4. </a:t>
            </a:r>
            <a:r>
              <a:rPr lang="zh-CN" altLang="en-US" sz="2800" b="1" dirty="0">
                <a:solidFill>
                  <a:srgbClr val="FF0000"/>
                </a:solidFill>
              </a:rPr>
              <a:t>数据类型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2800" b="1" dirty="0" smtClean="0">
                <a:solidFill>
                  <a:srgbClr val="FF0000"/>
                </a:solidFill>
              </a:rPr>
              <a:t>数据类型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C00000"/>
                </a:solidFill>
              </a:rPr>
              <a:t>离散</a:t>
            </a:r>
            <a:r>
              <a:rPr lang="zh-CN" altLang="en-US" sz="2400" dirty="0" smtClean="0">
                <a:solidFill>
                  <a:srgbClr val="C00000"/>
                </a:solidFill>
              </a:rPr>
              <a:t>型</a:t>
            </a:r>
            <a:r>
              <a:rPr lang="zh-CN" altLang="en-US" sz="2400" dirty="0" smtClean="0"/>
              <a:t>，单</a:t>
            </a:r>
            <a:r>
              <a:rPr lang="en-US" altLang="zh-CN" sz="2400" dirty="0" smtClean="0"/>
              <a:t>bit</a:t>
            </a:r>
            <a:r>
              <a:rPr lang="zh-CN" altLang="en-US" sz="2400" dirty="0" smtClean="0"/>
              <a:t>，只读，值由</a:t>
            </a:r>
            <a:r>
              <a:rPr lang="en-US" altLang="zh-CN" sz="2400" dirty="0" smtClean="0"/>
              <a:t>I/O</a:t>
            </a:r>
            <a:r>
              <a:rPr lang="zh-CN" altLang="en-US" sz="2400" dirty="0" smtClean="0"/>
              <a:t>系统提供，由服务器应用对二值对象进行建模、操作，客户端用户只能测量无法改写；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rgbClr val="C00000"/>
                </a:solidFill>
              </a:rPr>
              <a:t>线圈型</a:t>
            </a:r>
            <a:r>
              <a:rPr lang="zh-CN" altLang="en-US" sz="2400" dirty="0" smtClean="0"/>
              <a:t>，单</a:t>
            </a:r>
            <a:r>
              <a:rPr lang="en-US" altLang="zh-CN" sz="2400" dirty="0" smtClean="0"/>
              <a:t>bit</a:t>
            </a:r>
            <a:r>
              <a:rPr lang="zh-CN" altLang="en-US" sz="2400" dirty="0" smtClean="0"/>
              <a:t>，读写，值可由客户端应用改写；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rgbClr val="C00000"/>
                </a:solidFill>
              </a:rPr>
              <a:t>输入寄存器型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16bit</a:t>
            </a:r>
            <a:r>
              <a:rPr lang="zh-CN" altLang="en-US" sz="2400" dirty="0" smtClean="0"/>
              <a:t>，只读，</a:t>
            </a:r>
            <a:r>
              <a:rPr lang="zh-CN" altLang="en-US" sz="2400" dirty="0"/>
              <a:t>值由</a:t>
            </a:r>
            <a:r>
              <a:rPr lang="en-US" altLang="zh-CN" sz="2400" dirty="0"/>
              <a:t>I/O</a:t>
            </a:r>
            <a:r>
              <a:rPr lang="zh-CN" altLang="en-US" sz="2400" dirty="0"/>
              <a:t>系统</a:t>
            </a:r>
            <a:r>
              <a:rPr lang="zh-CN" altLang="en-US" sz="2400" dirty="0" smtClean="0"/>
              <a:t>提供，</a:t>
            </a:r>
            <a:r>
              <a:rPr lang="zh-CN" altLang="en-US" sz="2400" dirty="0"/>
              <a:t>由服务器应用</a:t>
            </a:r>
            <a:r>
              <a:rPr lang="zh-CN" altLang="en-US" sz="2400" dirty="0" smtClean="0"/>
              <a:t>对模拟量对象</a:t>
            </a:r>
            <a:r>
              <a:rPr lang="zh-CN" altLang="en-US" sz="2400" dirty="0"/>
              <a:t>进行建模、操作，</a:t>
            </a:r>
            <a:r>
              <a:rPr lang="zh-CN" altLang="en-US" sz="2400" dirty="0" smtClean="0"/>
              <a:t>客户端只能</a:t>
            </a:r>
            <a:r>
              <a:rPr lang="zh-CN" altLang="en-US" sz="2400" dirty="0"/>
              <a:t>测量无法</a:t>
            </a:r>
            <a:r>
              <a:rPr lang="zh-CN" altLang="en-US" sz="2400" dirty="0" smtClean="0"/>
              <a:t>改写；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rgbClr val="C00000"/>
                </a:solidFill>
              </a:rPr>
              <a:t>保持寄存器型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16bit</a:t>
            </a:r>
            <a:r>
              <a:rPr lang="zh-CN" altLang="en-US" sz="2400" dirty="0" smtClean="0"/>
              <a:t>，读写，</a:t>
            </a:r>
            <a:r>
              <a:rPr lang="zh-CN" altLang="en-US" sz="2400" dirty="0"/>
              <a:t>值可由客户端应用改写；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2800" b="1" dirty="0">
                <a:solidFill>
                  <a:srgbClr val="FF0000"/>
                </a:solidFill>
              </a:rPr>
              <a:t>记录与文件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rgbClr val="C00000"/>
                </a:solidFill>
              </a:rPr>
              <a:t>记录</a:t>
            </a:r>
            <a:r>
              <a:rPr lang="zh-CN" altLang="en-US" sz="2400" dirty="0" smtClean="0"/>
              <a:t>数据类型，从客户端用户角度看，是特定类型的一组连续寄存器，由寄存器首地址与寄存器数量标识；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rgbClr val="C00000"/>
                </a:solidFill>
              </a:rPr>
              <a:t>文件</a:t>
            </a:r>
            <a:r>
              <a:rPr lang="zh-CN" altLang="en-US" sz="2400" dirty="0" smtClean="0"/>
              <a:t>数据类型，由一组记录组成；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89890709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Modbus</a:t>
            </a:r>
            <a:r>
              <a:rPr lang="zh-CN" altLang="en-US" dirty="0"/>
              <a:t>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5.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数据模型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离散型、线圈型、输入寄存器与保持寄存器类型被称为</a:t>
            </a:r>
            <a:r>
              <a:rPr lang="zh-CN" altLang="en-US" sz="2400" dirty="0" smtClean="0">
                <a:solidFill>
                  <a:srgbClr val="C00000"/>
                </a:solidFill>
              </a:rPr>
              <a:t>数据条目</a:t>
            </a:r>
            <a:r>
              <a:rPr lang="zh-CN" altLang="en-US" sz="2400" dirty="0"/>
              <a:t>（</a:t>
            </a:r>
            <a:r>
              <a:rPr lang="en-US" altLang="zh-CN" sz="2400" dirty="0"/>
              <a:t>data item</a:t>
            </a:r>
            <a:r>
              <a:rPr lang="zh-CN" altLang="en-US" sz="2400" dirty="0" smtClean="0"/>
              <a:t>），表示物理线缆上交换的内容，通常被映射到表上（实际的物理或逻辑模型由应用决定）；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对于上述数据条目类型，协议</a:t>
            </a:r>
            <a:r>
              <a:rPr lang="zh-CN" altLang="en-US" sz="2400" dirty="0" smtClean="0">
                <a:solidFill>
                  <a:srgbClr val="C00000"/>
                </a:solidFill>
              </a:rPr>
              <a:t>单次读写</a:t>
            </a:r>
            <a:r>
              <a:rPr lang="zh-CN" altLang="en-US" sz="2400" dirty="0" smtClean="0"/>
              <a:t>可以选择</a:t>
            </a:r>
            <a:r>
              <a:rPr lang="en-US" altLang="zh-CN" sz="2400" dirty="0" smtClean="0"/>
              <a:t>65536</a:t>
            </a:r>
            <a:r>
              <a:rPr lang="zh-CN" altLang="en-US" sz="2400" dirty="0" smtClean="0"/>
              <a:t>个条目，</a:t>
            </a:r>
            <a:r>
              <a:rPr lang="zh-CN" altLang="en-US" sz="2400" dirty="0" smtClean="0">
                <a:solidFill>
                  <a:srgbClr val="C00000"/>
                </a:solidFill>
              </a:rPr>
              <a:t>批量读写</a:t>
            </a:r>
            <a:r>
              <a:rPr lang="zh-CN" altLang="en-US" sz="2400" dirty="0" smtClean="0"/>
              <a:t>的数量取决于服务功能码；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设备中的真实物理存储区或逻辑含义与客户端</a:t>
            </a:r>
            <a:r>
              <a:rPr lang="en-US" altLang="zh-CN" sz="2400" dirty="0" smtClean="0"/>
              <a:t>/</a:t>
            </a:r>
            <a:r>
              <a:rPr lang="zh-CN" altLang="en-US" sz="2400" dirty="0" smtClean="0"/>
              <a:t>服务器数据条目间的关系由设备决定；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数据条目内容的含义由应用决定；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/>
              <a:t>客户端</a:t>
            </a:r>
            <a:r>
              <a:rPr lang="en-US" altLang="zh-CN" sz="2400" dirty="0"/>
              <a:t>/</a:t>
            </a:r>
            <a:r>
              <a:rPr lang="zh-CN" altLang="en-US" sz="2400" dirty="0" smtClean="0"/>
              <a:t>服务器服务功能码的数据条目地址，为从</a:t>
            </a:r>
            <a:r>
              <a:rPr lang="en-US" altLang="zh-CN" sz="2400" dirty="0" smtClean="0"/>
              <a:t>0</a:t>
            </a:r>
            <a:r>
              <a:rPr lang="zh-CN" altLang="en-US" sz="2400" dirty="0" smtClean="0"/>
              <a:t>开始的无符号数；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80473214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Modbus</a:t>
            </a:r>
            <a:r>
              <a:rPr lang="zh-CN" altLang="en-US" dirty="0"/>
              <a:t>协议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" y="1172395"/>
            <a:ext cx="4537801" cy="3888432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1178393"/>
            <a:ext cx="4392488" cy="37627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3568" y="5442147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C00000"/>
                </a:solidFill>
              </a:rPr>
              <a:t>数据条目表无重合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44108" y="5442148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C00000"/>
                </a:solidFill>
              </a:rPr>
              <a:t>数据条目表有重合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6730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Modbus</a:t>
            </a:r>
            <a:r>
              <a:rPr lang="zh-CN" altLang="en-US" dirty="0"/>
              <a:t>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6.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功能码种类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/>
              <a:t>功能码用于标识客户端</a:t>
            </a:r>
            <a:r>
              <a:rPr lang="en-US" altLang="zh-CN" sz="2400" dirty="0"/>
              <a:t>/</a:t>
            </a:r>
            <a:r>
              <a:rPr lang="zh-CN" altLang="en-US" sz="2400" dirty="0"/>
              <a:t>服务器所提供的服务</a:t>
            </a:r>
            <a:r>
              <a:rPr lang="zh-CN" altLang="en-US" sz="2400" dirty="0" smtClean="0"/>
              <a:t>；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某些功能码可进一步分为子码，存储于数据场中；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功能码可分为三类：</a:t>
            </a:r>
            <a:endParaRPr lang="en-US" altLang="zh-CN" sz="2400" dirty="0" smtClean="0"/>
          </a:p>
          <a:p>
            <a:pPr marL="457200" indent="-457200">
              <a:buFont typeface="+mj-ea"/>
              <a:buAutoNum type="circleNumDbPlain"/>
            </a:pPr>
            <a:r>
              <a:rPr lang="zh-CN" altLang="en-US" sz="2400" dirty="0" smtClean="0">
                <a:solidFill>
                  <a:schemeClr val="accent6">
                    <a:lumMod val="50000"/>
                  </a:schemeClr>
                </a:solidFill>
              </a:rPr>
              <a:t>公共功能码，其被分配给标准服务或暂时保留以供未来扩展；</a:t>
            </a:r>
            <a:endParaRPr lang="en-US" altLang="zh-CN" sz="2400" dirty="0" smtClean="0">
              <a:solidFill>
                <a:schemeClr val="accent6">
                  <a:lumMod val="50000"/>
                </a:schemeClr>
              </a:solidFill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400" dirty="0" smtClean="0">
                <a:solidFill>
                  <a:schemeClr val="accent6">
                    <a:lumMod val="50000"/>
                  </a:schemeClr>
                </a:solidFill>
              </a:rPr>
              <a:t>用户定义功能码，在实验室可控环境下，用于实验目的，不能用于开放环境，</a:t>
            </a:r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</a:rPr>
              <a:t>包括</a:t>
            </a:r>
            <a:r>
              <a:rPr lang="en-US" altLang="zh-CN" sz="2400" dirty="0" smtClean="0">
                <a:solidFill>
                  <a:schemeClr val="accent6">
                    <a:lumMod val="50000"/>
                  </a:schemeClr>
                </a:solidFill>
              </a:rPr>
              <a:t>0x41~0x48</a:t>
            </a:r>
            <a:r>
              <a:rPr lang="zh-CN" altLang="en-US" sz="2400" dirty="0" smtClean="0">
                <a:solidFill>
                  <a:schemeClr val="accent6">
                    <a:lumMod val="50000"/>
                  </a:schemeClr>
                </a:solidFill>
              </a:rPr>
              <a:t>以及</a:t>
            </a:r>
            <a:r>
              <a:rPr lang="en-US" altLang="zh-CN" sz="2400" dirty="0" smtClean="0">
                <a:solidFill>
                  <a:schemeClr val="accent6">
                    <a:lumMod val="50000"/>
                  </a:schemeClr>
                </a:solidFill>
              </a:rPr>
              <a:t>0x64~0x6E</a:t>
            </a:r>
            <a:r>
              <a:rPr lang="zh-CN" altLang="en-US" sz="2400" dirty="0" smtClean="0">
                <a:solidFill>
                  <a:schemeClr val="accent6">
                    <a:lumMod val="50000"/>
                  </a:schemeClr>
                </a:solidFill>
              </a:rPr>
              <a:t>两个范围；</a:t>
            </a:r>
            <a:endParaRPr lang="en-US" altLang="zh-CN" sz="2400" dirty="0" smtClean="0">
              <a:solidFill>
                <a:schemeClr val="accent6">
                  <a:lumMod val="50000"/>
                </a:schemeClr>
              </a:solidFill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400" dirty="0" smtClean="0">
                <a:solidFill>
                  <a:schemeClr val="accent6">
                    <a:lumMod val="50000"/>
                  </a:schemeClr>
                </a:solidFill>
              </a:rPr>
              <a:t>保留功能码，被某些公司用于已停产的产品，不公开使用。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282967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Modbus</a:t>
            </a:r>
            <a:r>
              <a:rPr lang="zh-CN" altLang="en-US" dirty="0"/>
              <a:t>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b="1" dirty="0" smtClean="0">
                <a:solidFill>
                  <a:srgbClr val="FF0000"/>
                </a:solidFill>
              </a:rPr>
              <a:t>7.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功能码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Modbus</a:t>
            </a:r>
            <a:r>
              <a:rPr lang="zh-CN" altLang="en-US" sz="2400" dirty="0" smtClean="0"/>
              <a:t>协议不强制要求实现任意功能码的子集；</a:t>
            </a:r>
            <a:endParaRPr lang="en-US" altLang="zh-CN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accent6">
                    <a:lumMod val="50000"/>
                  </a:schemeClr>
                </a:solidFill>
              </a:rPr>
              <a:t>分配给标准服务的功能码如下（功能码分配</a:t>
            </a:r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</a:rPr>
              <a:t>由</a:t>
            </a:r>
            <a:r>
              <a:rPr lang="en-US" altLang="zh-CN" sz="2400" dirty="0" smtClean="0">
                <a:solidFill>
                  <a:schemeClr val="accent6">
                    <a:lumMod val="50000"/>
                  </a:schemeClr>
                </a:solidFill>
              </a:rPr>
              <a:t>Modbus.org</a:t>
            </a:r>
            <a:r>
              <a:rPr lang="zh-CN" altLang="en-US" sz="2400" dirty="0" smtClean="0">
                <a:solidFill>
                  <a:schemeClr val="accent6">
                    <a:lumMod val="50000"/>
                  </a:schemeClr>
                </a:solidFill>
              </a:rPr>
              <a:t>管理）</a:t>
            </a:r>
            <a:endParaRPr lang="en-US" altLang="zh-CN" sz="2400" dirty="0" smtClean="0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zh-CN" altLang="en-US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89576"/>
              </p:ext>
            </p:extLst>
          </p:nvPr>
        </p:nvGraphicFramePr>
        <p:xfrm>
          <a:off x="2915816" y="2492896"/>
          <a:ext cx="4536504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252"/>
                <a:gridCol w="226825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tx1"/>
                          </a:solidFill>
                        </a:rPr>
                        <a:t>功能码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tx1"/>
                          </a:solidFill>
                        </a:rPr>
                        <a:t>描述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0x02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tx1"/>
                          </a:solidFill>
                        </a:rPr>
                        <a:t>读离散量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0x01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tx1"/>
                          </a:solidFill>
                        </a:rPr>
                        <a:t>读线圈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0x05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tx1"/>
                          </a:solidFill>
                        </a:rPr>
                        <a:t>写单个线圈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0x0F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tx1"/>
                          </a:solidFill>
                        </a:rPr>
                        <a:t>写多个线圈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0x04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tx1"/>
                          </a:solidFill>
                        </a:rPr>
                        <a:t>读输入寄存器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0x03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tx1"/>
                          </a:solidFill>
                        </a:rPr>
                        <a:t>读多个保持寄存器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0x06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tx1"/>
                          </a:solidFill>
                        </a:rPr>
                        <a:t>写单个保持寄存器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……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……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6234684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Modbus</a:t>
            </a:r>
            <a:r>
              <a:rPr lang="zh-CN" altLang="en-US" dirty="0"/>
              <a:t>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b="1" dirty="0" smtClean="0">
                <a:solidFill>
                  <a:srgbClr val="FF0000"/>
                </a:solidFill>
              </a:rPr>
              <a:t>8. </a:t>
            </a:r>
            <a:r>
              <a:rPr lang="zh-CN" altLang="en-US" sz="2800" b="1" dirty="0">
                <a:solidFill>
                  <a:srgbClr val="FF0000"/>
                </a:solidFill>
              </a:rPr>
              <a:t>异常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码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2400" dirty="0"/>
              <a:t>异常码</a:t>
            </a:r>
            <a:r>
              <a:rPr lang="zh-CN" altLang="en-US" sz="2400" dirty="0" smtClean="0"/>
              <a:t>保存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zh-CN" altLang="en-US" sz="2400" dirty="0" smtClean="0"/>
              <a:t>在</a:t>
            </a:r>
            <a:r>
              <a:rPr lang="zh-CN" altLang="en-US" sz="2400" dirty="0"/>
              <a:t>异常</a:t>
            </a:r>
            <a:r>
              <a:rPr lang="zh-CN" altLang="en-US" sz="2400" dirty="0" smtClean="0"/>
              <a:t>响应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zh-CN" altLang="en-US" sz="2400" dirty="0" smtClean="0"/>
              <a:t>的</a:t>
            </a:r>
            <a:r>
              <a:rPr lang="zh-CN" altLang="en-US" sz="2400" dirty="0"/>
              <a:t>数据场中。</a:t>
            </a:r>
            <a:endParaRPr lang="en-US" altLang="zh-CN" sz="2400" dirty="0"/>
          </a:p>
          <a:p>
            <a:endParaRPr lang="zh-CN" alt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484" y="980728"/>
            <a:ext cx="6729413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916872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Modbus</a:t>
            </a:r>
            <a:r>
              <a:rPr lang="zh-CN" altLang="en-US" dirty="0"/>
              <a:t>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 startAt="9"/>
            </a:pPr>
            <a:r>
              <a:rPr lang="zh-CN" altLang="en-US" sz="2800" b="1" dirty="0" smtClean="0">
                <a:solidFill>
                  <a:srgbClr val="FF0000"/>
                </a:solidFill>
              </a:rPr>
              <a:t>传输次序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Modbus</a:t>
            </a:r>
            <a:r>
              <a:rPr lang="zh-CN" altLang="en-US" sz="2400" dirty="0" smtClean="0"/>
              <a:t>在传输地址与数据时，使用</a:t>
            </a:r>
            <a:r>
              <a:rPr lang="en-US" altLang="zh-CN" sz="2400" dirty="0" smtClean="0"/>
              <a:t>big-endian</a:t>
            </a:r>
            <a:r>
              <a:rPr lang="zh-CN" altLang="en-US" sz="2400" dirty="0" smtClean="0"/>
              <a:t>方式，即先高位后低位；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zh-CN" altLang="en-US" sz="2400" dirty="0" smtClean="0"/>
              <a:t>如：传输</a:t>
            </a:r>
            <a:r>
              <a:rPr lang="en-US" altLang="zh-CN" sz="2400" dirty="0" smtClean="0"/>
              <a:t>16bit</a:t>
            </a:r>
            <a:r>
              <a:rPr lang="zh-CN" altLang="en-US" sz="2400" dirty="0" smtClean="0"/>
              <a:t>寄存器，值为</a:t>
            </a:r>
            <a:r>
              <a:rPr lang="en-US" altLang="zh-CN" sz="2400" dirty="0" smtClean="0"/>
              <a:t>0x1234</a:t>
            </a:r>
            <a:r>
              <a:rPr lang="zh-CN" altLang="en-US" sz="2400" dirty="0" smtClean="0"/>
              <a:t>，则先发送的字节为</a:t>
            </a:r>
            <a:r>
              <a:rPr lang="en-US" altLang="zh-CN" sz="2400" dirty="0" smtClean="0"/>
              <a:t>0x12</a:t>
            </a:r>
            <a:r>
              <a:rPr lang="zh-CN" altLang="en-US" sz="2400" dirty="0" smtClean="0"/>
              <a:t>，后发送的字节为</a:t>
            </a:r>
            <a:r>
              <a:rPr lang="en-US" altLang="zh-CN" sz="2400" dirty="0" smtClean="0"/>
              <a:t>0x34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93686215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第</a:t>
            </a:r>
            <a:r>
              <a:rPr lang="en-US" altLang="zh-CN" dirty="0" smtClean="0"/>
              <a:t>4</a:t>
            </a:r>
            <a:r>
              <a:rPr lang="zh-CN" altLang="en-US" dirty="0" smtClean="0"/>
              <a:t>章 </a:t>
            </a:r>
            <a:r>
              <a:rPr lang="en-US" altLang="zh-CN" dirty="0" smtClean="0"/>
              <a:t>Modbus</a:t>
            </a:r>
            <a:endParaRPr lang="zh-CN" altLang="en-US" dirty="0" smtClean="0"/>
          </a:p>
        </p:txBody>
      </p:sp>
      <p:sp>
        <p:nvSpPr>
          <p:cNvPr id="40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b="1" dirty="0" smtClean="0">
                <a:solidFill>
                  <a:schemeClr val="accent3">
                    <a:lumMod val="50000"/>
                  </a:schemeClr>
                </a:solidFill>
              </a:rPr>
              <a:t>4.1 </a:t>
            </a:r>
            <a:r>
              <a:rPr lang="zh-CN" altLang="en-US" b="1" dirty="0" smtClean="0">
                <a:solidFill>
                  <a:schemeClr val="accent3">
                    <a:lumMod val="50000"/>
                  </a:schemeClr>
                </a:solidFill>
              </a:rPr>
              <a:t>概述</a:t>
            </a:r>
            <a:endParaRPr lang="en-US" altLang="zh-CN" b="1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eaLnBrk="1" hangingPunct="1"/>
            <a:r>
              <a:rPr lang="en-US" altLang="zh-CN" b="1" dirty="0">
                <a:solidFill>
                  <a:schemeClr val="accent3">
                    <a:lumMod val="50000"/>
                  </a:schemeClr>
                </a:solidFill>
              </a:rPr>
              <a:t>4.2 Modbus</a:t>
            </a:r>
            <a:r>
              <a:rPr lang="zh-CN" altLang="en-US" b="1" dirty="0" smtClean="0">
                <a:solidFill>
                  <a:schemeClr val="accent3">
                    <a:lumMod val="50000"/>
                  </a:schemeClr>
                </a:solidFill>
              </a:rPr>
              <a:t>协议</a:t>
            </a:r>
            <a:endParaRPr lang="en-US" altLang="zh-CN" b="1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eaLnBrk="1" hangingPunct="1"/>
            <a:r>
              <a:rPr lang="en-US" altLang="zh-CN" b="1" dirty="0" smtClean="0">
                <a:solidFill>
                  <a:srgbClr val="FF0000"/>
                </a:solidFill>
              </a:rPr>
              <a:t>4.3 </a:t>
            </a:r>
            <a:r>
              <a:rPr lang="zh-CN" altLang="en-US" b="1" dirty="0" smtClean="0">
                <a:solidFill>
                  <a:srgbClr val="FF0000"/>
                </a:solidFill>
              </a:rPr>
              <a:t>串行通信线上的</a:t>
            </a:r>
            <a:r>
              <a:rPr lang="en-US" altLang="zh-CN" b="1" dirty="0" smtClean="0">
                <a:solidFill>
                  <a:srgbClr val="FF0000"/>
                </a:solidFill>
              </a:rPr>
              <a:t>Modbus</a:t>
            </a:r>
            <a:r>
              <a:rPr lang="zh-CN" altLang="en-US" b="1" dirty="0" smtClean="0">
                <a:solidFill>
                  <a:srgbClr val="FF0000"/>
                </a:solidFill>
              </a:rPr>
              <a:t>协议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7086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4.3 </a:t>
            </a:r>
            <a:r>
              <a:rPr lang="zh-CN" altLang="en-US" dirty="0" smtClean="0"/>
              <a:t>串行通信</a:t>
            </a:r>
            <a:r>
              <a:rPr lang="en-US" altLang="zh-CN" dirty="0" smtClean="0"/>
              <a:t>Modbus</a:t>
            </a:r>
            <a:r>
              <a:rPr lang="zh-CN" altLang="en-US" dirty="0" smtClean="0"/>
              <a:t>协议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b="1" dirty="0" smtClean="0">
                <a:solidFill>
                  <a:srgbClr val="FF0000"/>
                </a:solidFill>
              </a:rPr>
              <a:t>1.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概述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串行通信指的是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EIA/TIA-485(RS485)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或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EIA/TIA-232(RS232)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；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串行通信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Modbus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协议与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OSI 7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层模型的对应关系如下表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zh-CN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27875"/>
              </p:ext>
            </p:extLst>
          </p:nvPr>
        </p:nvGraphicFramePr>
        <p:xfrm>
          <a:off x="683568" y="2492896"/>
          <a:ext cx="82089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2376264"/>
                <a:gridCol w="4608512"/>
              </a:tblGrid>
              <a:tr h="4410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solidFill>
                            <a:sysClr val="windowText" lastClr="000000"/>
                          </a:solidFill>
                        </a:rPr>
                        <a:t>层</a:t>
                      </a:r>
                      <a:endParaRPr lang="zh-CN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>
                          <a:solidFill>
                            <a:sysClr val="windowText" lastClr="000000"/>
                          </a:solidFill>
                        </a:rPr>
                        <a:t>ISO/OSI</a:t>
                      </a:r>
                      <a:r>
                        <a:rPr lang="zh-CN" altLang="en-US" sz="2400" dirty="0" smtClean="0">
                          <a:solidFill>
                            <a:sysClr val="windowText" lastClr="000000"/>
                          </a:solidFill>
                        </a:rPr>
                        <a:t>模型</a:t>
                      </a:r>
                      <a:endParaRPr lang="zh-CN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10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zh-CN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solidFill>
                            <a:sysClr val="windowText" lastClr="000000"/>
                          </a:solidFill>
                        </a:rPr>
                        <a:t>应用层</a:t>
                      </a:r>
                      <a:endParaRPr lang="zh-CN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>
                          <a:solidFill>
                            <a:sysClr val="windowText" lastClr="000000"/>
                          </a:solidFill>
                        </a:rPr>
                        <a:t>Modbus</a:t>
                      </a:r>
                      <a:r>
                        <a:rPr lang="zh-CN" altLang="en-US" sz="2400" dirty="0" smtClean="0">
                          <a:solidFill>
                            <a:sysClr val="windowText" lastClr="000000"/>
                          </a:solidFill>
                        </a:rPr>
                        <a:t>应用协议</a:t>
                      </a:r>
                      <a:endParaRPr lang="zh-CN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10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zh-CN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solidFill>
                            <a:sysClr val="windowText" lastClr="000000"/>
                          </a:solidFill>
                        </a:rPr>
                        <a:t>表示层</a:t>
                      </a:r>
                      <a:endParaRPr lang="zh-CN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>
                          <a:solidFill>
                            <a:sysClr val="windowText" lastClr="000000"/>
                          </a:solidFill>
                        </a:rPr>
                        <a:t>/</a:t>
                      </a:r>
                      <a:endParaRPr lang="zh-CN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10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zh-CN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solidFill>
                            <a:sysClr val="windowText" lastClr="000000"/>
                          </a:solidFill>
                        </a:rPr>
                        <a:t>会话层</a:t>
                      </a:r>
                      <a:endParaRPr lang="zh-CN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>
                          <a:solidFill>
                            <a:sysClr val="windowText" lastClr="000000"/>
                          </a:solidFill>
                        </a:rPr>
                        <a:t>/</a:t>
                      </a:r>
                      <a:endParaRPr lang="zh-CN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10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CN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solidFill>
                            <a:sysClr val="windowText" lastClr="000000"/>
                          </a:solidFill>
                        </a:rPr>
                        <a:t>传输层</a:t>
                      </a:r>
                      <a:endParaRPr lang="zh-CN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>
                          <a:solidFill>
                            <a:sysClr val="windowText" lastClr="000000"/>
                          </a:solidFill>
                        </a:rPr>
                        <a:t>/</a:t>
                      </a:r>
                      <a:endParaRPr lang="zh-CN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10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CN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solidFill>
                            <a:sysClr val="windowText" lastClr="000000"/>
                          </a:solidFill>
                        </a:rPr>
                        <a:t>网络层</a:t>
                      </a:r>
                      <a:endParaRPr lang="zh-CN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>
                          <a:solidFill>
                            <a:sysClr val="windowText" lastClr="000000"/>
                          </a:solidFill>
                        </a:rPr>
                        <a:t>/</a:t>
                      </a:r>
                      <a:endParaRPr lang="zh-CN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10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CN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solidFill>
                            <a:sysClr val="windowText" lastClr="000000"/>
                          </a:solidFill>
                        </a:rPr>
                        <a:t>数据链路层</a:t>
                      </a:r>
                      <a:endParaRPr lang="zh-CN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串行通信</a:t>
                      </a:r>
                      <a:r>
                        <a:rPr lang="en-US" altLang="zh-CN" sz="2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Modbus</a:t>
                      </a:r>
                      <a:r>
                        <a:rPr lang="zh-CN" altLang="en-US" sz="2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协议</a:t>
                      </a:r>
                      <a:endParaRPr lang="zh-CN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10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 smtClean="0">
                          <a:solidFill>
                            <a:sysClr val="windowText" lastClr="000000"/>
                          </a:solidFill>
                        </a:rPr>
                        <a:t>物理层</a:t>
                      </a:r>
                      <a:endParaRPr lang="zh-CN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EIA/TIA-485</a:t>
                      </a:r>
                      <a:r>
                        <a:rPr lang="zh-CN" altLang="en-US" sz="2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或</a:t>
                      </a:r>
                      <a:r>
                        <a:rPr lang="en-US" altLang="zh-CN" sz="2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EIA/TIA-232</a:t>
                      </a:r>
                      <a:endParaRPr lang="zh-CN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88699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4.3 </a:t>
            </a:r>
            <a:r>
              <a:rPr lang="zh-CN" altLang="en-US" dirty="0"/>
              <a:t>串行通信</a:t>
            </a:r>
            <a:r>
              <a:rPr lang="en-US" altLang="zh-CN" dirty="0"/>
              <a:t>Modbus</a:t>
            </a:r>
            <a:r>
              <a:rPr lang="zh-CN" altLang="en-US" dirty="0"/>
              <a:t>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3">
                    <a:lumMod val="50000"/>
                  </a:schemeClr>
                </a:solidFill>
              </a:rPr>
              <a:t>串行通信</a:t>
            </a:r>
            <a:r>
              <a:rPr lang="en-US" altLang="zh-CN" sz="2400" dirty="0">
                <a:solidFill>
                  <a:schemeClr val="accent3">
                    <a:lumMod val="50000"/>
                  </a:schemeClr>
                </a:solidFill>
              </a:rPr>
              <a:t>Modbus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协议支持上层的</a:t>
            </a:r>
            <a:r>
              <a:rPr lang="zh-CN" altLang="en-US" sz="2400" dirty="0" smtClean="0">
                <a:solidFill>
                  <a:srgbClr val="C00000"/>
                </a:solidFill>
              </a:rPr>
              <a:t>客户端</a:t>
            </a:r>
            <a:r>
              <a:rPr lang="en-US" altLang="zh-CN" sz="2400" dirty="0" smtClean="0">
                <a:solidFill>
                  <a:srgbClr val="C00000"/>
                </a:solidFill>
              </a:rPr>
              <a:t>/</a:t>
            </a:r>
            <a:r>
              <a:rPr lang="zh-CN" altLang="en-US" sz="2400" dirty="0" smtClean="0">
                <a:solidFill>
                  <a:srgbClr val="C00000"/>
                </a:solidFill>
              </a:rPr>
              <a:t>服务器模式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；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串行总线网络，某一时刻只能有一个客户端（</a:t>
            </a:r>
            <a:r>
              <a:rPr lang="zh-CN" altLang="en-US" sz="2400" dirty="0" smtClean="0">
                <a:solidFill>
                  <a:srgbClr val="C00000"/>
                </a:solidFill>
              </a:rPr>
              <a:t>网络配置例子见下页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），（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RS485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允许多个客户端，但只能有一个是活动的）；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rgbClr val="C00000"/>
                </a:solidFill>
              </a:rPr>
              <a:t>服务器地址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可以使用单元标识符，网络最多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247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个服务器，每个服务器单元标识符唯一；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RS232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为点对点网络，尽管不需使用单元标识符寻址，但仍然需要指定；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rgbClr val="C00000"/>
                </a:solidFill>
              </a:rPr>
              <a:t>数据交换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使用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APDU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；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Modbus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客户端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/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服务器状态机依然有效，但有特定的</a:t>
            </a:r>
            <a:r>
              <a:rPr lang="zh-CN" altLang="en-US" sz="2400" dirty="0" smtClean="0">
                <a:solidFill>
                  <a:srgbClr val="C00000"/>
                </a:solidFill>
              </a:rPr>
              <a:t>不当请求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与</a:t>
            </a:r>
            <a:r>
              <a:rPr lang="zh-CN" altLang="en-US" sz="2400" dirty="0" smtClean="0">
                <a:solidFill>
                  <a:srgbClr val="C00000"/>
                </a:solidFill>
              </a:rPr>
              <a:t>不当响应；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对于</a:t>
            </a:r>
            <a:r>
              <a:rPr lang="zh-CN" altLang="en-US" sz="2400" dirty="0" smtClean="0">
                <a:solidFill>
                  <a:srgbClr val="C00000"/>
                </a:solidFill>
              </a:rPr>
              <a:t>客户端状态机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，</a:t>
            </a:r>
            <a:r>
              <a:rPr lang="zh-CN" altLang="en-US" sz="2400" dirty="0" smtClean="0">
                <a:solidFill>
                  <a:srgbClr val="C00000"/>
                </a:solidFill>
              </a:rPr>
              <a:t>不当响应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指的是包含帧错误的响应，其被丢弃；对于</a:t>
            </a:r>
            <a:r>
              <a:rPr lang="zh-CN" altLang="en-US" sz="2400" dirty="0" smtClean="0">
                <a:solidFill>
                  <a:srgbClr val="C00000"/>
                </a:solidFill>
              </a:rPr>
              <a:t>服务器状态机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，</a:t>
            </a:r>
            <a:r>
              <a:rPr lang="zh-CN" altLang="en-US" sz="2400" dirty="0" smtClean="0">
                <a:solidFill>
                  <a:srgbClr val="C00000"/>
                </a:solidFill>
              </a:rPr>
              <a:t>不当请求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指的是帧错误或者无服务器地址，两种情况下请求都被丢弃；</a:t>
            </a:r>
            <a:endParaRPr lang="zh-CN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1263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4.3 </a:t>
            </a:r>
            <a:r>
              <a:rPr lang="zh-CN" altLang="en-US" dirty="0"/>
              <a:t>串行通信</a:t>
            </a:r>
            <a:r>
              <a:rPr lang="en-US" altLang="zh-CN" dirty="0"/>
              <a:t>Modbus</a:t>
            </a:r>
            <a:r>
              <a:rPr lang="zh-CN" altLang="en-US" dirty="0"/>
              <a:t>协议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052736"/>
            <a:ext cx="5572762" cy="2304256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3789040"/>
            <a:ext cx="5040561" cy="1414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11760" y="5733256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C00000"/>
                </a:solidFill>
              </a:rPr>
              <a:t>RS485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与</a:t>
            </a:r>
            <a:r>
              <a:rPr lang="en-US" altLang="zh-CN" sz="2400" b="1" dirty="0" smtClean="0">
                <a:solidFill>
                  <a:srgbClr val="C00000"/>
                </a:solidFill>
              </a:rPr>
              <a:t>RS232 Modbus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网络拓扑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790611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4.3 </a:t>
            </a:r>
            <a:r>
              <a:rPr lang="zh-CN" altLang="en-US" dirty="0"/>
              <a:t>串行通信</a:t>
            </a:r>
            <a:r>
              <a:rPr lang="en-US" altLang="zh-CN" dirty="0"/>
              <a:t>Modbus</a:t>
            </a:r>
            <a:r>
              <a:rPr lang="zh-CN" altLang="en-US" dirty="0"/>
              <a:t>协议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5" y="980726"/>
            <a:ext cx="5184576" cy="2208007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1" y="3501008"/>
            <a:ext cx="5040560" cy="23116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51721" y="6021288"/>
            <a:ext cx="5040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C00000"/>
                </a:solidFill>
              </a:rPr>
              <a:t>串行总线上的单播</a:t>
            </a:r>
            <a:r>
              <a:rPr lang="zh-CN" altLang="en-US" sz="2800" b="1" dirty="0" smtClean="0">
                <a:solidFill>
                  <a:srgbClr val="C00000"/>
                </a:solidFill>
              </a:rPr>
              <a:t>与</a:t>
            </a:r>
            <a:r>
              <a:rPr lang="zh-CN" altLang="en-US" sz="2800" b="1" dirty="0">
                <a:solidFill>
                  <a:srgbClr val="C00000"/>
                </a:solidFill>
              </a:rPr>
              <a:t>广</a:t>
            </a:r>
            <a:r>
              <a:rPr lang="zh-CN" altLang="en-US" sz="2800" b="1" dirty="0" smtClean="0">
                <a:solidFill>
                  <a:srgbClr val="C00000"/>
                </a:solidFill>
              </a:rPr>
              <a:t>播通信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366870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4.3 </a:t>
            </a:r>
            <a:r>
              <a:rPr lang="zh-CN" altLang="en-US" dirty="0"/>
              <a:t>串行通信</a:t>
            </a:r>
            <a:r>
              <a:rPr lang="en-US" altLang="zh-CN" dirty="0"/>
              <a:t>Modbus</a:t>
            </a:r>
            <a:r>
              <a:rPr lang="zh-CN" altLang="en-US" dirty="0"/>
              <a:t>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b="1" dirty="0" smtClean="0">
                <a:solidFill>
                  <a:srgbClr val="FF0000"/>
                </a:solidFill>
              </a:rPr>
              <a:t>2. Modbus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串行总线协议数据单元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PDU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Modbus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串行总线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PDU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在原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APDU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的基础上增加了一个错误校验场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错误校验场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2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个字节，采用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CRC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或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LRC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校验；</a:t>
            </a:r>
            <a:endParaRPr lang="zh-CN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636912"/>
            <a:ext cx="8096153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533431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4.3 </a:t>
            </a:r>
            <a:r>
              <a:rPr lang="zh-CN" altLang="en-US" dirty="0"/>
              <a:t>串行通信</a:t>
            </a:r>
            <a:r>
              <a:rPr lang="en-US" altLang="zh-CN" dirty="0"/>
              <a:t>Modbus</a:t>
            </a:r>
            <a:r>
              <a:rPr lang="zh-CN" altLang="en-US" dirty="0"/>
              <a:t>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3. Modbus</a:t>
            </a:r>
            <a:r>
              <a:rPr lang="zh-CN" altLang="en-US" sz="2800" b="1" dirty="0">
                <a:solidFill>
                  <a:srgbClr val="FF0000"/>
                </a:solidFill>
              </a:rPr>
              <a:t>串行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总线传输模式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Modbus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串行总线使用两种传输模式，</a:t>
            </a:r>
            <a:r>
              <a:rPr lang="en-US" altLang="zh-CN" sz="2400" dirty="0" smtClean="0">
                <a:solidFill>
                  <a:srgbClr val="C00000"/>
                </a:solidFill>
              </a:rPr>
              <a:t>RTU</a:t>
            </a:r>
            <a:r>
              <a:rPr lang="zh-CN" altLang="en-US" sz="2400" dirty="0" smtClean="0">
                <a:solidFill>
                  <a:srgbClr val="C00000"/>
                </a:solidFill>
              </a:rPr>
              <a:t>模式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与</a:t>
            </a:r>
            <a:r>
              <a:rPr lang="en-US" altLang="zh-CN" sz="2400" dirty="0" smtClean="0">
                <a:solidFill>
                  <a:srgbClr val="C00000"/>
                </a:solidFill>
              </a:rPr>
              <a:t>ASCII</a:t>
            </a:r>
            <a:r>
              <a:rPr lang="zh-CN" altLang="en-US" sz="2400" dirty="0" smtClean="0">
                <a:solidFill>
                  <a:srgbClr val="C00000"/>
                </a:solidFill>
              </a:rPr>
              <a:t>模式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；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solidFill>
                  <a:srgbClr val="C00000"/>
                </a:solidFill>
              </a:rPr>
              <a:t>RTU</a:t>
            </a:r>
            <a:r>
              <a:rPr lang="zh-CN" altLang="en-US" sz="2400" dirty="0" smtClean="0">
                <a:solidFill>
                  <a:srgbClr val="C00000"/>
                </a:solidFill>
              </a:rPr>
              <a:t>模式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效率更高但实现稍复杂，</a:t>
            </a:r>
            <a:r>
              <a:rPr lang="en-US" altLang="zh-CN" sz="2400" dirty="0" smtClean="0">
                <a:solidFill>
                  <a:srgbClr val="C00000"/>
                </a:solidFill>
              </a:rPr>
              <a:t>ASCII</a:t>
            </a:r>
            <a:r>
              <a:rPr lang="zh-CN" altLang="en-US" sz="2400" dirty="0" smtClean="0">
                <a:solidFill>
                  <a:srgbClr val="C00000"/>
                </a:solidFill>
              </a:rPr>
              <a:t>模式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简单；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Modbus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上的</a:t>
            </a:r>
            <a:r>
              <a:rPr lang="zh-CN" altLang="en-US" sz="2400" dirty="0" smtClean="0">
                <a:solidFill>
                  <a:srgbClr val="C00000"/>
                </a:solidFill>
              </a:rPr>
              <a:t>所有设备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必须使用</a:t>
            </a:r>
            <a:r>
              <a:rPr lang="zh-CN" altLang="en-US" sz="2400" dirty="0" smtClean="0">
                <a:solidFill>
                  <a:srgbClr val="C00000"/>
                </a:solidFill>
              </a:rPr>
              <a:t>相同的传输模式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与</a:t>
            </a:r>
            <a:r>
              <a:rPr lang="zh-CN" altLang="en-US" sz="2400" dirty="0" smtClean="0">
                <a:solidFill>
                  <a:srgbClr val="C00000"/>
                </a:solidFill>
              </a:rPr>
              <a:t>串口参数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。</a:t>
            </a:r>
            <a:endParaRPr lang="en-US" altLang="zh-CN" sz="240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4. RTU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传输模式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2800" b="1" dirty="0" smtClean="0">
                <a:solidFill>
                  <a:srgbClr val="FF0000"/>
                </a:solidFill>
              </a:rPr>
              <a:t>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特点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RTU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模式下，消息的每个字节都由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1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个字符传输；相同</a:t>
            </a:r>
            <a:r>
              <a:rPr lang="zh-CN" altLang="en-US" sz="2400" dirty="0">
                <a:solidFill>
                  <a:schemeClr val="accent3">
                    <a:lumMod val="50000"/>
                  </a:schemeClr>
                </a:solidFill>
              </a:rPr>
              <a:t>波特率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下，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RTU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模式下的数据吞吐量大于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ASCII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模式；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线缆上传输的位序列包括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1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个起始位、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8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个数据位、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1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个奇偶校验位（也可没有）以及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1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个停止位（无奇偶校验时为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2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位）；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</p:txBody>
      </p:sp>
      <p:graphicFrame>
        <p:nvGraphicFramePr>
          <p:cNvPr id="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737345"/>
              </p:ext>
            </p:extLst>
          </p:nvPr>
        </p:nvGraphicFramePr>
        <p:xfrm>
          <a:off x="179512" y="5517232"/>
          <a:ext cx="6192685" cy="396240"/>
        </p:xfrm>
        <a:graphic>
          <a:graphicData uri="http://schemas.openxmlformats.org/drawingml/2006/table">
            <a:tbl>
              <a:tblPr/>
              <a:tblGrid>
                <a:gridCol w="719741"/>
                <a:gridCol w="482478"/>
                <a:gridCol w="479827"/>
                <a:gridCol w="482478"/>
                <a:gridCol w="479827"/>
                <a:gridCol w="482478"/>
                <a:gridCol w="479827"/>
                <a:gridCol w="481152"/>
                <a:gridCol w="482478"/>
                <a:gridCol w="840360"/>
                <a:gridCol w="782039"/>
              </a:tblGrid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_GB2312" panose="02010609030101010101" pitchFamily="49" charset="-122"/>
                        </a:rPr>
                        <a:t>起始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_GB2312" panose="02010609030101010101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_GB2312" panose="02010609030101010101" pitchFamily="49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_GB2312" panose="02010609030101010101" pitchFamily="49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_GB2312" panose="02010609030101010101" pitchFamily="49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_GB2312" panose="02010609030101010101" pitchFamily="49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_GB2312" panose="02010609030101010101" pitchFamily="49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_GB2312" panose="02010609030101010101" pitchFamily="49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_GB2312" panose="02010609030101010101" pitchFamily="49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_GB2312" panose="02010609030101010101" pitchFamily="49" charset="-122"/>
                        </a:rPr>
                        <a:t>校验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_GB2312" panose="02010609030101010101" pitchFamily="49" charset="-122"/>
                        </a:rPr>
                        <a:t>停止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Text Box 30"/>
          <p:cNvSpPr txBox="1">
            <a:spLocks noChangeArrowheads="1"/>
          </p:cNvSpPr>
          <p:nvPr/>
        </p:nvSpPr>
        <p:spPr bwMode="auto">
          <a:xfrm>
            <a:off x="6588224" y="5445224"/>
            <a:ext cx="23391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Wingdings" pitchFamily="2" charset="2"/>
              <a:buChar char="Ø"/>
              <a:defRPr sz="3200">
                <a:solidFill>
                  <a:srgbClr val="4F6228"/>
                </a:solidFill>
                <a:latin typeface="Calibri" pitchFamily="34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Font typeface="Wingdings" pitchFamily="2" charset="2"/>
              <a:buChar char="ü"/>
              <a:defRPr sz="2800">
                <a:solidFill>
                  <a:srgbClr val="4F6228"/>
                </a:solidFill>
                <a:latin typeface="Calibri" pitchFamily="34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rgbClr val="4F6228"/>
                </a:solidFill>
                <a:latin typeface="Calibri" pitchFamily="34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accent3">
                    <a:lumMod val="50000"/>
                  </a:schemeClr>
                </a:solidFill>
              </a:rPr>
              <a:t>报文位序列格式</a:t>
            </a:r>
          </a:p>
        </p:txBody>
      </p:sp>
    </p:spTree>
    <p:extLst>
      <p:ext uri="{BB962C8B-B14F-4D97-AF65-F5344CB8AC3E}">
        <p14:creationId xmlns:p14="http://schemas.microsoft.com/office/powerpoint/2010/main" val="3907796322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4.3 </a:t>
            </a:r>
            <a:r>
              <a:rPr lang="zh-CN" altLang="en-US" dirty="0"/>
              <a:t>串行通信</a:t>
            </a:r>
            <a:r>
              <a:rPr lang="en-US" altLang="zh-CN" dirty="0"/>
              <a:t>Modbus</a:t>
            </a:r>
            <a:r>
              <a:rPr lang="zh-CN" altLang="en-US" dirty="0"/>
              <a:t>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sz="2800" b="1" dirty="0" smtClean="0">
                <a:solidFill>
                  <a:srgbClr val="FF0000"/>
                </a:solidFill>
              </a:rPr>
              <a:t>Modbus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消息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RTU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帧格式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Modbus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消息的</a:t>
            </a:r>
            <a:r>
              <a:rPr lang="en-US" altLang="zh-CN" sz="2400" dirty="0" smtClean="0">
                <a:solidFill>
                  <a:srgbClr val="C00000"/>
                </a:solidFill>
              </a:rPr>
              <a:t>RTU</a:t>
            </a:r>
            <a:r>
              <a:rPr lang="zh-CN" altLang="en-US" sz="2400" dirty="0">
                <a:solidFill>
                  <a:srgbClr val="C00000"/>
                </a:solidFill>
              </a:rPr>
              <a:t>帧最多为</a:t>
            </a:r>
            <a:r>
              <a:rPr lang="en-US" altLang="zh-CN" sz="2400" dirty="0">
                <a:solidFill>
                  <a:srgbClr val="C00000"/>
                </a:solidFill>
              </a:rPr>
              <a:t>256</a:t>
            </a:r>
            <a:r>
              <a:rPr lang="zh-CN" altLang="en-US" sz="2400" dirty="0" smtClean="0">
                <a:solidFill>
                  <a:srgbClr val="C00000"/>
                </a:solidFill>
              </a:rPr>
              <a:t>字节</a:t>
            </a:r>
            <a:r>
              <a:rPr lang="zh-CN" altLang="en-US" sz="2400" dirty="0">
                <a:solidFill>
                  <a:schemeClr val="accent3">
                    <a:lumMod val="50000"/>
                  </a:schemeClr>
                </a:solidFill>
              </a:rPr>
              <a:t>，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RTU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 帧格式如下图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zh-CN" sz="240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RTU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模式下的消息帧之间</a:t>
            </a:r>
            <a:r>
              <a:rPr lang="zh-CN" altLang="en-US" sz="2400" dirty="0" smtClean="0">
                <a:solidFill>
                  <a:srgbClr val="C00000"/>
                </a:solidFill>
              </a:rPr>
              <a:t>最少间隔</a:t>
            </a:r>
            <a:r>
              <a:rPr lang="en-US" altLang="zh-CN" sz="2400" dirty="0" smtClean="0">
                <a:solidFill>
                  <a:srgbClr val="C00000"/>
                </a:solidFill>
              </a:rPr>
              <a:t>3.5</a:t>
            </a:r>
            <a:r>
              <a:rPr lang="zh-CN" altLang="en-US" sz="2400" dirty="0" smtClean="0">
                <a:solidFill>
                  <a:srgbClr val="C00000"/>
                </a:solidFill>
              </a:rPr>
              <a:t>个字符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；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12" y="1916832"/>
            <a:ext cx="7880428" cy="165618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437112"/>
            <a:ext cx="8158827" cy="147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114747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4.3 </a:t>
            </a:r>
            <a:r>
              <a:rPr lang="zh-CN" altLang="en-US" dirty="0"/>
              <a:t>串行通信</a:t>
            </a:r>
            <a:r>
              <a:rPr lang="en-US" altLang="zh-CN" dirty="0"/>
              <a:t>Modbus</a:t>
            </a:r>
            <a:r>
              <a:rPr lang="zh-CN" altLang="en-US" dirty="0"/>
              <a:t>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3">
                    <a:lumMod val="50000"/>
                  </a:schemeClr>
                </a:solidFill>
              </a:rPr>
              <a:t>整个消息必须以</a:t>
            </a:r>
            <a:r>
              <a:rPr lang="zh-CN" altLang="en-US" sz="2400" dirty="0">
                <a:solidFill>
                  <a:srgbClr val="C00000"/>
                </a:solidFill>
              </a:rPr>
              <a:t>字符流的形式连续传输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；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如果传输消息帧中</a:t>
            </a:r>
            <a:r>
              <a:rPr lang="zh-CN" altLang="en-US" sz="2400" dirty="0" smtClean="0">
                <a:solidFill>
                  <a:srgbClr val="C00000"/>
                </a:solidFill>
              </a:rPr>
              <a:t>字符的</a:t>
            </a:r>
            <a:r>
              <a:rPr lang="zh-CN" altLang="en-US" sz="2400" dirty="0" smtClean="0">
                <a:solidFill>
                  <a:srgbClr val="C00000"/>
                </a:solidFill>
              </a:rPr>
              <a:t>间隔大于</a:t>
            </a:r>
            <a:r>
              <a:rPr lang="en-US" altLang="zh-CN" sz="2400" dirty="0" smtClean="0">
                <a:solidFill>
                  <a:srgbClr val="C00000"/>
                </a:solidFill>
              </a:rPr>
              <a:t>1.5</a:t>
            </a:r>
            <a:r>
              <a:rPr lang="zh-CN" altLang="en-US" sz="2400" dirty="0" smtClean="0">
                <a:solidFill>
                  <a:srgbClr val="C00000"/>
                </a:solidFill>
              </a:rPr>
              <a:t>个字符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，则认为此消息帧不完整且应舍弃。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484784"/>
            <a:ext cx="7917620" cy="129614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7" y="4195931"/>
            <a:ext cx="8137078" cy="160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262948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4.3 </a:t>
            </a:r>
            <a:r>
              <a:rPr lang="zh-CN" altLang="en-US" dirty="0"/>
              <a:t>串行通信</a:t>
            </a:r>
            <a:r>
              <a:rPr lang="en-US" altLang="zh-CN" dirty="0"/>
              <a:t>Modbus</a:t>
            </a:r>
            <a:r>
              <a:rPr lang="zh-CN" altLang="en-US" dirty="0"/>
              <a:t>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5.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ASCII </a:t>
            </a:r>
            <a:r>
              <a:rPr lang="zh-CN" altLang="en-US" sz="2800" b="1" dirty="0">
                <a:solidFill>
                  <a:srgbClr val="FF0000"/>
                </a:solidFill>
              </a:rPr>
              <a:t>传输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模式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特点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3">
                    <a:lumMod val="50000"/>
                  </a:schemeClr>
                </a:solidFill>
              </a:rPr>
              <a:t>在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ASCII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模式</a:t>
            </a:r>
            <a:r>
              <a:rPr lang="zh-CN" altLang="en-US" sz="2400" dirty="0">
                <a:solidFill>
                  <a:schemeClr val="accent3">
                    <a:lumMod val="50000"/>
                  </a:schemeClr>
                </a:solidFill>
              </a:rPr>
              <a:t>下，</a:t>
            </a:r>
            <a:r>
              <a:rPr lang="zh-CN" altLang="en-US" sz="2400" dirty="0" smtClean="0">
                <a:solidFill>
                  <a:srgbClr val="C00000"/>
                </a:solidFill>
              </a:rPr>
              <a:t>消息传输每个</a:t>
            </a:r>
            <a:r>
              <a:rPr lang="zh-CN" altLang="en-US" sz="2400" dirty="0">
                <a:solidFill>
                  <a:srgbClr val="C00000"/>
                </a:solidFill>
              </a:rPr>
              <a:t>字节需要两个</a:t>
            </a:r>
            <a:r>
              <a:rPr lang="zh-CN" altLang="en-US" sz="2400" dirty="0" smtClean="0">
                <a:solidFill>
                  <a:srgbClr val="C00000"/>
                </a:solidFill>
              </a:rPr>
              <a:t>字符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；（例如，消息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0x5B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，传输为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0x35=5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，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0x42=B</a:t>
            </a:r>
            <a:r>
              <a:rPr lang="zh-CN" altLang="en-US" sz="24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对应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ASCII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字符）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3">
                    <a:lumMod val="50000"/>
                  </a:schemeClr>
                </a:solidFill>
              </a:rPr>
              <a:t>线缆上传输的</a:t>
            </a:r>
            <a:r>
              <a:rPr lang="zh-CN" altLang="en-US" sz="2400" dirty="0">
                <a:solidFill>
                  <a:srgbClr val="C00000"/>
                </a:solidFill>
              </a:rPr>
              <a:t>位序列包括</a:t>
            </a:r>
            <a:r>
              <a:rPr lang="en-US" altLang="zh-CN" sz="2400" dirty="0">
                <a:solidFill>
                  <a:srgbClr val="C00000"/>
                </a:solidFill>
              </a:rPr>
              <a:t>1</a:t>
            </a:r>
            <a:r>
              <a:rPr lang="zh-CN" altLang="en-US" sz="2400" dirty="0">
                <a:solidFill>
                  <a:srgbClr val="C00000"/>
                </a:solidFill>
              </a:rPr>
              <a:t>个起始位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、</a:t>
            </a:r>
            <a:r>
              <a:rPr lang="en-US" altLang="zh-CN" sz="2400" dirty="0" smtClean="0">
                <a:solidFill>
                  <a:srgbClr val="C00000"/>
                </a:solidFill>
              </a:rPr>
              <a:t>7</a:t>
            </a:r>
            <a:r>
              <a:rPr lang="zh-CN" altLang="en-US" sz="2400" dirty="0" smtClean="0">
                <a:solidFill>
                  <a:srgbClr val="C00000"/>
                </a:solidFill>
              </a:rPr>
              <a:t>个</a:t>
            </a:r>
            <a:r>
              <a:rPr lang="zh-CN" altLang="en-US" sz="2400" dirty="0">
                <a:solidFill>
                  <a:srgbClr val="C00000"/>
                </a:solidFill>
              </a:rPr>
              <a:t>数据位、</a:t>
            </a:r>
            <a:r>
              <a:rPr lang="en-US" altLang="zh-CN" sz="2400" dirty="0">
                <a:solidFill>
                  <a:srgbClr val="C00000"/>
                </a:solidFill>
              </a:rPr>
              <a:t>1</a:t>
            </a:r>
            <a:r>
              <a:rPr lang="zh-CN" altLang="en-US" sz="2400" dirty="0">
                <a:solidFill>
                  <a:srgbClr val="C00000"/>
                </a:solidFill>
              </a:rPr>
              <a:t>个奇偶校验位（也可没有）以及</a:t>
            </a:r>
            <a:r>
              <a:rPr lang="en-US" altLang="zh-CN" sz="2400" dirty="0">
                <a:solidFill>
                  <a:srgbClr val="C00000"/>
                </a:solidFill>
              </a:rPr>
              <a:t>1</a:t>
            </a:r>
            <a:r>
              <a:rPr lang="zh-CN" altLang="en-US" sz="2400" dirty="0">
                <a:solidFill>
                  <a:srgbClr val="C00000"/>
                </a:solidFill>
              </a:rPr>
              <a:t>个停止位</a:t>
            </a:r>
            <a:r>
              <a:rPr lang="zh-CN" altLang="en-US" sz="2400" dirty="0">
                <a:solidFill>
                  <a:schemeClr val="accent3">
                    <a:lumMod val="50000"/>
                  </a:schemeClr>
                </a:solidFill>
              </a:rPr>
              <a:t>（无奇偶校验时为</a:t>
            </a:r>
            <a:r>
              <a:rPr lang="en-US" altLang="zh-CN" sz="2400" dirty="0">
                <a:solidFill>
                  <a:schemeClr val="accent3">
                    <a:lumMod val="50000"/>
                  </a:schemeClr>
                </a:solidFill>
              </a:rPr>
              <a:t>2</a:t>
            </a:r>
            <a:r>
              <a:rPr lang="zh-CN" altLang="en-US" sz="2400" dirty="0">
                <a:solidFill>
                  <a:schemeClr val="accent3">
                    <a:lumMod val="50000"/>
                  </a:schemeClr>
                </a:solidFill>
              </a:rPr>
              <a:t>位）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；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rgbClr val="C00000"/>
                </a:solidFill>
              </a:rPr>
              <a:t>校验方法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为纵向冗余校验（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LRC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）；</a:t>
            </a:r>
            <a:endParaRPr lang="en-US" altLang="zh-CN" sz="2400" dirty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zh-CN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graphicFrame>
        <p:nvGraphicFramePr>
          <p:cNvPr id="4" name="Group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438834"/>
              </p:ext>
            </p:extLst>
          </p:nvPr>
        </p:nvGraphicFramePr>
        <p:xfrm>
          <a:off x="196923" y="4581525"/>
          <a:ext cx="5616797" cy="476250"/>
        </p:xfrm>
        <a:graphic>
          <a:graphicData uri="http://schemas.openxmlformats.org/drawingml/2006/table">
            <a:tbl>
              <a:tblPr/>
              <a:tblGrid>
                <a:gridCol w="709074"/>
                <a:gridCol w="473624"/>
                <a:gridCol w="473624"/>
                <a:gridCol w="473624"/>
                <a:gridCol w="470902"/>
                <a:gridCol w="476346"/>
                <a:gridCol w="468180"/>
                <a:gridCol w="476346"/>
                <a:gridCol w="824758"/>
                <a:gridCol w="770319"/>
              </a:tblGrid>
              <a:tr h="476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_GB2312" panose="02010609030101010101" pitchFamily="49" charset="-122"/>
                        </a:rPr>
                        <a:t>起始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_GB2312" panose="02010609030101010101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_GB2312" panose="02010609030101010101" pitchFamily="49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_GB2312" panose="02010609030101010101" pitchFamily="49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_GB2312" panose="02010609030101010101" pitchFamily="49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_GB2312" panose="02010609030101010101" pitchFamily="49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_GB2312" panose="02010609030101010101" pitchFamily="49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_GB2312" panose="02010609030101010101" pitchFamily="49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_GB2312" panose="02010609030101010101" pitchFamily="49" charset="-122"/>
                        </a:rPr>
                        <a:t>校验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楷体_GB2312" panose="02010609030101010101" pitchFamily="49" charset="-122"/>
                        </a:rPr>
                        <a:t>停止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Text Box 57"/>
          <p:cNvSpPr txBox="1">
            <a:spLocks noChangeArrowheads="1"/>
          </p:cNvSpPr>
          <p:nvPr/>
        </p:nvSpPr>
        <p:spPr bwMode="auto">
          <a:xfrm>
            <a:off x="6444208" y="4581228"/>
            <a:ext cx="24080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Wingdings" pitchFamily="2" charset="2"/>
              <a:buChar char="Ø"/>
              <a:defRPr sz="3200">
                <a:solidFill>
                  <a:srgbClr val="4F6228"/>
                </a:solidFill>
                <a:latin typeface="Calibri" pitchFamily="34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Font typeface="Wingdings" pitchFamily="2" charset="2"/>
              <a:buChar char="ü"/>
              <a:defRPr sz="2800">
                <a:solidFill>
                  <a:srgbClr val="4F6228"/>
                </a:solidFill>
                <a:latin typeface="Calibri" pitchFamily="34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rgbClr val="4F6228"/>
                </a:solidFill>
                <a:latin typeface="Calibri" pitchFamily="34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accent3">
                    <a:lumMod val="50000"/>
                  </a:schemeClr>
                </a:solidFill>
              </a:rPr>
              <a:t>报文位序列格式 </a:t>
            </a:r>
          </a:p>
        </p:txBody>
      </p:sp>
    </p:spTree>
    <p:extLst>
      <p:ext uri="{BB962C8B-B14F-4D97-AF65-F5344CB8AC3E}">
        <p14:creationId xmlns:p14="http://schemas.microsoft.com/office/powerpoint/2010/main" val="20871687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4.3 </a:t>
            </a:r>
            <a:r>
              <a:rPr lang="zh-CN" altLang="en-US" dirty="0"/>
              <a:t>串行通信</a:t>
            </a:r>
            <a:r>
              <a:rPr lang="en-US" altLang="zh-CN" dirty="0"/>
              <a:t>Modbus</a:t>
            </a:r>
            <a:r>
              <a:rPr lang="zh-CN" altLang="en-US" dirty="0"/>
              <a:t>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sz="2800" b="1" dirty="0" smtClean="0">
                <a:solidFill>
                  <a:srgbClr val="FF0000"/>
                </a:solidFill>
              </a:rPr>
              <a:t>Modbus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消息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ASCII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帧格式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accent3">
                    <a:lumMod val="50000"/>
                  </a:schemeClr>
                </a:solidFill>
              </a:rPr>
              <a:t>Modbus</a:t>
            </a:r>
            <a:r>
              <a:rPr lang="zh-CN" altLang="en-US" sz="2400" dirty="0">
                <a:solidFill>
                  <a:schemeClr val="accent3">
                    <a:lumMod val="50000"/>
                  </a:schemeClr>
                </a:solidFill>
              </a:rPr>
              <a:t>消息以</a:t>
            </a:r>
            <a:r>
              <a:rPr lang="zh-CN" altLang="en-US" sz="2400" dirty="0">
                <a:solidFill>
                  <a:srgbClr val="C00000"/>
                </a:solidFill>
              </a:rPr>
              <a:t>特定的</a:t>
            </a:r>
            <a:r>
              <a:rPr lang="en-US" altLang="zh-CN" sz="2400" dirty="0">
                <a:solidFill>
                  <a:srgbClr val="C00000"/>
                </a:solidFill>
              </a:rPr>
              <a:t>ASCII</a:t>
            </a:r>
            <a:r>
              <a:rPr lang="zh-CN" altLang="en-US" sz="2400" dirty="0">
                <a:solidFill>
                  <a:srgbClr val="C00000"/>
                </a:solidFill>
              </a:rPr>
              <a:t>字符</a:t>
            </a:r>
            <a:r>
              <a:rPr lang="zh-CN" altLang="en-US" sz="2400" dirty="0">
                <a:solidFill>
                  <a:schemeClr val="accent3">
                    <a:lumMod val="50000"/>
                  </a:schemeClr>
                </a:solidFill>
              </a:rPr>
              <a:t>作为</a:t>
            </a:r>
            <a:r>
              <a:rPr lang="zh-CN" altLang="en-US" sz="2400" dirty="0">
                <a:solidFill>
                  <a:srgbClr val="C00000"/>
                </a:solidFill>
              </a:rPr>
              <a:t>帧起始</a:t>
            </a:r>
            <a:r>
              <a:rPr lang="zh-CN" altLang="en-US" sz="2400" dirty="0">
                <a:solidFill>
                  <a:schemeClr val="accent3">
                    <a:lumMod val="50000"/>
                  </a:schemeClr>
                </a:solidFill>
              </a:rPr>
              <a:t>与</a:t>
            </a:r>
            <a:r>
              <a:rPr lang="zh-CN" altLang="en-US" sz="2400" dirty="0">
                <a:solidFill>
                  <a:srgbClr val="C00000"/>
                </a:solidFill>
              </a:rPr>
              <a:t>帧结束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；</a:t>
            </a:r>
            <a:endParaRPr lang="en-US" altLang="zh-CN" sz="2400" dirty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rgbClr val="C00000"/>
                </a:solidFill>
              </a:rPr>
              <a:t>起始字符为</a:t>
            </a:r>
            <a:r>
              <a:rPr lang="zh-CN" altLang="en-US" sz="2400" dirty="0">
                <a:solidFill>
                  <a:srgbClr val="C00000"/>
                </a:solidFill>
              </a:rPr>
              <a:t>冒号</a:t>
            </a:r>
            <a:r>
              <a:rPr lang="en-US" altLang="zh-CN" sz="2400" dirty="0" smtClean="0">
                <a:solidFill>
                  <a:srgbClr val="C00000"/>
                </a:solidFill>
              </a:rPr>
              <a:t>(:)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（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ASCII 3A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），</a:t>
            </a:r>
            <a:r>
              <a:rPr lang="zh-CN" altLang="en-US" sz="2400" dirty="0" smtClean="0">
                <a:solidFill>
                  <a:srgbClr val="C00000"/>
                </a:solidFill>
              </a:rPr>
              <a:t>结束字符为回车换行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(CR, LF)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（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ASCII 0D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，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0A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）；消息帧中允许传输的字符为十六进制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0~9, A~F, 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总线上的节点检测到冒号后，即开始解码后继接收到的字符，直至检测到消息帧尾为止；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3">
                    <a:lumMod val="50000"/>
                  </a:schemeClr>
                </a:solidFill>
              </a:rPr>
              <a:t>消息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帧中</a:t>
            </a:r>
            <a:r>
              <a:rPr lang="zh-CN" altLang="en-US" sz="2400" dirty="0" smtClean="0">
                <a:solidFill>
                  <a:srgbClr val="C00000"/>
                </a:solidFill>
              </a:rPr>
              <a:t>字符间的时间间隔最大</a:t>
            </a:r>
            <a:r>
              <a:rPr lang="en-US" altLang="zh-CN" sz="2400" dirty="0" smtClean="0">
                <a:solidFill>
                  <a:srgbClr val="C00000"/>
                </a:solidFill>
              </a:rPr>
              <a:t>1s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，若超过，则认为出错；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消息的每个数据字节需要两个字符编码，因此</a:t>
            </a:r>
            <a:r>
              <a:rPr lang="en-US" altLang="zh-CN" sz="2400" dirty="0" smtClean="0">
                <a:solidFill>
                  <a:srgbClr val="C00000"/>
                </a:solidFill>
              </a:rPr>
              <a:t>ASCII</a:t>
            </a:r>
            <a:r>
              <a:rPr lang="zh-CN" altLang="en-US" sz="2400" dirty="0" smtClean="0">
                <a:solidFill>
                  <a:srgbClr val="C00000"/>
                </a:solidFill>
              </a:rPr>
              <a:t>模式的数据场最大长度为</a:t>
            </a:r>
            <a:r>
              <a:rPr lang="en-US" altLang="zh-CN" sz="2400" dirty="0" smtClean="0">
                <a:solidFill>
                  <a:srgbClr val="C00000"/>
                </a:solidFill>
              </a:rPr>
              <a:t>RTU</a:t>
            </a:r>
            <a:r>
              <a:rPr lang="zh-CN" altLang="en-US" sz="2400" dirty="0" smtClean="0">
                <a:solidFill>
                  <a:srgbClr val="C00000"/>
                </a:solidFill>
              </a:rPr>
              <a:t>模式的两倍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；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5229200"/>
            <a:ext cx="8964488" cy="97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7389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第</a:t>
            </a:r>
            <a:r>
              <a:rPr lang="en-US" altLang="zh-CN" dirty="0" smtClean="0"/>
              <a:t>4</a:t>
            </a:r>
            <a:r>
              <a:rPr lang="zh-CN" altLang="en-US" dirty="0" smtClean="0"/>
              <a:t>章 </a:t>
            </a:r>
            <a:r>
              <a:rPr lang="en-US" altLang="zh-CN" dirty="0" smtClean="0"/>
              <a:t>Modbus</a:t>
            </a:r>
            <a:endParaRPr lang="zh-CN" altLang="en-US" dirty="0" smtClean="0"/>
          </a:p>
        </p:txBody>
      </p:sp>
      <p:sp>
        <p:nvSpPr>
          <p:cNvPr id="40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b="1" dirty="0" smtClean="0">
                <a:solidFill>
                  <a:schemeClr val="accent3">
                    <a:lumMod val="50000"/>
                  </a:schemeClr>
                </a:solidFill>
              </a:rPr>
              <a:t>4.1 </a:t>
            </a:r>
            <a:r>
              <a:rPr lang="zh-CN" altLang="en-US" b="1" dirty="0" smtClean="0">
                <a:solidFill>
                  <a:schemeClr val="accent3">
                    <a:lumMod val="50000"/>
                  </a:schemeClr>
                </a:solidFill>
              </a:rPr>
              <a:t>概述</a:t>
            </a:r>
            <a:endParaRPr lang="en-US" altLang="zh-CN" b="1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eaLnBrk="1" hangingPunct="1"/>
            <a:r>
              <a:rPr lang="en-US" altLang="zh-CN" b="1" dirty="0">
                <a:solidFill>
                  <a:schemeClr val="accent3">
                    <a:lumMod val="50000"/>
                  </a:schemeClr>
                </a:solidFill>
              </a:rPr>
              <a:t>4.2 Modbus</a:t>
            </a:r>
            <a:r>
              <a:rPr lang="zh-CN" altLang="en-US" b="1" dirty="0" smtClean="0">
                <a:solidFill>
                  <a:schemeClr val="accent3">
                    <a:lumMod val="50000"/>
                  </a:schemeClr>
                </a:solidFill>
              </a:rPr>
              <a:t>协议</a:t>
            </a:r>
            <a:endParaRPr lang="en-US" altLang="zh-CN" b="1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eaLnBrk="1" hangingPunct="1"/>
            <a:r>
              <a:rPr lang="en-US" altLang="zh-CN" b="1" dirty="0">
                <a:solidFill>
                  <a:schemeClr val="accent3">
                    <a:lumMod val="50000"/>
                  </a:schemeClr>
                </a:solidFill>
              </a:rPr>
              <a:t>4.3 </a:t>
            </a:r>
            <a:r>
              <a:rPr lang="zh-CN" altLang="en-US" b="1" dirty="0">
                <a:solidFill>
                  <a:schemeClr val="accent3">
                    <a:lumMod val="50000"/>
                  </a:schemeClr>
                </a:solidFill>
              </a:rPr>
              <a:t>串行通信线上的</a:t>
            </a:r>
            <a:r>
              <a:rPr lang="en-US" altLang="zh-CN" b="1" dirty="0">
                <a:solidFill>
                  <a:schemeClr val="accent3">
                    <a:lumMod val="50000"/>
                  </a:schemeClr>
                </a:solidFill>
              </a:rPr>
              <a:t>Modbus</a:t>
            </a:r>
            <a:r>
              <a:rPr lang="zh-CN" altLang="en-US" b="1" dirty="0" smtClean="0">
                <a:solidFill>
                  <a:schemeClr val="accent3">
                    <a:lumMod val="50000"/>
                  </a:schemeClr>
                </a:solidFill>
              </a:rPr>
              <a:t>协议</a:t>
            </a:r>
            <a:endParaRPr lang="en-US" altLang="zh-CN" b="1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eaLnBrk="1" hangingPunct="1"/>
            <a:r>
              <a:rPr lang="en-US" altLang="zh-CN" b="1" dirty="0" smtClean="0">
                <a:solidFill>
                  <a:srgbClr val="FF0000"/>
                </a:solidFill>
              </a:rPr>
              <a:t>4.4 Modbus/TCP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3144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4.4 </a:t>
            </a:r>
            <a:r>
              <a:rPr lang="en-US" altLang="zh-CN" dirty="0" smtClean="0"/>
              <a:t>Modbus/TCP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b="1" dirty="0" smtClean="0">
                <a:solidFill>
                  <a:srgbClr val="FF0000"/>
                </a:solidFill>
              </a:rPr>
              <a:t>1.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协议栈与层次结构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484784"/>
            <a:ext cx="4631983" cy="4248472"/>
          </a:xfrm>
          <a:prstGeom prst="rect">
            <a:avLst/>
          </a:prstGeom>
        </p:spPr>
      </p:pic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270407"/>
              </p:ext>
            </p:extLst>
          </p:nvPr>
        </p:nvGraphicFramePr>
        <p:xfrm>
          <a:off x="4811495" y="1502048"/>
          <a:ext cx="4035619" cy="479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346"/>
                <a:gridCol w="1231399"/>
                <a:gridCol w="2114874"/>
              </a:tblGrid>
              <a:tr h="56706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层</a:t>
                      </a:r>
                      <a:endParaRPr lang="zh-CN" altLang="en-US" sz="2400" b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OSI</a:t>
                      </a:r>
                      <a:r>
                        <a:rPr lang="zh-CN" altLang="en-US" sz="2400" b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模型</a:t>
                      </a:r>
                      <a:endParaRPr lang="zh-CN" altLang="en-US" sz="2400" b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0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7</a:t>
                      </a:r>
                      <a:endParaRPr lang="zh-CN" altLang="en-US" sz="2400" b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应用层</a:t>
                      </a:r>
                      <a:endParaRPr lang="zh-CN" altLang="en-US" sz="2000" b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Modbus</a:t>
                      </a:r>
                      <a:r>
                        <a:rPr lang="zh-CN" altLang="en-US" sz="2000" b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应用协议</a:t>
                      </a:r>
                      <a:endParaRPr lang="zh-CN" altLang="en-US" sz="2000" b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0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6</a:t>
                      </a:r>
                      <a:endParaRPr lang="zh-CN" altLang="en-US" sz="2400" b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表示层</a:t>
                      </a:r>
                      <a:endParaRPr lang="zh-CN" altLang="en-US" sz="2400" b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/</a:t>
                      </a:r>
                      <a:endParaRPr lang="zh-CN" altLang="en-US" sz="2400" b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0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zh-CN" altLang="en-US" sz="2400" b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会话层</a:t>
                      </a:r>
                      <a:endParaRPr lang="zh-CN" altLang="en-US" sz="2400" b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/</a:t>
                      </a:r>
                      <a:endParaRPr lang="zh-CN" altLang="en-US" sz="2400" b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0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zh-CN" altLang="en-US" sz="2400" b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传输层</a:t>
                      </a:r>
                      <a:endParaRPr lang="zh-CN" altLang="en-US" sz="2400" b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TCP</a:t>
                      </a:r>
                      <a:endParaRPr lang="zh-CN" altLang="en-US" sz="2400" b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0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zh-CN" altLang="en-US" sz="2400" b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网络层</a:t>
                      </a:r>
                      <a:endParaRPr lang="zh-CN" altLang="en-US" sz="2400" b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IP</a:t>
                      </a:r>
                      <a:endParaRPr lang="zh-CN" altLang="en-US" sz="2400" b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0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zh-CN" altLang="en-US" sz="2400" b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数据链路层</a:t>
                      </a:r>
                      <a:endParaRPr lang="zh-CN" altLang="en-US" sz="2400" b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Ethernet II/802.3/802.11</a:t>
                      </a:r>
                      <a:endParaRPr lang="zh-CN" altLang="en-US" sz="2000" b="1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0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物理层</a:t>
                      </a:r>
                      <a:endParaRPr lang="zh-CN" altLang="en-US" sz="2400" b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5938482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4.4 Modbus/TCP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2. TCP/IP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PDU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格式与参数</a:t>
            </a:r>
            <a:endParaRPr lang="en-US" altLang="zh-CN" sz="2800" b="1" dirty="0" smtClean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4293096"/>
            <a:ext cx="7490444" cy="1976683"/>
          </a:xfrm>
          <a:prstGeom prst="rect">
            <a:avLst/>
          </a:prstGeom>
        </p:spPr>
      </p:pic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301637"/>
              </p:ext>
            </p:extLst>
          </p:nvPr>
        </p:nvGraphicFramePr>
        <p:xfrm>
          <a:off x="251520" y="1556792"/>
          <a:ext cx="8719740" cy="2581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/>
                <a:gridCol w="1008112"/>
                <a:gridCol w="2304256"/>
                <a:gridCol w="1872208"/>
                <a:gridCol w="2095004"/>
              </a:tblGrid>
              <a:tr h="4787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参数</a:t>
                      </a:r>
                      <a:endParaRPr lang="zh-CN" alt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长度</a:t>
                      </a:r>
                      <a:endParaRPr lang="zh-CN" alt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描述</a:t>
                      </a:r>
                      <a:endParaRPr lang="zh-CN" alt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客户端</a:t>
                      </a:r>
                      <a:endParaRPr lang="zh-CN" alt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服务器</a:t>
                      </a:r>
                      <a:endParaRPr lang="zh-CN" alt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13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Transaction ID</a:t>
                      </a:r>
                      <a:endParaRPr lang="zh-CN" alt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2</a:t>
                      </a:r>
                      <a:r>
                        <a:rPr lang="zh-CN" altLang="en-US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字节</a:t>
                      </a:r>
                      <a:endParaRPr lang="zh-CN" alt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Modbus</a:t>
                      </a:r>
                      <a:r>
                        <a:rPr lang="zh-CN" altLang="en-US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请求</a:t>
                      </a:r>
                      <a:r>
                        <a:rPr lang="en-US" altLang="zh-CN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/</a:t>
                      </a:r>
                      <a:r>
                        <a:rPr lang="zh-CN" altLang="en-US" sz="2000" baseline="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响应传输的</a:t>
                      </a:r>
                      <a:r>
                        <a:rPr lang="zh-CN" altLang="en-US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标识</a:t>
                      </a:r>
                      <a:endParaRPr lang="zh-CN" alt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客户端初始化</a:t>
                      </a:r>
                      <a:endParaRPr lang="zh-CN" alt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服务器回应请求在响应中返回</a:t>
                      </a:r>
                      <a:endParaRPr lang="zh-CN" alt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87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Protocol ID</a:t>
                      </a:r>
                      <a:endParaRPr lang="zh-CN" alt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2</a:t>
                      </a:r>
                      <a:r>
                        <a:rPr lang="zh-CN" altLang="en-US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字节</a:t>
                      </a:r>
                      <a:endParaRPr lang="zh-CN" alt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0=Modbus</a:t>
                      </a:r>
                      <a:r>
                        <a:rPr lang="zh-CN" altLang="en-US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协议</a:t>
                      </a:r>
                      <a:endParaRPr lang="zh-CN" alt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客户端初始化</a:t>
                      </a:r>
                      <a:endParaRPr lang="zh-CN" alt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服务器回应请求在响应中返回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13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Length</a:t>
                      </a:r>
                      <a:endParaRPr lang="zh-CN" alt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2</a:t>
                      </a:r>
                      <a:r>
                        <a:rPr lang="zh-CN" altLang="en-US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字节</a:t>
                      </a:r>
                      <a:endParaRPr lang="zh-CN" alt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APDU</a:t>
                      </a:r>
                      <a:r>
                        <a:rPr lang="zh-CN" altLang="en-US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的字节长度</a:t>
                      </a:r>
                      <a:endParaRPr lang="zh-CN" alt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基于请求由客户端初始化</a:t>
                      </a:r>
                      <a:endParaRPr lang="zh-CN" alt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基于响应由服务器初始化</a:t>
                      </a:r>
                      <a:endParaRPr lang="zh-CN" alt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7489080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4.4 Modbus/TCP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3. Transaction ID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作用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服务器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可以通过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IP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及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Unit ID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寻址，因此客户端可寻址的服务器数量很多；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客户端用来寻址的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Transaction ID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在上述可寻址服务器中必须是唯一的；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客户端请求的服务器服务由其自身管理（创建或销毁）。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4.</a:t>
            </a:r>
            <a:r>
              <a:rPr lang="zh-CN" altLang="en-US" sz="2800" b="1" dirty="0">
                <a:solidFill>
                  <a:srgbClr val="FF0000"/>
                </a:solidFill>
              </a:rPr>
              <a:t>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通信端口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accent3">
                    <a:lumMod val="50000"/>
                  </a:schemeClr>
                </a:solidFill>
              </a:rPr>
              <a:t>Modbus</a:t>
            </a:r>
            <a:r>
              <a:rPr lang="zh-CN" altLang="en-US" sz="2400" dirty="0">
                <a:solidFill>
                  <a:schemeClr val="accent3">
                    <a:lumMod val="50000"/>
                  </a:schemeClr>
                </a:solidFill>
              </a:rPr>
              <a:t>通信使用</a:t>
            </a:r>
            <a:r>
              <a:rPr lang="en-US" altLang="zh-CN" sz="2400" dirty="0">
                <a:solidFill>
                  <a:schemeClr val="accent3">
                    <a:lumMod val="50000"/>
                  </a:schemeClr>
                </a:solidFill>
              </a:rPr>
              <a:t>502</a:t>
            </a:r>
            <a:r>
              <a:rPr lang="zh-CN" altLang="en-US" sz="2400" dirty="0">
                <a:solidFill>
                  <a:schemeClr val="accent3">
                    <a:lumMod val="50000"/>
                  </a:schemeClr>
                </a:solidFill>
              </a:rPr>
              <a:t>端口，由</a:t>
            </a:r>
            <a:r>
              <a:rPr lang="en-US" altLang="zh-CN" sz="2400" dirty="0">
                <a:solidFill>
                  <a:schemeClr val="accent3">
                    <a:lumMod val="50000"/>
                  </a:schemeClr>
                </a:solidFill>
              </a:rPr>
              <a:t>IANA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分配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5. Protocol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accent3">
                    <a:lumMod val="50000"/>
                  </a:schemeClr>
                </a:solidFill>
              </a:rPr>
              <a:t>Protocol ID</a:t>
            </a:r>
            <a:r>
              <a:rPr lang="zh-CN" altLang="en-US" sz="2400" dirty="0">
                <a:solidFill>
                  <a:schemeClr val="accent3">
                    <a:lumMod val="50000"/>
                  </a:schemeClr>
                </a:solidFill>
              </a:rPr>
              <a:t>必须为</a:t>
            </a:r>
            <a:r>
              <a:rPr lang="en-US" altLang="zh-CN" sz="2400" dirty="0">
                <a:solidFill>
                  <a:schemeClr val="accent3">
                    <a:lumMod val="50000"/>
                  </a:schemeClr>
                </a:solidFill>
              </a:rPr>
              <a:t>0</a:t>
            </a:r>
            <a:r>
              <a:rPr lang="zh-CN" altLang="en-US" sz="2400" dirty="0">
                <a:solidFill>
                  <a:schemeClr val="accent3">
                    <a:lumMod val="50000"/>
                  </a:schemeClr>
                </a:solidFill>
              </a:rPr>
              <a:t>，其他</a:t>
            </a:r>
            <a:r>
              <a:rPr lang="en-US" altLang="zh-CN" sz="2400" dirty="0">
                <a:solidFill>
                  <a:schemeClr val="accent3">
                    <a:lumMod val="50000"/>
                  </a:schemeClr>
                </a:solidFill>
              </a:rPr>
              <a:t>ID</a:t>
            </a:r>
            <a:r>
              <a:rPr lang="zh-CN" altLang="en-US" sz="2400" dirty="0">
                <a:solidFill>
                  <a:schemeClr val="accent3">
                    <a:lumMod val="50000"/>
                  </a:schemeClr>
                </a:solidFill>
              </a:rPr>
              <a:t>值暂时保留</a:t>
            </a:r>
          </a:p>
        </p:txBody>
      </p:sp>
    </p:spTree>
    <p:extLst>
      <p:ext uri="{BB962C8B-B14F-4D97-AF65-F5344CB8AC3E}">
        <p14:creationId xmlns:p14="http://schemas.microsoft.com/office/powerpoint/2010/main" val="3707126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4.4 Modbus/TCP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6. Unit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ID</a:t>
            </a:r>
            <a:r>
              <a:rPr lang="zh-CN" altLang="en-US" sz="2800" b="1" dirty="0">
                <a:solidFill>
                  <a:srgbClr val="FF0000"/>
                </a:solidFill>
              </a:rPr>
              <a:t>与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网关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没有网关情况下，客户端与服务器为连接的末端，可以由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IP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地址完全标识，服务器端忽略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Unit ID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，客户端将其设为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255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；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有网关情况下，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Unit ID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用于标识连接网关的服务器，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255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常用于标识网关。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7.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TCP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流传输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由于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TCP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为串流协议，因此</a:t>
            </a:r>
            <a:r>
              <a:rPr lang="en-US" altLang="zh-CN" sz="2400" dirty="0" smtClean="0">
                <a:solidFill>
                  <a:schemeClr val="accent3">
                    <a:lumMod val="50000"/>
                  </a:schemeClr>
                </a:solidFill>
              </a:rPr>
              <a:t>TCP</a:t>
            </a:r>
            <a:r>
              <a:rPr lang="zh-CN" altLang="en-US" sz="2400" dirty="0">
                <a:solidFill>
                  <a:schemeClr val="accent3">
                    <a:lumMod val="50000"/>
                  </a:schemeClr>
                </a:solidFill>
              </a:rPr>
              <a:t>封装中的长度用于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标识传输信息的长度；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对于有效的长度，服务器端可能受到部分信息，其应能将其保存并等待剩余信息传输完成；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zh-CN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0476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10212</TotalTime>
  <Words>2677</Words>
  <Application>Microsoft Office PowerPoint</Application>
  <PresentationFormat>全屏显示(4:3)</PresentationFormat>
  <Paragraphs>338</Paragraphs>
  <Slides>40</Slides>
  <Notes>15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1" baseType="lpstr">
      <vt:lpstr>Office 主题</vt:lpstr>
      <vt:lpstr>第4章 Modbus</vt:lpstr>
      <vt:lpstr>第4章 Modbus</vt:lpstr>
      <vt:lpstr>4.1 概述</vt:lpstr>
      <vt:lpstr>4.1 概述</vt:lpstr>
      <vt:lpstr>第4章 Modbus</vt:lpstr>
      <vt:lpstr>4.2 Modbus协议</vt:lpstr>
      <vt:lpstr>4.2 Modbus协议</vt:lpstr>
      <vt:lpstr>4.2 Modbus协议</vt:lpstr>
      <vt:lpstr>4.2 Modbus协议</vt:lpstr>
      <vt:lpstr>4.2 Modbus协议</vt:lpstr>
      <vt:lpstr>4.2 Modbus协议</vt:lpstr>
      <vt:lpstr>4.2 Modbus协议</vt:lpstr>
      <vt:lpstr>4.2 Modbus协议</vt:lpstr>
      <vt:lpstr>4.2 Modbus协议</vt:lpstr>
      <vt:lpstr>4.2 Modbus协议</vt:lpstr>
      <vt:lpstr>4.2 Modbus协议</vt:lpstr>
      <vt:lpstr>4.2 Modbus协议</vt:lpstr>
      <vt:lpstr>4.2 Modbus协议</vt:lpstr>
      <vt:lpstr>4.2 Modbus协议</vt:lpstr>
      <vt:lpstr>4.2 Modbus协议</vt:lpstr>
      <vt:lpstr>4.2 Modbus协议</vt:lpstr>
      <vt:lpstr>4.2 Modbus协议</vt:lpstr>
      <vt:lpstr>4.2 Modbus协议</vt:lpstr>
      <vt:lpstr>4.2 Modbus协议</vt:lpstr>
      <vt:lpstr>第4章 Modbus</vt:lpstr>
      <vt:lpstr>4.3 串行通信Modbus协议</vt:lpstr>
      <vt:lpstr>4.3 串行通信Modbus协议</vt:lpstr>
      <vt:lpstr>4.3 串行通信Modbus协议</vt:lpstr>
      <vt:lpstr>4.3 串行通信Modbus协议</vt:lpstr>
      <vt:lpstr>4.3 串行通信Modbus协议</vt:lpstr>
      <vt:lpstr>4.3 串行通信Modbus协议</vt:lpstr>
      <vt:lpstr>4.3 串行通信Modbus协议</vt:lpstr>
      <vt:lpstr>4.3 串行通信Modbus协议</vt:lpstr>
      <vt:lpstr>4.3 串行通信Modbus协议</vt:lpstr>
      <vt:lpstr>4.3 串行通信Modbus协议</vt:lpstr>
      <vt:lpstr>第4章 Modbus</vt:lpstr>
      <vt:lpstr>4.4 Modbus/TCP</vt:lpstr>
      <vt:lpstr>4.4 Modbus/TCP</vt:lpstr>
      <vt:lpstr>4.4 Modbus/TCP</vt:lpstr>
      <vt:lpstr>4.4 Modbus/TCP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Zachary</dc:creator>
  <cp:lastModifiedBy>Windows User</cp:lastModifiedBy>
  <cp:revision>1280</cp:revision>
  <dcterms:modified xsi:type="dcterms:W3CDTF">2016-09-27T02:01:57Z</dcterms:modified>
</cp:coreProperties>
</file>