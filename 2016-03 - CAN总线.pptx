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1"/>
  </p:notesMasterIdLst>
  <p:sldIdLst>
    <p:sldId id="256" r:id="rId2"/>
    <p:sldId id="257" r:id="rId3"/>
    <p:sldId id="258" r:id="rId4"/>
    <p:sldId id="411" r:id="rId5"/>
    <p:sldId id="413" r:id="rId6"/>
    <p:sldId id="297" r:id="rId7"/>
    <p:sldId id="401" r:id="rId8"/>
    <p:sldId id="415" r:id="rId9"/>
    <p:sldId id="414" r:id="rId10"/>
    <p:sldId id="416" r:id="rId11"/>
    <p:sldId id="417" r:id="rId12"/>
    <p:sldId id="418" r:id="rId13"/>
    <p:sldId id="281" r:id="rId14"/>
    <p:sldId id="282" r:id="rId15"/>
    <p:sldId id="283" r:id="rId16"/>
    <p:sldId id="284" r:id="rId17"/>
    <p:sldId id="285" r:id="rId18"/>
    <p:sldId id="287" r:id="rId19"/>
    <p:sldId id="286" r:id="rId20"/>
    <p:sldId id="288" r:id="rId21"/>
    <p:sldId id="289" r:id="rId22"/>
    <p:sldId id="290" r:id="rId23"/>
    <p:sldId id="291" r:id="rId24"/>
    <p:sldId id="292" r:id="rId25"/>
    <p:sldId id="294" r:id="rId26"/>
    <p:sldId id="296" r:id="rId27"/>
    <p:sldId id="295" r:id="rId28"/>
    <p:sldId id="298" r:id="rId29"/>
    <p:sldId id="300" r:id="rId30"/>
    <p:sldId id="303" r:id="rId31"/>
    <p:sldId id="304" r:id="rId32"/>
    <p:sldId id="305" r:id="rId33"/>
    <p:sldId id="419" r:id="rId34"/>
    <p:sldId id="422" r:id="rId35"/>
    <p:sldId id="423" r:id="rId36"/>
    <p:sldId id="424" r:id="rId37"/>
    <p:sldId id="426" r:id="rId38"/>
    <p:sldId id="429" r:id="rId39"/>
    <p:sldId id="430" r:id="rId40"/>
    <p:sldId id="434" r:id="rId41"/>
    <p:sldId id="435" r:id="rId42"/>
    <p:sldId id="436" r:id="rId43"/>
    <p:sldId id="438" r:id="rId44"/>
    <p:sldId id="439" r:id="rId45"/>
    <p:sldId id="308" r:id="rId46"/>
    <p:sldId id="440" r:id="rId47"/>
    <p:sldId id="441" r:id="rId48"/>
    <p:sldId id="442" r:id="rId49"/>
    <p:sldId id="443" r:id="rId50"/>
    <p:sldId id="444" r:id="rId51"/>
    <p:sldId id="346" r:id="rId52"/>
    <p:sldId id="348" r:id="rId53"/>
    <p:sldId id="445" r:id="rId54"/>
    <p:sldId id="446" r:id="rId55"/>
    <p:sldId id="448" r:id="rId56"/>
    <p:sldId id="449" r:id="rId57"/>
    <p:sldId id="447" r:id="rId58"/>
    <p:sldId id="450" r:id="rId59"/>
    <p:sldId id="451" r:id="rId60"/>
    <p:sldId id="452" r:id="rId61"/>
    <p:sldId id="453" r:id="rId62"/>
    <p:sldId id="454" r:id="rId63"/>
    <p:sldId id="455" r:id="rId64"/>
    <p:sldId id="456" r:id="rId65"/>
    <p:sldId id="457" r:id="rId66"/>
    <p:sldId id="458" r:id="rId67"/>
    <p:sldId id="459" r:id="rId68"/>
    <p:sldId id="461" r:id="rId69"/>
    <p:sldId id="460" r:id="rId70"/>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Calibri" pitchFamily="34" charset="0"/>
        <a:ea typeface="宋体" charset="-122"/>
        <a:cs typeface="+mn-cs"/>
      </a:defRPr>
    </a:lvl1pPr>
    <a:lvl2pPr marL="457200" algn="l" rtl="0" fontAlgn="base">
      <a:spcBef>
        <a:spcPct val="0"/>
      </a:spcBef>
      <a:spcAft>
        <a:spcPct val="0"/>
      </a:spcAft>
      <a:defRPr kern="1200">
        <a:solidFill>
          <a:schemeClr val="tx1"/>
        </a:solidFill>
        <a:latin typeface="Calibri" pitchFamily="34" charset="0"/>
        <a:ea typeface="宋体" charset="-122"/>
        <a:cs typeface="+mn-cs"/>
      </a:defRPr>
    </a:lvl2pPr>
    <a:lvl3pPr marL="914400" algn="l" rtl="0" fontAlgn="base">
      <a:spcBef>
        <a:spcPct val="0"/>
      </a:spcBef>
      <a:spcAft>
        <a:spcPct val="0"/>
      </a:spcAft>
      <a:defRPr kern="1200">
        <a:solidFill>
          <a:schemeClr val="tx1"/>
        </a:solidFill>
        <a:latin typeface="Calibri" pitchFamily="34" charset="0"/>
        <a:ea typeface="宋体" charset="-122"/>
        <a:cs typeface="+mn-cs"/>
      </a:defRPr>
    </a:lvl3pPr>
    <a:lvl4pPr marL="1371600" algn="l" rtl="0" fontAlgn="base">
      <a:spcBef>
        <a:spcPct val="0"/>
      </a:spcBef>
      <a:spcAft>
        <a:spcPct val="0"/>
      </a:spcAft>
      <a:defRPr kern="1200">
        <a:solidFill>
          <a:schemeClr val="tx1"/>
        </a:solidFill>
        <a:latin typeface="Calibri" pitchFamily="34" charset="0"/>
        <a:ea typeface="宋体" charset="-122"/>
        <a:cs typeface="+mn-cs"/>
      </a:defRPr>
    </a:lvl4pPr>
    <a:lvl5pPr marL="1828800" algn="l" rtl="0" fontAlgn="base">
      <a:spcBef>
        <a:spcPct val="0"/>
      </a:spcBef>
      <a:spcAft>
        <a:spcPct val="0"/>
      </a:spcAft>
      <a:defRPr kern="1200">
        <a:solidFill>
          <a:schemeClr val="tx1"/>
        </a:solidFill>
        <a:latin typeface="Calibri" pitchFamily="34" charset="0"/>
        <a:ea typeface="宋体" charset="-122"/>
        <a:cs typeface="+mn-cs"/>
      </a:defRPr>
    </a:lvl5pPr>
    <a:lvl6pPr marL="2286000" algn="l" defTabSz="914400" rtl="0" eaLnBrk="1" latinLnBrk="0" hangingPunct="1">
      <a:defRPr kern="1200">
        <a:solidFill>
          <a:schemeClr val="tx1"/>
        </a:solidFill>
        <a:latin typeface="Calibri" pitchFamily="34" charset="0"/>
        <a:ea typeface="宋体" charset="-122"/>
        <a:cs typeface="+mn-cs"/>
      </a:defRPr>
    </a:lvl6pPr>
    <a:lvl7pPr marL="2743200" algn="l" defTabSz="914400" rtl="0" eaLnBrk="1" latinLnBrk="0" hangingPunct="1">
      <a:defRPr kern="1200">
        <a:solidFill>
          <a:schemeClr val="tx1"/>
        </a:solidFill>
        <a:latin typeface="Calibri" pitchFamily="34" charset="0"/>
        <a:ea typeface="宋体" charset="-122"/>
        <a:cs typeface="+mn-cs"/>
      </a:defRPr>
    </a:lvl7pPr>
    <a:lvl8pPr marL="3200400" algn="l" defTabSz="914400" rtl="0" eaLnBrk="1" latinLnBrk="0" hangingPunct="1">
      <a:defRPr kern="1200">
        <a:solidFill>
          <a:schemeClr val="tx1"/>
        </a:solidFill>
        <a:latin typeface="Calibri" pitchFamily="34" charset="0"/>
        <a:ea typeface="宋体" charset="-122"/>
        <a:cs typeface="+mn-cs"/>
      </a:defRPr>
    </a:lvl8pPr>
    <a:lvl9pPr marL="3657600" algn="l" defTabSz="914400" rtl="0" eaLnBrk="1" latinLnBrk="0" hangingPunct="1">
      <a:defRPr kern="1200">
        <a:solidFill>
          <a:schemeClr val="tx1"/>
        </a:solidFill>
        <a:latin typeface="Calibri" pitchFamily="34" charset="0"/>
        <a:ea typeface="宋体"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B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9555" autoAdjust="0"/>
  </p:normalViewPr>
  <p:slideViewPr>
    <p:cSldViewPr>
      <p:cViewPr varScale="1">
        <p:scale>
          <a:sx n="78" d="100"/>
          <a:sy n="78" d="100"/>
        </p:scale>
        <p:origin x="-2574" y="-96"/>
      </p:cViewPr>
      <p:guideLst>
        <p:guide orient="horz" pos="2160"/>
        <p:guide pos="2880"/>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ea typeface="宋体" charset="-122"/>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ea typeface="宋体" charset="-122"/>
              </a:defRPr>
            </a:lvl1pPr>
          </a:lstStyle>
          <a:p>
            <a:pPr>
              <a:defRPr/>
            </a:pPr>
            <a:fld id="{22894FED-F6BC-4A5E-95A7-04A013A16C25}" type="datetimeFigureOut">
              <a:rPr lang="zh-CN" altLang="en-US"/>
              <a:pPr>
                <a:defRPr/>
              </a:pPr>
              <a:t>2016/9/25</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smtClean="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ea typeface="宋体" charset="-122"/>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ea typeface="宋体" charset="-122"/>
              </a:defRPr>
            </a:lvl1pPr>
          </a:lstStyle>
          <a:p>
            <a:pPr>
              <a:defRPr/>
            </a:pPr>
            <a:fld id="{79AE6549-0852-48AF-B845-B4CAF315C72D}" type="slidenum">
              <a:rPr lang="zh-CN" altLang="en-US"/>
              <a:pPr>
                <a:defRPr/>
              </a:pPr>
              <a:t>‹#›</a:t>
            </a:fld>
            <a:endParaRPr lang="zh-CN" altLang="en-US"/>
          </a:p>
        </p:txBody>
      </p:sp>
    </p:spTree>
    <p:extLst>
      <p:ext uri="{BB962C8B-B14F-4D97-AF65-F5344CB8AC3E}">
        <p14:creationId xmlns:p14="http://schemas.microsoft.com/office/powerpoint/2010/main" val="230357165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2" indent="0" algn="l" defTabSz="914400" rtl="0" eaLnBrk="0" fontAlgn="base" latinLnBrk="0" hangingPunct="0">
              <a:lnSpc>
                <a:spcPct val="100000"/>
              </a:lnSpc>
              <a:spcBef>
                <a:spcPct val="30000"/>
              </a:spcBef>
              <a:spcAft>
                <a:spcPct val="0"/>
              </a:spcAft>
              <a:buClrTx/>
              <a:buSzTx/>
              <a:buFontTx/>
              <a:buNone/>
              <a:tabLst/>
              <a:defRPr/>
            </a:pPr>
            <a:r>
              <a:rPr lang="en-US" altLang="zh-CN" baseline="0" dirty="0" smtClean="0"/>
              <a:t>1.Intel</a:t>
            </a:r>
            <a:r>
              <a:rPr lang="zh-CN" altLang="en-US" baseline="0" dirty="0" smtClean="0"/>
              <a:t>之所以有兴趣是因为其想生产对应的芯片；</a:t>
            </a:r>
            <a:endParaRPr lang="en-US" altLang="zh-CN" baseline="0" dirty="0" smtClean="0"/>
          </a:p>
          <a:p>
            <a:pPr marL="0" marR="0" lvl="2" indent="0" algn="l" defTabSz="914400" rtl="0" eaLnBrk="0" fontAlgn="base" latinLnBrk="0" hangingPunct="0">
              <a:lnSpc>
                <a:spcPct val="100000"/>
              </a:lnSpc>
              <a:spcBef>
                <a:spcPct val="30000"/>
              </a:spcBef>
              <a:spcAft>
                <a:spcPct val="0"/>
              </a:spcAft>
              <a:buClrTx/>
              <a:buSzTx/>
              <a:buFontTx/>
              <a:buNone/>
              <a:tabLst/>
              <a:defRPr/>
            </a:pPr>
            <a:r>
              <a:rPr lang="en-US" altLang="zh-CN" dirty="0" smtClean="0"/>
              <a:t>2.Intel,</a:t>
            </a:r>
            <a:r>
              <a:rPr lang="en-US" altLang="zh-CN" baseline="0" dirty="0" smtClean="0"/>
              <a:t> Philips, Siemens, Motorola, NEC</a:t>
            </a:r>
            <a:r>
              <a:rPr lang="zh-CN" altLang="en-US" baseline="0" dirty="0" smtClean="0"/>
              <a:t>为</a:t>
            </a:r>
            <a:r>
              <a:rPr lang="en-US" altLang="zh-CN" baseline="0" dirty="0" smtClean="0"/>
              <a:t>Benz, Volvo, Saab, Volkswagen, BMW, Fiat</a:t>
            </a:r>
            <a:r>
              <a:rPr lang="zh-CN" altLang="en-US" baseline="0" dirty="0" smtClean="0"/>
              <a:t>等生产了成百上千万的</a:t>
            </a:r>
            <a:r>
              <a:rPr lang="en-US" altLang="zh-CN" baseline="0" dirty="0" smtClean="0"/>
              <a:t>CAN</a:t>
            </a:r>
            <a:r>
              <a:rPr lang="zh-CN" altLang="en-US" baseline="0" dirty="0" smtClean="0"/>
              <a:t>芯片；</a:t>
            </a:r>
            <a:endParaRPr lang="en-US" altLang="zh-CN" baseline="0" dirty="0" smtClean="0"/>
          </a:p>
          <a:p>
            <a:pPr marL="0" marR="0" lvl="2" indent="0" algn="l" defTabSz="914400" rtl="0" eaLnBrk="0" fontAlgn="base" latinLnBrk="0" hangingPunct="0">
              <a:lnSpc>
                <a:spcPct val="100000"/>
              </a:lnSpc>
              <a:spcBef>
                <a:spcPct val="30000"/>
              </a:spcBef>
              <a:spcAft>
                <a:spcPct val="0"/>
              </a:spcAft>
              <a:buClrTx/>
              <a:buSzTx/>
              <a:buFontTx/>
              <a:buNone/>
              <a:tabLst/>
              <a:defRPr/>
            </a:pPr>
            <a:endParaRPr lang="en-US" altLang="zh-CN" baseline="0" dirty="0" smtClean="0"/>
          </a:p>
        </p:txBody>
      </p:sp>
      <p:sp>
        <p:nvSpPr>
          <p:cNvPr id="4" name="灯片编号占位符 3"/>
          <p:cNvSpPr>
            <a:spLocks noGrp="1"/>
          </p:cNvSpPr>
          <p:nvPr>
            <p:ph type="sldNum" sz="quarter" idx="10"/>
          </p:nvPr>
        </p:nvSpPr>
        <p:spPr/>
        <p:txBody>
          <a:bodyPr/>
          <a:lstStyle/>
          <a:p>
            <a:pPr>
              <a:defRPr/>
            </a:pPr>
            <a:fld id="{79AE6549-0852-48AF-B845-B4CAF315C72D}" type="slidenum">
              <a:rPr lang="zh-CN" altLang="en-US" smtClean="0"/>
              <a:pPr>
                <a:defRPr/>
              </a:pPr>
              <a:t>3</a:t>
            </a:fld>
            <a:endParaRPr lang="zh-CN" altLang="en-US"/>
          </a:p>
        </p:txBody>
      </p:sp>
    </p:spTree>
    <p:extLst>
      <p:ext uri="{BB962C8B-B14F-4D97-AF65-F5344CB8AC3E}">
        <p14:creationId xmlns:p14="http://schemas.microsoft.com/office/powerpoint/2010/main" val="321992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2" indent="0" algn="l" defTabSz="914400" rtl="0" eaLnBrk="0" fontAlgn="base" latinLnBrk="0" hangingPunct="0">
              <a:lnSpc>
                <a:spcPct val="100000"/>
              </a:lnSpc>
              <a:spcBef>
                <a:spcPct val="30000"/>
              </a:spcBef>
              <a:spcAft>
                <a:spcPct val="0"/>
              </a:spcAft>
              <a:buClrTx/>
              <a:buSzTx/>
              <a:buFontTx/>
              <a:buNone/>
              <a:tabLst/>
              <a:defRPr/>
            </a:pPr>
            <a:r>
              <a:rPr lang="en-US" altLang="zh-CN" dirty="0" smtClean="0"/>
              <a:t>SAE</a:t>
            </a:r>
            <a:r>
              <a:rPr lang="zh-CN" altLang="en-US" dirty="0" smtClean="0"/>
              <a:t>：</a:t>
            </a:r>
            <a:r>
              <a:rPr lang="en-US" altLang="zh-CN" dirty="0" smtClean="0"/>
              <a:t>Society of Automotive Engineer </a:t>
            </a:r>
          </a:p>
          <a:p>
            <a:pPr marL="0" marR="0" lvl="2" indent="0" algn="l" defTabSz="914400" rtl="0" eaLnBrk="0" fontAlgn="base" latinLnBrk="0" hangingPunct="0">
              <a:lnSpc>
                <a:spcPct val="100000"/>
              </a:lnSpc>
              <a:spcBef>
                <a:spcPct val="30000"/>
              </a:spcBef>
              <a:spcAft>
                <a:spcPct val="0"/>
              </a:spcAft>
              <a:buClrTx/>
              <a:buSzTx/>
              <a:buFontTx/>
              <a:buNone/>
              <a:tabLst/>
              <a:defRPr/>
            </a:pPr>
            <a:r>
              <a:rPr lang="en-US" altLang="zh-CN" dirty="0" smtClean="0">
                <a:solidFill>
                  <a:schemeClr val="bg2">
                    <a:lumMod val="10000"/>
                  </a:schemeClr>
                </a:solidFill>
              </a:rPr>
              <a:t>ISO 16757 - diagnostics on CAN including Keyword 2000 over CAN</a:t>
            </a:r>
          </a:p>
          <a:p>
            <a:pPr marL="0" marR="0" lvl="2" indent="0" algn="l" defTabSz="914400" rtl="0" eaLnBrk="0" fontAlgn="base" latinLnBrk="0" hangingPunct="0">
              <a:lnSpc>
                <a:spcPct val="100000"/>
              </a:lnSpc>
              <a:spcBef>
                <a:spcPct val="30000"/>
              </a:spcBef>
              <a:spcAft>
                <a:spcPct val="0"/>
              </a:spcAft>
              <a:buClrTx/>
              <a:buSzTx/>
              <a:buFontTx/>
              <a:buNone/>
              <a:tabLst/>
              <a:defRPr/>
            </a:pPr>
            <a:r>
              <a:rPr lang="en-US" altLang="zh-CN" dirty="0" smtClean="0"/>
              <a:t>ISO 14229-1 (Unified Diagnostic Services)</a:t>
            </a:r>
          </a:p>
          <a:p>
            <a:pPr marL="0" marR="0" lvl="2" indent="0" algn="l" defTabSz="914400" rtl="0" eaLnBrk="0" fontAlgn="base" latinLnBrk="0" hangingPunct="0">
              <a:lnSpc>
                <a:spcPct val="100000"/>
              </a:lnSpc>
              <a:spcBef>
                <a:spcPct val="30000"/>
              </a:spcBef>
              <a:spcAft>
                <a:spcPct val="0"/>
              </a:spcAft>
              <a:buClrTx/>
              <a:buSzTx/>
              <a:buFontTx/>
              <a:buNone/>
              <a:tabLst/>
              <a:defRPr/>
            </a:pPr>
            <a:r>
              <a:rPr lang="en-US" altLang="zh-CN" dirty="0" smtClean="0"/>
              <a:t>ISO 15031(onboard diagnostic standard)</a:t>
            </a:r>
            <a:endParaRPr lang="zh-CN" altLang="en-US" dirty="0" smtClean="0"/>
          </a:p>
        </p:txBody>
      </p:sp>
      <p:sp>
        <p:nvSpPr>
          <p:cNvPr id="4" name="灯片编号占位符 3"/>
          <p:cNvSpPr>
            <a:spLocks noGrp="1"/>
          </p:cNvSpPr>
          <p:nvPr>
            <p:ph type="sldNum" sz="quarter" idx="10"/>
          </p:nvPr>
        </p:nvSpPr>
        <p:spPr/>
        <p:txBody>
          <a:bodyPr/>
          <a:lstStyle/>
          <a:p>
            <a:pPr>
              <a:defRPr/>
            </a:pPr>
            <a:fld id="{79AE6549-0852-48AF-B845-B4CAF315C72D}" type="slidenum">
              <a:rPr lang="zh-CN" altLang="en-US" smtClean="0"/>
              <a:pPr>
                <a:defRPr/>
              </a:pPr>
              <a:t>4</a:t>
            </a:fld>
            <a:endParaRPr lang="zh-CN" altLang="en-US"/>
          </a:p>
        </p:txBody>
      </p:sp>
    </p:spTree>
    <p:extLst>
      <p:ext uri="{BB962C8B-B14F-4D97-AF65-F5344CB8AC3E}">
        <p14:creationId xmlns:p14="http://schemas.microsoft.com/office/powerpoint/2010/main" val="321992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2" indent="0" algn="l" defTabSz="914400" rtl="0" eaLnBrk="0" fontAlgn="base" latinLnBrk="0" hangingPunct="0">
              <a:lnSpc>
                <a:spcPct val="100000"/>
              </a:lnSpc>
              <a:spcBef>
                <a:spcPct val="30000"/>
              </a:spcBef>
              <a:spcAft>
                <a:spcPct val="0"/>
              </a:spcAft>
              <a:buClrTx/>
              <a:buSzTx/>
              <a:buFontTx/>
              <a:buNone/>
              <a:tabLst/>
              <a:defRPr/>
            </a:pPr>
            <a:r>
              <a:rPr lang="en-US" altLang="zh-CN" dirty="0" smtClean="0"/>
              <a:t>CAN application layer (CAL)</a:t>
            </a:r>
          </a:p>
          <a:p>
            <a:pPr marL="0" marR="0" lvl="2" indent="0" algn="l" defTabSz="914400" rtl="0" eaLnBrk="0" fontAlgn="base" latinLnBrk="0" hangingPunct="0">
              <a:lnSpc>
                <a:spcPct val="100000"/>
              </a:lnSpc>
              <a:spcBef>
                <a:spcPct val="30000"/>
              </a:spcBef>
              <a:spcAft>
                <a:spcPct val="0"/>
              </a:spcAft>
              <a:buClrTx/>
              <a:buSzTx/>
              <a:buFontTx/>
              <a:buNone/>
              <a:tabLst/>
              <a:defRPr/>
            </a:pPr>
            <a:r>
              <a:rPr lang="en-US" altLang="zh-CN" dirty="0" err="1" smtClean="0"/>
              <a:t>DeviceNet</a:t>
            </a:r>
            <a:r>
              <a:rPr lang="zh-CN" altLang="en-US" dirty="0" smtClean="0"/>
              <a:t>为</a:t>
            </a:r>
            <a:r>
              <a:rPr lang="en-US" altLang="zh-CN" dirty="0" smtClean="0"/>
              <a:t>PROFIBUS-DP</a:t>
            </a:r>
            <a:r>
              <a:rPr lang="zh-CN" altLang="en-US" dirty="0" smtClean="0"/>
              <a:t>以及</a:t>
            </a:r>
            <a:r>
              <a:rPr lang="en-US" altLang="zh-CN" dirty="0" smtClean="0"/>
              <a:t>INTERBUS</a:t>
            </a:r>
            <a:r>
              <a:rPr lang="zh-CN" altLang="en-US" dirty="0" smtClean="0"/>
              <a:t>的有力竞争者</a:t>
            </a:r>
            <a:endParaRPr lang="en-US" altLang="zh-CN" dirty="0" smtClean="0"/>
          </a:p>
          <a:p>
            <a:pPr marL="0" marR="0" lvl="2" indent="0" algn="l" defTabSz="914400" rtl="0" eaLnBrk="0" fontAlgn="base" latinLnBrk="0" hangingPunct="0">
              <a:lnSpc>
                <a:spcPct val="100000"/>
              </a:lnSpc>
              <a:spcBef>
                <a:spcPct val="30000"/>
              </a:spcBef>
              <a:spcAft>
                <a:spcPct val="0"/>
              </a:spcAft>
              <a:buClrTx/>
              <a:buSzTx/>
              <a:buFontTx/>
              <a:buNone/>
              <a:tabLst/>
              <a:defRPr/>
            </a:pPr>
            <a:r>
              <a:rPr lang="en-US" altLang="zh-CN" dirty="0" smtClean="0"/>
              <a:t>CAL -- </a:t>
            </a:r>
            <a:r>
              <a:rPr lang="zh-CN" altLang="en-US" dirty="0" smtClean="0">
                <a:solidFill>
                  <a:schemeClr val="bg2">
                    <a:lumMod val="10000"/>
                  </a:schemeClr>
                </a:solidFill>
              </a:rPr>
              <a:t>需要用户针对具体应用进一步开发，在实际中并不成功</a:t>
            </a:r>
            <a:endParaRPr lang="en-US" altLang="zh-CN" dirty="0" smtClean="0"/>
          </a:p>
          <a:p>
            <a:pPr marL="0" marR="0" lvl="2" indent="0" algn="l" defTabSz="914400" rtl="0" eaLnBrk="0" fontAlgn="base" latinLnBrk="0" hangingPunct="0">
              <a:lnSpc>
                <a:spcPct val="100000"/>
              </a:lnSpc>
              <a:spcBef>
                <a:spcPct val="30000"/>
              </a:spcBef>
              <a:spcAft>
                <a:spcPct val="0"/>
              </a:spcAft>
              <a:buClrTx/>
              <a:buSzTx/>
              <a:buFontTx/>
              <a:buNone/>
              <a:tabLst/>
              <a:defRPr/>
            </a:pPr>
            <a:r>
              <a:rPr lang="en-US" altLang="zh-CN" dirty="0" err="1" smtClean="0"/>
              <a:t>CANopen</a:t>
            </a:r>
            <a:r>
              <a:rPr lang="en-US" altLang="zh-CN" dirty="0" smtClean="0"/>
              <a:t> -- embedded network for machine distributed control</a:t>
            </a:r>
          </a:p>
          <a:p>
            <a:pPr marL="0" marR="0" lvl="2" indent="0" algn="l" defTabSz="914400" rtl="0" eaLnBrk="0" fontAlgn="base" latinLnBrk="0" hangingPunct="0">
              <a:lnSpc>
                <a:spcPct val="100000"/>
              </a:lnSpc>
              <a:spcBef>
                <a:spcPct val="30000"/>
              </a:spcBef>
              <a:spcAft>
                <a:spcPct val="0"/>
              </a:spcAft>
              <a:buClrTx/>
              <a:buSzTx/>
              <a:buFontTx/>
              <a:buNone/>
              <a:tabLst/>
              <a:defRPr/>
            </a:pPr>
            <a:r>
              <a:rPr lang="en-US" altLang="zh-CN" dirty="0" err="1" smtClean="0"/>
              <a:t>DeviceNet</a:t>
            </a:r>
            <a:r>
              <a:rPr lang="en-US" altLang="zh-CN" dirty="0" smtClean="0"/>
              <a:t> &amp; SDS -- factory and process automation</a:t>
            </a:r>
            <a:endParaRPr lang="zh-CN" altLang="en-US" dirty="0" smtClean="0"/>
          </a:p>
        </p:txBody>
      </p:sp>
      <p:sp>
        <p:nvSpPr>
          <p:cNvPr id="4" name="灯片编号占位符 3"/>
          <p:cNvSpPr>
            <a:spLocks noGrp="1"/>
          </p:cNvSpPr>
          <p:nvPr>
            <p:ph type="sldNum" sz="quarter" idx="10"/>
          </p:nvPr>
        </p:nvSpPr>
        <p:spPr/>
        <p:txBody>
          <a:bodyPr/>
          <a:lstStyle/>
          <a:p>
            <a:pPr>
              <a:defRPr/>
            </a:pPr>
            <a:fld id="{79AE6549-0852-48AF-B845-B4CAF315C72D}" type="slidenum">
              <a:rPr lang="zh-CN" altLang="en-US" smtClean="0"/>
              <a:pPr>
                <a:defRPr/>
              </a:pPr>
              <a:t>5</a:t>
            </a:fld>
            <a:endParaRPr lang="zh-CN" altLang="en-US"/>
          </a:p>
        </p:txBody>
      </p:sp>
    </p:spTree>
    <p:extLst>
      <p:ext uri="{BB962C8B-B14F-4D97-AF65-F5344CB8AC3E}">
        <p14:creationId xmlns:p14="http://schemas.microsoft.com/office/powerpoint/2010/main" val="321992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lang="zh-CN" altLang="en-US" dirty="0" smtClean="0"/>
              <a:t>对照</a:t>
            </a:r>
            <a:r>
              <a:rPr lang="zh-CN" altLang="en-US" b="1" dirty="0" smtClean="0"/>
              <a:t>下页图</a:t>
            </a:r>
            <a:r>
              <a:rPr lang="zh-CN" altLang="en-US" dirty="0" smtClean="0"/>
              <a:t>进行介绍</a:t>
            </a:r>
            <a:endParaRPr lang="en-US" altLang="zh-CN" dirty="0" smtClean="0"/>
          </a:p>
          <a:p>
            <a:pPr marL="0" indent="0">
              <a:buNone/>
            </a:pPr>
            <a:r>
              <a:rPr lang="en-US" altLang="zh-CN" dirty="0" smtClean="0"/>
              <a:t>physical layer signaling(PLS)</a:t>
            </a:r>
          </a:p>
          <a:p>
            <a:pPr marL="0" indent="0">
              <a:buNone/>
            </a:pPr>
            <a:r>
              <a:rPr lang="en-US" altLang="zh-CN" dirty="0" smtClean="0"/>
              <a:t>physical medium attachment(PMA)</a:t>
            </a:r>
          </a:p>
          <a:p>
            <a:pPr marL="0" indent="0">
              <a:buNone/>
            </a:pPr>
            <a:r>
              <a:rPr lang="en-US" altLang="zh-CN" dirty="0" smtClean="0"/>
              <a:t>medium dependent interface(MDI)</a:t>
            </a:r>
            <a:endParaRPr lang="zh-CN" altLang="en-US" dirty="0"/>
          </a:p>
        </p:txBody>
      </p:sp>
      <p:sp>
        <p:nvSpPr>
          <p:cNvPr id="4" name="灯片编号占位符 3"/>
          <p:cNvSpPr>
            <a:spLocks noGrp="1"/>
          </p:cNvSpPr>
          <p:nvPr>
            <p:ph type="sldNum" sz="quarter" idx="10"/>
          </p:nvPr>
        </p:nvSpPr>
        <p:spPr/>
        <p:txBody>
          <a:bodyPr/>
          <a:lstStyle/>
          <a:p>
            <a:pPr>
              <a:defRPr/>
            </a:pPr>
            <a:fld id="{79AE6549-0852-48AF-B845-B4CAF315C72D}" type="slidenum">
              <a:rPr lang="zh-CN" altLang="en-US" smtClean="0"/>
              <a:pPr>
                <a:defRPr/>
              </a:pPr>
              <a:t>7</a:t>
            </a:fld>
            <a:endParaRPr lang="zh-CN" altLang="en-US"/>
          </a:p>
        </p:txBody>
      </p:sp>
    </p:spTree>
    <p:extLst>
      <p:ext uri="{BB962C8B-B14F-4D97-AF65-F5344CB8AC3E}">
        <p14:creationId xmlns:p14="http://schemas.microsoft.com/office/powerpoint/2010/main" val="33756651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lang="zh-CN" altLang="en-US" dirty="0" smtClean="0"/>
              <a:t>对照</a:t>
            </a:r>
            <a:r>
              <a:rPr lang="zh-CN" altLang="en-US" b="1" dirty="0" smtClean="0"/>
              <a:t>下页图</a:t>
            </a:r>
            <a:r>
              <a:rPr lang="zh-CN" altLang="en-US" dirty="0" smtClean="0"/>
              <a:t>进行介绍</a:t>
            </a:r>
            <a:endParaRPr lang="en-US" altLang="zh-CN" dirty="0" smtClean="0"/>
          </a:p>
          <a:p>
            <a:pPr marL="0" indent="0">
              <a:buNone/>
            </a:pPr>
            <a:r>
              <a:rPr lang="en-US" altLang="zh-CN" dirty="0" smtClean="0"/>
              <a:t>medium access control (MAC)</a:t>
            </a:r>
          </a:p>
          <a:p>
            <a:pPr marL="0" indent="0">
              <a:buNone/>
            </a:pPr>
            <a:r>
              <a:rPr lang="en-US" altLang="zh-CN" dirty="0" smtClean="0"/>
              <a:t>logical link control (LLC)</a:t>
            </a:r>
            <a:endParaRPr lang="zh-CN" altLang="en-US" dirty="0"/>
          </a:p>
        </p:txBody>
      </p:sp>
      <p:sp>
        <p:nvSpPr>
          <p:cNvPr id="4" name="灯片编号占位符 3"/>
          <p:cNvSpPr>
            <a:spLocks noGrp="1"/>
          </p:cNvSpPr>
          <p:nvPr>
            <p:ph type="sldNum" sz="quarter" idx="10"/>
          </p:nvPr>
        </p:nvSpPr>
        <p:spPr/>
        <p:txBody>
          <a:bodyPr/>
          <a:lstStyle/>
          <a:p>
            <a:pPr>
              <a:defRPr/>
            </a:pPr>
            <a:fld id="{79AE6549-0852-48AF-B845-B4CAF315C72D}" type="slidenum">
              <a:rPr lang="zh-CN" altLang="en-US" smtClean="0"/>
              <a:pPr>
                <a:defRPr/>
              </a:pPr>
              <a:t>8</a:t>
            </a:fld>
            <a:endParaRPr lang="zh-CN" altLang="en-US"/>
          </a:p>
        </p:txBody>
      </p:sp>
    </p:spTree>
    <p:extLst>
      <p:ext uri="{BB962C8B-B14F-4D97-AF65-F5344CB8AC3E}">
        <p14:creationId xmlns:p14="http://schemas.microsoft.com/office/powerpoint/2010/main" val="33756651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1.</a:t>
            </a:r>
            <a:r>
              <a:rPr lang="zh-CN" altLang="zh-CN" dirty="0" smtClean="0"/>
              <a:t>当总线开放时，任何连接的单元均可开始发送一个新报文。</a:t>
            </a:r>
            <a:endParaRPr lang="zh-CN" altLang="en-US" dirty="0"/>
          </a:p>
        </p:txBody>
      </p:sp>
      <p:sp>
        <p:nvSpPr>
          <p:cNvPr id="4" name="灯片编号占位符 3"/>
          <p:cNvSpPr>
            <a:spLocks noGrp="1"/>
          </p:cNvSpPr>
          <p:nvPr>
            <p:ph type="sldNum" sz="quarter" idx="10"/>
          </p:nvPr>
        </p:nvSpPr>
        <p:spPr/>
        <p:txBody>
          <a:bodyPr/>
          <a:lstStyle/>
          <a:p>
            <a:pPr>
              <a:defRPr/>
            </a:pPr>
            <a:fld id="{79AE6549-0852-48AF-B845-B4CAF315C72D}" type="slidenum">
              <a:rPr lang="zh-CN" altLang="en-US" smtClean="0"/>
              <a:pPr>
                <a:defRPr/>
              </a:pPr>
              <a:t>9</a:t>
            </a:fld>
            <a:endParaRPr lang="zh-CN" altLang="en-US"/>
          </a:p>
        </p:txBody>
      </p:sp>
    </p:spTree>
    <p:extLst>
      <p:ext uri="{BB962C8B-B14F-4D97-AF65-F5344CB8AC3E}">
        <p14:creationId xmlns:p14="http://schemas.microsoft.com/office/powerpoint/2010/main" val="33756651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推荐标称阻抗为</a:t>
            </a:r>
            <a:r>
              <a:rPr lang="en-US" altLang="zh-CN" dirty="0" smtClean="0"/>
              <a:t>120</a:t>
            </a:r>
            <a:r>
              <a:rPr lang="zh-CN" altLang="en-US" dirty="0" smtClean="0"/>
              <a:t>欧，目的为减小信号反射；</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pPr>
              <a:defRPr/>
            </a:pPr>
            <a:fld id="{79AE6549-0852-48AF-B845-B4CAF315C72D}" type="slidenum">
              <a:rPr lang="zh-CN" altLang="en-US" smtClean="0"/>
              <a:pPr>
                <a:defRPr/>
              </a:pPr>
              <a:t>10</a:t>
            </a:fld>
            <a:endParaRPr lang="zh-CN" altLang="en-US"/>
          </a:p>
        </p:txBody>
      </p:sp>
    </p:spTree>
    <p:extLst>
      <p:ext uri="{BB962C8B-B14F-4D97-AF65-F5344CB8AC3E}">
        <p14:creationId xmlns:p14="http://schemas.microsoft.com/office/powerpoint/2010/main" val="33756651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dirty="0" smtClean="0"/>
              <a:t>1.CAN</a:t>
            </a:r>
            <a:r>
              <a:rPr lang="zh-CN" altLang="en-US" dirty="0" smtClean="0"/>
              <a:t>不强制传输比特率，只要其低于最大值要求，通常由基于</a:t>
            </a:r>
            <a:r>
              <a:rPr lang="en-US" altLang="zh-CN" dirty="0" smtClean="0"/>
              <a:t>CAN</a:t>
            </a:r>
            <a:r>
              <a:rPr lang="zh-CN" altLang="en-US" dirty="0" smtClean="0"/>
              <a:t>的应用协议决定；</a:t>
            </a:r>
            <a:endParaRPr lang="en-US" altLang="zh-CN"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dirty="0" smtClean="0"/>
              <a:t>2.</a:t>
            </a:r>
            <a:r>
              <a:rPr lang="zh-CN" altLang="en-US" dirty="0" smtClean="0"/>
              <a:t>在</a:t>
            </a:r>
            <a:r>
              <a:rPr lang="en-US" altLang="zh-CN" dirty="0" smtClean="0"/>
              <a:t>CAN</a:t>
            </a:r>
            <a:r>
              <a:rPr lang="zh-CN" altLang="en-US" dirty="0" smtClean="0"/>
              <a:t>的网络覆盖面积较大时，中继器可以提高传输速度；</a:t>
            </a:r>
            <a:endParaRPr lang="en-US" altLang="zh-CN" dirty="0" smtClean="0"/>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pPr>
              <a:defRPr/>
            </a:pPr>
            <a:fld id="{79AE6549-0852-48AF-B845-B4CAF315C72D}" type="slidenum">
              <a:rPr lang="zh-CN" altLang="en-US" smtClean="0"/>
              <a:pPr>
                <a:defRPr/>
              </a:pPr>
              <a:t>11</a:t>
            </a:fld>
            <a:endParaRPr lang="zh-CN" altLang="en-US"/>
          </a:p>
        </p:txBody>
      </p:sp>
    </p:spTree>
    <p:extLst>
      <p:ext uri="{BB962C8B-B14F-4D97-AF65-F5344CB8AC3E}">
        <p14:creationId xmlns:p14="http://schemas.microsoft.com/office/powerpoint/2010/main" val="33756651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r>
              <a:rPr lang="en-US" altLang="zh-CN" dirty="0" smtClean="0"/>
              <a:t>1.digital phase locked loop</a:t>
            </a:r>
            <a:r>
              <a:rPr lang="zh-CN" altLang="en-US" dirty="0" smtClean="0"/>
              <a:t>，直接从总线上的数据流中获得时间信息，即使用信号沿来同步接收到的时钟，从而用于补偿不可避免的晶振误差与漂移；</a:t>
            </a:r>
            <a:endParaRPr lang="en-US" altLang="zh-CN" dirty="0" smtClean="0"/>
          </a:p>
          <a:p>
            <a:pPr marL="0" indent="0">
              <a:buNone/>
            </a:pPr>
            <a:endParaRPr lang="zh-CN" altLang="en-US" dirty="0"/>
          </a:p>
        </p:txBody>
      </p:sp>
      <p:sp>
        <p:nvSpPr>
          <p:cNvPr id="4" name="灯片编号占位符 3"/>
          <p:cNvSpPr>
            <a:spLocks noGrp="1"/>
          </p:cNvSpPr>
          <p:nvPr>
            <p:ph type="sldNum" sz="quarter" idx="10"/>
          </p:nvPr>
        </p:nvSpPr>
        <p:spPr/>
        <p:txBody>
          <a:bodyPr/>
          <a:lstStyle/>
          <a:p>
            <a:pPr>
              <a:defRPr/>
            </a:pPr>
            <a:fld id="{79AE6549-0852-48AF-B845-B4CAF315C72D}" type="slidenum">
              <a:rPr lang="zh-CN" altLang="en-US" smtClean="0"/>
              <a:pPr>
                <a:defRPr/>
              </a:pPr>
              <a:t>12</a:t>
            </a:fld>
            <a:endParaRPr lang="zh-CN" altLang="en-US"/>
          </a:p>
        </p:txBody>
      </p:sp>
    </p:spTree>
    <p:extLst>
      <p:ext uri="{BB962C8B-B14F-4D97-AF65-F5344CB8AC3E}">
        <p14:creationId xmlns:p14="http://schemas.microsoft.com/office/powerpoint/2010/main" val="33756651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400050" lvl="0" indent="-457200">
              <a:defRPr/>
            </a:pPr>
            <a:r>
              <a:rPr lang="zh-CN" altLang="en-US" dirty="0" smtClean="0">
                <a:solidFill>
                  <a:srgbClr val="C00000"/>
                </a:solidFill>
              </a:rPr>
              <a:t>标准帧：</a:t>
            </a:r>
            <a:r>
              <a:rPr lang="en-US" altLang="zh-CN" dirty="0" smtClean="0"/>
              <a:t>11</a:t>
            </a:r>
            <a:r>
              <a:rPr lang="zh-CN" altLang="en-US" dirty="0" smtClean="0"/>
              <a:t>位标识符，</a:t>
            </a:r>
            <a:r>
              <a:rPr lang="en-US" altLang="zh-CN" dirty="0" smtClean="0"/>
              <a:t>CAN2.0A</a:t>
            </a:r>
            <a:r>
              <a:rPr lang="zh-CN" altLang="en-US" dirty="0" smtClean="0"/>
              <a:t>标准中定义</a:t>
            </a:r>
            <a:endParaRPr lang="en-US" altLang="zh-CN" dirty="0" smtClean="0"/>
          </a:p>
          <a:p>
            <a:pPr marL="400050" lvl="0" indent="-457200">
              <a:defRPr/>
            </a:pPr>
            <a:r>
              <a:rPr lang="zh-CN" altLang="en-US" dirty="0" smtClean="0">
                <a:solidFill>
                  <a:srgbClr val="C00000"/>
                </a:solidFill>
              </a:rPr>
              <a:t>扩展帧：</a:t>
            </a:r>
            <a:r>
              <a:rPr lang="en-US" altLang="zh-CN" dirty="0" smtClean="0"/>
              <a:t>29</a:t>
            </a:r>
            <a:r>
              <a:rPr lang="zh-CN" altLang="en-US" dirty="0" smtClean="0"/>
              <a:t>位标识符，</a:t>
            </a:r>
            <a:r>
              <a:rPr lang="en-US" altLang="zh-CN" dirty="0" smtClean="0"/>
              <a:t>CAN2.0B</a:t>
            </a:r>
            <a:r>
              <a:rPr lang="zh-CN" altLang="en-US" dirty="0" smtClean="0"/>
              <a:t>标准中定义</a:t>
            </a:r>
            <a:endParaRPr lang="en-US" altLang="zh-CN"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sz="1200" dirty="0" smtClean="0">
                <a:solidFill>
                  <a:srgbClr val="7030A0"/>
                </a:solidFill>
              </a:rPr>
              <a:t>二者标识符位数不同，仲裁场某些位不同，标准帧的仲裁场短。</a:t>
            </a:r>
            <a:endParaRPr lang="en-US" altLang="zh-CN" sz="1200" dirty="0" smtClean="0">
              <a:solidFill>
                <a:srgbClr val="7030A0"/>
              </a:solidFill>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zh-CN" sz="1200" dirty="0" smtClean="0">
              <a:solidFill>
                <a:srgbClr val="7030A0"/>
              </a:solidFill>
            </a:endParaRPr>
          </a:p>
          <a:p>
            <a:endParaRPr lang="zh-CN" altLang="en-US" dirty="0"/>
          </a:p>
        </p:txBody>
      </p:sp>
      <p:sp>
        <p:nvSpPr>
          <p:cNvPr id="4" name="灯片编号占位符 3"/>
          <p:cNvSpPr>
            <a:spLocks noGrp="1"/>
          </p:cNvSpPr>
          <p:nvPr>
            <p:ph type="sldNum" sz="quarter" idx="10"/>
          </p:nvPr>
        </p:nvSpPr>
        <p:spPr/>
        <p:txBody>
          <a:bodyPr/>
          <a:lstStyle/>
          <a:p>
            <a:pPr>
              <a:defRPr/>
            </a:pPr>
            <a:fld id="{79AE6549-0852-48AF-B845-B4CAF315C72D}" type="slidenum">
              <a:rPr lang="zh-CN" altLang="en-US" smtClean="0"/>
              <a:pPr>
                <a:defRPr/>
              </a:pPr>
              <a:t>13</a:t>
            </a:fld>
            <a:endParaRPr lang="zh-CN" altLang="en-US"/>
          </a:p>
        </p:txBody>
      </p:sp>
    </p:spTree>
    <p:extLst>
      <p:ext uri="{BB962C8B-B14F-4D97-AF65-F5344CB8AC3E}">
        <p14:creationId xmlns:p14="http://schemas.microsoft.com/office/powerpoint/2010/main" val="8588459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2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zh-CN" altLang="zh-CN" sz="1200" dirty="0" smtClean="0">
                <a:latin typeface="Times New Roman" pitchFamily="18" charset="0"/>
              </a:rPr>
              <a:t>总线处于空闲状态时，才允许</a:t>
            </a:r>
            <a:r>
              <a:rPr lang="zh-CN" altLang="en-US" sz="1200" dirty="0" smtClean="0">
                <a:latin typeface="Times New Roman" pitchFamily="18" charset="0"/>
              </a:rPr>
              <a:t>节点</a:t>
            </a:r>
            <a:r>
              <a:rPr lang="zh-CN" altLang="zh-CN" sz="1200" dirty="0" smtClean="0">
                <a:latin typeface="Times New Roman" pitchFamily="18" charset="0"/>
              </a:rPr>
              <a:t>开始发送</a:t>
            </a:r>
            <a:r>
              <a:rPr lang="zh-CN" altLang="en-US" sz="1200" dirty="0" smtClean="0">
                <a:latin typeface="Times New Roman" pitchFamily="18" charset="0"/>
              </a:rPr>
              <a:t>。</a:t>
            </a:r>
            <a:endParaRPr lang="en-US" altLang="zh-CN" sz="1200" dirty="0" smtClean="0">
              <a:latin typeface="Times New Roman" pitchFamily="18" charset="0"/>
            </a:endParaRPr>
          </a:p>
          <a:p>
            <a:pPr eaLnBrk="1" hangingPunct="1"/>
            <a:r>
              <a:rPr lang="zh-CN" altLang="en-US" sz="1200" dirty="0" smtClean="0">
                <a:latin typeface="Times New Roman" pitchFamily="18" charset="0"/>
              </a:rPr>
              <a:t>（</a:t>
            </a:r>
            <a:r>
              <a:rPr lang="zh-CN" altLang="zh-CN" sz="1200" dirty="0" smtClean="0">
                <a:latin typeface="Times New Roman" pitchFamily="18" charset="0"/>
              </a:rPr>
              <a:t>所有</a:t>
            </a:r>
            <a:r>
              <a:rPr lang="zh-CN" altLang="en-US" sz="1200" dirty="0" smtClean="0">
                <a:latin typeface="Times New Roman" pitchFamily="18" charset="0"/>
              </a:rPr>
              <a:t>节点</a:t>
            </a:r>
            <a:r>
              <a:rPr lang="zh-CN" altLang="zh-CN" sz="1200" dirty="0" smtClean="0">
                <a:latin typeface="Times New Roman" pitchFamily="18" charset="0"/>
              </a:rPr>
              <a:t>都必须同步于首先开始发送的那个</a:t>
            </a:r>
            <a:r>
              <a:rPr lang="zh-CN" altLang="en-US" sz="1200" dirty="0" smtClean="0">
                <a:latin typeface="Times New Roman" pitchFamily="18" charset="0"/>
              </a:rPr>
              <a:t>节点</a:t>
            </a:r>
            <a:r>
              <a:rPr lang="zh-CN" altLang="zh-CN" sz="1200" dirty="0" smtClean="0">
                <a:latin typeface="Times New Roman" pitchFamily="18" charset="0"/>
              </a:rPr>
              <a:t>的帧起始</a:t>
            </a:r>
            <a:r>
              <a:rPr lang="zh-CN" altLang="en-US" sz="1200" dirty="0" smtClean="0">
                <a:latin typeface="Times New Roman" pitchFamily="18" charset="0"/>
              </a:rPr>
              <a:t>位</a:t>
            </a:r>
            <a:r>
              <a:rPr lang="zh-CN" altLang="zh-CN" sz="1200" dirty="0" smtClean="0">
                <a:latin typeface="Times New Roman" pitchFamily="18" charset="0"/>
              </a:rPr>
              <a:t>前沿</a:t>
            </a:r>
            <a:r>
              <a:rPr lang="zh-CN" altLang="en-US" sz="1200" dirty="0" smtClean="0">
                <a:latin typeface="Times New Roman" pitchFamily="18" charset="0"/>
              </a:rPr>
              <a:t>）</a:t>
            </a:r>
            <a:endParaRPr lang="en-US" altLang="zh-CN" dirty="0" smtClean="0"/>
          </a:p>
        </p:txBody>
      </p:sp>
      <p:sp>
        <p:nvSpPr>
          <p:cNvPr id="15258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ea typeface="宋体" charset="-122"/>
              </a:defRPr>
            </a:lvl1pPr>
            <a:lvl2pPr marL="742950" indent="-285750" eaLnBrk="0" hangingPunct="0">
              <a:spcBef>
                <a:spcPct val="30000"/>
              </a:spcBef>
              <a:defRPr sz="1200">
                <a:solidFill>
                  <a:schemeClr val="tx1"/>
                </a:solidFill>
                <a:latin typeface="Calibri" pitchFamily="34" charset="0"/>
                <a:ea typeface="宋体" charset="-122"/>
              </a:defRPr>
            </a:lvl2pPr>
            <a:lvl3pPr marL="1143000" indent="-228600" eaLnBrk="0" hangingPunct="0">
              <a:spcBef>
                <a:spcPct val="30000"/>
              </a:spcBef>
              <a:defRPr sz="1200">
                <a:solidFill>
                  <a:schemeClr val="tx1"/>
                </a:solidFill>
                <a:latin typeface="Calibri" pitchFamily="34" charset="0"/>
                <a:ea typeface="宋体" charset="-122"/>
              </a:defRPr>
            </a:lvl3pPr>
            <a:lvl4pPr marL="1600200" indent="-228600" eaLnBrk="0" hangingPunct="0">
              <a:spcBef>
                <a:spcPct val="30000"/>
              </a:spcBef>
              <a:defRPr sz="1200">
                <a:solidFill>
                  <a:schemeClr val="tx1"/>
                </a:solidFill>
                <a:latin typeface="Calibri" pitchFamily="34" charset="0"/>
                <a:ea typeface="宋体" charset="-122"/>
              </a:defRPr>
            </a:lvl4pPr>
            <a:lvl5pPr marL="2057400" indent="-228600" eaLnBrk="0" hangingPunct="0">
              <a:spcBef>
                <a:spcPct val="30000"/>
              </a:spcBef>
              <a:defRPr sz="1200">
                <a:solidFill>
                  <a:schemeClr val="tx1"/>
                </a:solidFill>
                <a:latin typeface="Calibri" pitchFamily="34" charset="0"/>
                <a:ea typeface="宋体" charset="-122"/>
              </a:defRPr>
            </a:lvl5pPr>
            <a:lvl6pPr marL="2514600" indent="-228600" eaLnBrk="0" fontAlgn="base" hangingPunct="0">
              <a:spcBef>
                <a:spcPct val="30000"/>
              </a:spcBef>
              <a:spcAft>
                <a:spcPct val="0"/>
              </a:spcAft>
              <a:defRPr sz="1200">
                <a:solidFill>
                  <a:schemeClr val="tx1"/>
                </a:solidFill>
                <a:latin typeface="Calibri" pitchFamily="34" charset="0"/>
                <a:ea typeface="宋体" charset="-122"/>
              </a:defRPr>
            </a:lvl6pPr>
            <a:lvl7pPr marL="2971800" indent="-228600" eaLnBrk="0" fontAlgn="base" hangingPunct="0">
              <a:spcBef>
                <a:spcPct val="30000"/>
              </a:spcBef>
              <a:spcAft>
                <a:spcPct val="0"/>
              </a:spcAft>
              <a:defRPr sz="1200">
                <a:solidFill>
                  <a:schemeClr val="tx1"/>
                </a:solidFill>
                <a:latin typeface="Calibri" pitchFamily="34" charset="0"/>
                <a:ea typeface="宋体" charset="-122"/>
              </a:defRPr>
            </a:lvl7pPr>
            <a:lvl8pPr marL="3429000" indent="-228600" eaLnBrk="0" fontAlgn="base" hangingPunct="0">
              <a:spcBef>
                <a:spcPct val="30000"/>
              </a:spcBef>
              <a:spcAft>
                <a:spcPct val="0"/>
              </a:spcAft>
              <a:defRPr sz="1200">
                <a:solidFill>
                  <a:schemeClr val="tx1"/>
                </a:solidFill>
                <a:latin typeface="Calibri" pitchFamily="34" charset="0"/>
                <a:ea typeface="宋体" charset="-122"/>
              </a:defRPr>
            </a:lvl8pPr>
            <a:lvl9pPr marL="3886200" indent="-228600" eaLnBrk="0" fontAlgn="base" hangingPunct="0">
              <a:spcBef>
                <a:spcPct val="30000"/>
              </a:spcBef>
              <a:spcAft>
                <a:spcPct val="0"/>
              </a:spcAft>
              <a:defRPr sz="1200">
                <a:solidFill>
                  <a:schemeClr val="tx1"/>
                </a:solidFill>
                <a:latin typeface="Calibri" pitchFamily="34" charset="0"/>
                <a:ea typeface="宋体" charset="-122"/>
              </a:defRPr>
            </a:lvl9pPr>
          </a:lstStyle>
          <a:p>
            <a:pPr eaLnBrk="1" hangingPunct="1">
              <a:spcBef>
                <a:spcPct val="0"/>
              </a:spcBef>
            </a:pPr>
            <a:fld id="{B77F3F53-C749-4C83-90FB-9D6DB2C4E7F6}" type="slidenum">
              <a:rPr lang="zh-CN" altLang="en-US" smtClean="0"/>
              <a:pPr eaLnBrk="1" hangingPunct="1">
                <a:spcBef>
                  <a:spcPct val="0"/>
                </a:spcBef>
              </a:pPr>
              <a:t>15</a:t>
            </a:fld>
            <a:endParaRPr lang="zh-CN" alt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smtClean="0">
                <a:solidFill>
                  <a:srgbClr val="C00000"/>
                </a:solidFill>
              </a:rPr>
              <a:t>1.RTR</a:t>
            </a:r>
            <a:r>
              <a:rPr lang="zh-CN" altLang="en-US" sz="1200" dirty="0" smtClean="0">
                <a:solidFill>
                  <a:srgbClr val="C00000"/>
                </a:solidFill>
              </a:rPr>
              <a:t>位</a:t>
            </a:r>
            <a:r>
              <a:rPr lang="zh-CN" altLang="en-US" sz="1200" dirty="0" smtClean="0"/>
              <a:t>（</a:t>
            </a:r>
            <a:r>
              <a:rPr lang="en-US" altLang="zh-CN" sz="1200" dirty="0" smtClean="0"/>
              <a:t>Remote Transmission Request Bit</a:t>
            </a:r>
            <a:r>
              <a:rPr lang="zh-CN" altLang="en-US" sz="1200" dirty="0" smtClean="0"/>
              <a:t>）</a:t>
            </a:r>
            <a:endParaRPr lang="en-US" altLang="zh-CN" sz="1200" dirty="0" smtClean="0"/>
          </a:p>
          <a:p>
            <a:r>
              <a:rPr lang="en-US" altLang="zh-CN" dirty="0" smtClean="0"/>
              <a:t>2.</a:t>
            </a:r>
            <a:r>
              <a:rPr lang="zh-CN" altLang="en-US" dirty="0" smtClean="0"/>
              <a:t>仲裁场由</a:t>
            </a:r>
            <a:r>
              <a:rPr lang="en-US" altLang="zh-CN" dirty="0" smtClean="0"/>
              <a:t>MAC</a:t>
            </a:r>
            <a:r>
              <a:rPr lang="zh-CN" altLang="en-US" dirty="0" smtClean="0"/>
              <a:t>子层用于在冲突发生时，检测与管理帧的优先级。</a:t>
            </a:r>
            <a:endParaRPr lang="zh-CN" altLang="en-US" dirty="0"/>
          </a:p>
        </p:txBody>
      </p:sp>
      <p:sp>
        <p:nvSpPr>
          <p:cNvPr id="4" name="灯片编号占位符 3"/>
          <p:cNvSpPr>
            <a:spLocks noGrp="1"/>
          </p:cNvSpPr>
          <p:nvPr>
            <p:ph type="sldNum" sz="quarter" idx="10"/>
          </p:nvPr>
        </p:nvSpPr>
        <p:spPr/>
        <p:txBody>
          <a:bodyPr/>
          <a:lstStyle/>
          <a:p>
            <a:pPr>
              <a:defRPr/>
            </a:pPr>
            <a:fld id="{79AE6549-0852-48AF-B845-B4CAF315C72D}" type="slidenum">
              <a:rPr lang="zh-CN" altLang="en-US" smtClean="0"/>
              <a:pPr>
                <a:defRPr/>
              </a:pPr>
              <a:t>16</a:t>
            </a:fld>
            <a:endParaRPr lang="zh-CN" altLang="en-US"/>
          </a:p>
        </p:txBody>
      </p:sp>
    </p:spTree>
    <p:extLst>
      <p:ext uri="{BB962C8B-B14F-4D97-AF65-F5344CB8AC3E}">
        <p14:creationId xmlns:p14="http://schemas.microsoft.com/office/powerpoint/2010/main" val="35594933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0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zh-CN" altLang="en-US" smtClean="0"/>
              <a:t> 至此，由于基本</a:t>
            </a:r>
            <a:r>
              <a:rPr lang="en-US" altLang="zh-CN" smtClean="0"/>
              <a:t>ID</a:t>
            </a:r>
            <a:r>
              <a:rPr lang="zh-CN" altLang="en-US" smtClean="0"/>
              <a:t>相同而造成的标准帧与扩展帧的仲裁冲突问题便得以解决。</a:t>
            </a:r>
          </a:p>
        </p:txBody>
      </p:sp>
      <p:sp>
        <p:nvSpPr>
          <p:cNvPr id="15360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ea typeface="宋体" charset="-122"/>
              </a:defRPr>
            </a:lvl1pPr>
            <a:lvl2pPr marL="742950" indent="-285750" eaLnBrk="0" hangingPunct="0">
              <a:spcBef>
                <a:spcPct val="30000"/>
              </a:spcBef>
              <a:defRPr sz="1200">
                <a:solidFill>
                  <a:schemeClr val="tx1"/>
                </a:solidFill>
                <a:latin typeface="Calibri" pitchFamily="34" charset="0"/>
                <a:ea typeface="宋体" charset="-122"/>
              </a:defRPr>
            </a:lvl2pPr>
            <a:lvl3pPr marL="1143000" indent="-228600" eaLnBrk="0" hangingPunct="0">
              <a:spcBef>
                <a:spcPct val="30000"/>
              </a:spcBef>
              <a:defRPr sz="1200">
                <a:solidFill>
                  <a:schemeClr val="tx1"/>
                </a:solidFill>
                <a:latin typeface="Calibri" pitchFamily="34" charset="0"/>
                <a:ea typeface="宋体" charset="-122"/>
              </a:defRPr>
            </a:lvl3pPr>
            <a:lvl4pPr marL="1600200" indent="-228600" eaLnBrk="0" hangingPunct="0">
              <a:spcBef>
                <a:spcPct val="30000"/>
              </a:spcBef>
              <a:defRPr sz="1200">
                <a:solidFill>
                  <a:schemeClr val="tx1"/>
                </a:solidFill>
                <a:latin typeface="Calibri" pitchFamily="34" charset="0"/>
                <a:ea typeface="宋体" charset="-122"/>
              </a:defRPr>
            </a:lvl4pPr>
            <a:lvl5pPr marL="2057400" indent="-228600" eaLnBrk="0" hangingPunct="0">
              <a:spcBef>
                <a:spcPct val="30000"/>
              </a:spcBef>
              <a:defRPr sz="1200">
                <a:solidFill>
                  <a:schemeClr val="tx1"/>
                </a:solidFill>
                <a:latin typeface="Calibri" pitchFamily="34" charset="0"/>
                <a:ea typeface="宋体" charset="-122"/>
              </a:defRPr>
            </a:lvl5pPr>
            <a:lvl6pPr marL="2514600" indent="-228600" eaLnBrk="0" fontAlgn="base" hangingPunct="0">
              <a:spcBef>
                <a:spcPct val="30000"/>
              </a:spcBef>
              <a:spcAft>
                <a:spcPct val="0"/>
              </a:spcAft>
              <a:defRPr sz="1200">
                <a:solidFill>
                  <a:schemeClr val="tx1"/>
                </a:solidFill>
                <a:latin typeface="Calibri" pitchFamily="34" charset="0"/>
                <a:ea typeface="宋体" charset="-122"/>
              </a:defRPr>
            </a:lvl6pPr>
            <a:lvl7pPr marL="2971800" indent="-228600" eaLnBrk="0" fontAlgn="base" hangingPunct="0">
              <a:spcBef>
                <a:spcPct val="30000"/>
              </a:spcBef>
              <a:spcAft>
                <a:spcPct val="0"/>
              </a:spcAft>
              <a:defRPr sz="1200">
                <a:solidFill>
                  <a:schemeClr val="tx1"/>
                </a:solidFill>
                <a:latin typeface="Calibri" pitchFamily="34" charset="0"/>
                <a:ea typeface="宋体" charset="-122"/>
              </a:defRPr>
            </a:lvl7pPr>
            <a:lvl8pPr marL="3429000" indent="-228600" eaLnBrk="0" fontAlgn="base" hangingPunct="0">
              <a:spcBef>
                <a:spcPct val="30000"/>
              </a:spcBef>
              <a:spcAft>
                <a:spcPct val="0"/>
              </a:spcAft>
              <a:defRPr sz="1200">
                <a:solidFill>
                  <a:schemeClr val="tx1"/>
                </a:solidFill>
                <a:latin typeface="Calibri" pitchFamily="34" charset="0"/>
                <a:ea typeface="宋体" charset="-122"/>
              </a:defRPr>
            </a:lvl8pPr>
            <a:lvl9pPr marL="3886200" indent="-228600" eaLnBrk="0" fontAlgn="base" hangingPunct="0">
              <a:spcBef>
                <a:spcPct val="30000"/>
              </a:spcBef>
              <a:spcAft>
                <a:spcPct val="0"/>
              </a:spcAft>
              <a:defRPr sz="1200">
                <a:solidFill>
                  <a:schemeClr val="tx1"/>
                </a:solidFill>
                <a:latin typeface="Calibri" pitchFamily="34" charset="0"/>
                <a:ea typeface="宋体" charset="-122"/>
              </a:defRPr>
            </a:lvl9pPr>
          </a:lstStyle>
          <a:p>
            <a:pPr eaLnBrk="1" hangingPunct="1">
              <a:spcBef>
                <a:spcPct val="0"/>
              </a:spcBef>
            </a:pPr>
            <a:fld id="{7B8E7437-19A0-440E-9875-98CF2FAE78A0}" type="slidenum">
              <a:rPr lang="zh-CN" altLang="en-US" smtClean="0"/>
              <a:pPr eaLnBrk="1" hangingPunct="1">
                <a:spcBef>
                  <a:spcPct val="0"/>
                </a:spcBef>
              </a:pPr>
              <a:t>18</a:t>
            </a:fld>
            <a:endParaRPr lang="zh-CN" alt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除数多项式为</a:t>
            </a:r>
            <a:r>
              <a:rPr lang="en-US" altLang="zh-CN" dirty="0" smtClean="0"/>
              <a:t>X^15+X^14+X^10+X^8+X^7+X^4+x^3+1</a:t>
            </a:r>
          </a:p>
          <a:p>
            <a:r>
              <a:rPr lang="zh-CN" altLang="en-US" dirty="0" smtClean="0"/>
              <a:t>余数为发送的</a:t>
            </a:r>
            <a:r>
              <a:rPr lang="en-US" altLang="zh-CN" dirty="0" smtClean="0"/>
              <a:t>CRC</a:t>
            </a:r>
            <a:r>
              <a:rPr lang="zh-CN" altLang="en-US" dirty="0" smtClean="0"/>
              <a:t>序列</a:t>
            </a:r>
            <a:endParaRPr lang="zh-CN" altLang="en-US" dirty="0"/>
          </a:p>
        </p:txBody>
      </p:sp>
      <p:sp>
        <p:nvSpPr>
          <p:cNvPr id="4" name="灯片编号占位符 3"/>
          <p:cNvSpPr>
            <a:spLocks noGrp="1"/>
          </p:cNvSpPr>
          <p:nvPr>
            <p:ph type="sldNum" sz="quarter" idx="10"/>
          </p:nvPr>
        </p:nvSpPr>
        <p:spPr/>
        <p:txBody>
          <a:bodyPr/>
          <a:lstStyle/>
          <a:p>
            <a:pPr>
              <a:defRPr/>
            </a:pPr>
            <a:fld id="{79AE6549-0852-48AF-B845-B4CAF315C72D}" type="slidenum">
              <a:rPr lang="zh-CN" altLang="en-US" smtClean="0"/>
              <a:pPr>
                <a:defRPr/>
              </a:pPr>
              <a:t>22</a:t>
            </a:fld>
            <a:endParaRPr lang="zh-CN" altLang="en-US"/>
          </a:p>
        </p:txBody>
      </p:sp>
    </p:spTree>
    <p:extLst>
      <p:ext uri="{BB962C8B-B14F-4D97-AF65-F5344CB8AC3E}">
        <p14:creationId xmlns:p14="http://schemas.microsoft.com/office/powerpoint/2010/main" val="16204918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buFont typeface="Arial" charset="0"/>
              <a:buNone/>
            </a:pPr>
            <a:r>
              <a:rPr lang="en-US" altLang="zh-CN" sz="2400" dirty="0" smtClean="0">
                <a:latin typeface="Times New Roman" pitchFamily="18" charset="0"/>
              </a:rPr>
              <a:t>1.</a:t>
            </a:r>
            <a:r>
              <a:rPr lang="zh-CN" altLang="en-US" sz="2400" dirty="0" smtClean="0">
                <a:latin typeface="Times New Roman" pitchFamily="18" charset="0"/>
              </a:rPr>
              <a:t> 在应答间隙期间，接收器发送“应答”。所有接收到匹配</a:t>
            </a:r>
            <a:r>
              <a:rPr lang="en-US" altLang="zh-CN" sz="2400" dirty="0" smtClean="0">
                <a:latin typeface="Times New Roman" pitchFamily="18" charset="0"/>
              </a:rPr>
              <a:t>CRC</a:t>
            </a:r>
            <a:r>
              <a:rPr lang="zh-CN" altLang="en-US" sz="2400" dirty="0" smtClean="0">
                <a:latin typeface="Times New Roman" pitchFamily="18" charset="0"/>
              </a:rPr>
              <a:t>序列的站，在应答间隙期间通过把“显性”位写入发送器的“隐性”位来报告接收正确的信息。</a:t>
            </a:r>
            <a:endParaRPr lang="en-US" altLang="zh-CN" sz="2400" dirty="0" smtClean="0">
              <a:latin typeface="Times New Roman" pitchFamily="18" charset="0"/>
            </a:endParaRPr>
          </a:p>
          <a:p>
            <a:pPr lvl="0">
              <a:buFont typeface="Arial" charset="0"/>
              <a:buNone/>
            </a:pPr>
            <a:r>
              <a:rPr lang="en-US" altLang="zh-CN" sz="2400" dirty="0" smtClean="0">
                <a:latin typeface="Times New Roman" pitchFamily="18" charset="0"/>
              </a:rPr>
              <a:t>2.</a:t>
            </a:r>
            <a:r>
              <a:rPr lang="zh-CN" altLang="en-US" sz="2400" dirty="0" smtClean="0">
                <a:latin typeface="Times New Roman" pitchFamily="18" charset="0"/>
              </a:rPr>
              <a:t>应答界定符是应答场的第二位，并且必须是“隐性”位。因此，应答间隙被两个“隐性”位（</a:t>
            </a:r>
            <a:r>
              <a:rPr lang="en-US" altLang="zh-CN" sz="2400" dirty="0" smtClean="0">
                <a:latin typeface="Times New Roman" pitchFamily="18" charset="0"/>
              </a:rPr>
              <a:t>CRC</a:t>
            </a:r>
            <a:r>
              <a:rPr lang="zh-CN" altLang="en-US" sz="2400" dirty="0" smtClean="0">
                <a:latin typeface="Times New Roman" pitchFamily="18" charset="0"/>
              </a:rPr>
              <a:t>界定符和应答界定符）包围。</a:t>
            </a:r>
          </a:p>
        </p:txBody>
      </p:sp>
      <p:sp>
        <p:nvSpPr>
          <p:cNvPr id="4" name="灯片编号占位符 3"/>
          <p:cNvSpPr>
            <a:spLocks noGrp="1"/>
          </p:cNvSpPr>
          <p:nvPr>
            <p:ph type="sldNum" sz="quarter" idx="10"/>
          </p:nvPr>
        </p:nvSpPr>
        <p:spPr/>
        <p:txBody>
          <a:bodyPr/>
          <a:lstStyle/>
          <a:p>
            <a:pPr>
              <a:defRPr/>
            </a:pPr>
            <a:fld id="{79AE6549-0852-48AF-B845-B4CAF315C72D}" type="slidenum">
              <a:rPr lang="zh-CN" altLang="en-US" smtClean="0"/>
              <a:pPr>
                <a:defRPr/>
              </a:pPr>
              <a:t>23</a:t>
            </a:fld>
            <a:endParaRPr lang="zh-CN" altLang="en-US"/>
          </a:p>
        </p:txBody>
      </p:sp>
    </p:spTree>
    <p:extLst>
      <p:ext uri="{BB962C8B-B14F-4D97-AF65-F5344CB8AC3E}">
        <p14:creationId xmlns:p14="http://schemas.microsoft.com/office/powerpoint/2010/main" val="41721302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9AE6549-0852-48AF-B845-B4CAF315C72D}" type="slidenum">
              <a:rPr lang="zh-CN" altLang="en-US" smtClean="0"/>
              <a:pPr>
                <a:defRPr/>
              </a:pPr>
              <a:t>24</a:t>
            </a:fld>
            <a:endParaRPr lang="zh-CN" altLang="en-US"/>
          </a:p>
        </p:txBody>
      </p:sp>
    </p:spTree>
    <p:extLst>
      <p:ext uri="{BB962C8B-B14F-4D97-AF65-F5344CB8AC3E}">
        <p14:creationId xmlns:p14="http://schemas.microsoft.com/office/powerpoint/2010/main" val="32355197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0" fontAlgn="base" latinLnBrk="0" hangingPunct="0">
              <a:lnSpc>
                <a:spcPct val="100000"/>
              </a:lnSpc>
              <a:spcBef>
                <a:spcPct val="30000"/>
              </a:spcBef>
              <a:spcAft>
                <a:spcPct val="0"/>
              </a:spcAft>
              <a:buClrTx/>
              <a:buSzTx/>
              <a:buFontTx/>
              <a:buNone/>
              <a:tabLst/>
              <a:defRPr/>
            </a:pPr>
            <a:r>
              <a:rPr lang="en-US" altLang="zh-CN" sz="2400" dirty="0" smtClean="0">
                <a:solidFill>
                  <a:srgbClr val="7030A0"/>
                </a:solidFill>
              </a:rPr>
              <a:t>1.</a:t>
            </a:r>
            <a:r>
              <a:rPr lang="zh-CN" altLang="en-US" sz="2400" dirty="0" smtClean="0">
                <a:solidFill>
                  <a:srgbClr val="7030A0"/>
                </a:solidFill>
              </a:rPr>
              <a:t>这一出错标志在格式上违背了由帧起始至</a:t>
            </a:r>
            <a:r>
              <a:rPr lang="en-US" altLang="zh-CN" sz="2400" dirty="0" smtClean="0">
                <a:solidFill>
                  <a:srgbClr val="7030A0"/>
                </a:solidFill>
              </a:rPr>
              <a:t>CRC</a:t>
            </a:r>
            <a:r>
              <a:rPr lang="zh-CN" altLang="en-US" sz="2400" dirty="0" smtClean="0">
                <a:solidFill>
                  <a:srgbClr val="7030A0"/>
                </a:solidFill>
              </a:rPr>
              <a:t>界定符的位填充规则，破坏了应答场或帧结束场的固定格式，从而其他节点将检测到出错条件并发送出错标志。这样，在总线上监视到的显位序列是由各个节点单独发送的出错标志叠加而成的。该序列的总长度在最小值</a:t>
            </a:r>
            <a:r>
              <a:rPr lang="en-US" altLang="zh-CN" sz="2400" dirty="0" smtClean="0">
                <a:solidFill>
                  <a:srgbClr val="7030A0"/>
                </a:solidFill>
              </a:rPr>
              <a:t>6</a:t>
            </a:r>
            <a:r>
              <a:rPr lang="zh-CN" altLang="en-US" sz="2400" dirty="0" smtClean="0">
                <a:solidFill>
                  <a:srgbClr val="7030A0"/>
                </a:solidFill>
              </a:rPr>
              <a:t>位到最大值</a:t>
            </a:r>
            <a:r>
              <a:rPr lang="en-US" altLang="zh-CN" sz="2400" dirty="0" smtClean="0">
                <a:solidFill>
                  <a:srgbClr val="7030A0"/>
                </a:solidFill>
              </a:rPr>
              <a:t>12</a:t>
            </a:r>
            <a:r>
              <a:rPr lang="zh-CN" altLang="en-US" sz="2400" dirty="0" smtClean="0">
                <a:solidFill>
                  <a:srgbClr val="7030A0"/>
                </a:solidFill>
              </a:rPr>
              <a:t>位之间变化。</a:t>
            </a:r>
            <a:endParaRPr lang="en-US" altLang="zh-CN" sz="2400" dirty="0" smtClean="0">
              <a:solidFill>
                <a:srgbClr val="7030A0"/>
              </a:solidFill>
            </a:endParaRPr>
          </a:p>
          <a:p>
            <a:pPr marL="0" marR="0" lvl="1" indent="0" algn="l" defTabSz="914400" rtl="0" eaLnBrk="0" fontAlgn="base" latinLnBrk="0" hangingPunct="0">
              <a:lnSpc>
                <a:spcPct val="100000"/>
              </a:lnSpc>
              <a:spcBef>
                <a:spcPct val="30000"/>
              </a:spcBef>
              <a:spcAft>
                <a:spcPct val="0"/>
              </a:spcAft>
              <a:buClrTx/>
              <a:buSzTx/>
              <a:buFontTx/>
              <a:buNone/>
              <a:tabLst/>
              <a:defRPr/>
            </a:pPr>
            <a:r>
              <a:rPr lang="en-US" altLang="zh-CN" sz="1200" dirty="0" smtClean="0">
                <a:solidFill>
                  <a:srgbClr val="7030A0"/>
                </a:solidFill>
              </a:rPr>
              <a:t>2.</a:t>
            </a:r>
            <a:r>
              <a:rPr lang="zh-CN" altLang="en-US" sz="1200" dirty="0" smtClean="0">
                <a:solidFill>
                  <a:srgbClr val="7030A0"/>
                </a:solidFill>
              </a:rPr>
              <a:t>该被动出错节点以被动出错标志为起点，等待</a:t>
            </a:r>
            <a:r>
              <a:rPr lang="en-US" altLang="zh-CN" sz="1200" dirty="0" smtClean="0">
                <a:solidFill>
                  <a:srgbClr val="7030A0"/>
                </a:solidFill>
              </a:rPr>
              <a:t>6</a:t>
            </a:r>
            <a:r>
              <a:rPr lang="zh-CN" altLang="en-US" sz="1200" dirty="0" smtClean="0">
                <a:solidFill>
                  <a:srgbClr val="7030A0"/>
                </a:solidFill>
              </a:rPr>
              <a:t>个相同极性的连续位，当检侧到</a:t>
            </a:r>
            <a:r>
              <a:rPr lang="en-US" altLang="zh-CN" sz="1200" dirty="0" smtClean="0">
                <a:solidFill>
                  <a:srgbClr val="7030A0"/>
                </a:solidFill>
              </a:rPr>
              <a:t>6</a:t>
            </a:r>
            <a:r>
              <a:rPr lang="zh-CN" altLang="en-US" sz="1200" dirty="0" smtClean="0">
                <a:solidFill>
                  <a:srgbClr val="7030A0"/>
                </a:solidFill>
              </a:rPr>
              <a:t>个相同的连续位后，被动出错标志即告完成。</a:t>
            </a:r>
            <a:endParaRPr lang="en-US" altLang="zh-CN" sz="1200" dirty="0" smtClean="0">
              <a:solidFill>
                <a:srgbClr val="7030A0"/>
              </a:solidFill>
            </a:endParaRPr>
          </a:p>
          <a:p>
            <a:pPr marL="0" marR="0" lvl="1" indent="0" algn="l" defTabSz="914400" rtl="0" eaLnBrk="0" fontAlgn="base" latinLnBrk="0" hangingPunct="0">
              <a:lnSpc>
                <a:spcPct val="100000"/>
              </a:lnSpc>
              <a:spcBef>
                <a:spcPct val="30000"/>
              </a:spcBef>
              <a:spcAft>
                <a:spcPct val="0"/>
              </a:spcAft>
              <a:buClrTx/>
              <a:buSzTx/>
              <a:buFontTx/>
              <a:buNone/>
              <a:tabLst/>
              <a:defRPr/>
            </a:pPr>
            <a:r>
              <a:rPr lang="en-US" altLang="zh-CN" sz="1200" dirty="0" smtClean="0">
                <a:solidFill>
                  <a:srgbClr val="7030A0"/>
                </a:solidFill>
              </a:rPr>
              <a:t>3.</a:t>
            </a:r>
            <a:r>
              <a:rPr lang="zh-CN" altLang="en-US" sz="1200" dirty="0" smtClean="0">
                <a:solidFill>
                  <a:srgbClr val="7030A0"/>
                </a:solidFill>
              </a:rPr>
              <a:t>错误标志发送后，每个节点都送出隐位，并监视总线直到检测到隐位，然后开始发送剩余的</a:t>
            </a:r>
            <a:r>
              <a:rPr lang="en-US" altLang="zh-CN" sz="1200" dirty="0" smtClean="0">
                <a:solidFill>
                  <a:srgbClr val="7030A0"/>
                </a:solidFill>
              </a:rPr>
              <a:t>7</a:t>
            </a:r>
            <a:r>
              <a:rPr lang="zh-CN" altLang="en-US" sz="1200" dirty="0" smtClean="0">
                <a:solidFill>
                  <a:srgbClr val="7030A0"/>
                </a:solidFill>
              </a:rPr>
              <a:t>个隐位。</a:t>
            </a:r>
          </a:p>
        </p:txBody>
      </p:sp>
      <p:sp>
        <p:nvSpPr>
          <p:cNvPr id="4" name="灯片编号占位符 3"/>
          <p:cNvSpPr>
            <a:spLocks noGrp="1"/>
          </p:cNvSpPr>
          <p:nvPr>
            <p:ph type="sldNum" sz="quarter" idx="10"/>
          </p:nvPr>
        </p:nvSpPr>
        <p:spPr/>
        <p:txBody>
          <a:bodyPr/>
          <a:lstStyle/>
          <a:p>
            <a:pPr>
              <a:defRPr/>
            </a:pPr>
            <a:fld id="{79AE6549-0852-48AF-B845-B4CAF315C72D}" type="slidenum">
              <a:rPr lang="zh-CN" altLang="en-US" smtClean="0"/>
              <a:pPr>
                <a:defRPr/>
              </a:pPr>
              <a:t>28</a:t>
            </a:fld>
            <a:endParaRPr lang="zh-CN" altLang="en-US"/>
          </a:p>
        </p:txBody>
      </p:sp>
    </p:spTree>
    <p:extLst>
      <p:ext uri="{BB962C8B-B14F-4D97-AF65-F5344CB8AC3E}">
        <p14:creationId xmlns:p14="http://schemas.microsoft.com/office/powerpoint/2010/main" val="42928580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marR="0" lvl="1" indent="-228600" algn="l" defTabSz="914400" rtl="0" eaLnBrk="0" fontAlgn="base" latinLnBrk="0" hangingPunct="0">
              <a:lnSpc>
                <a:spcPct val="100000"/>
              </a:lnSpc>
              <a:spcBef>
                <a:spcPct val="30000"/>
              </a:spcBef>
              <a:spcAft>
                <a:spcPct val="0"/>
              </a:spcAft>
              <a:buClrTx/>
              <a:buSzTx/>
              <a:buFont typeface="+mj-lt"/>
              <a:buAutoNum type="arabicPeriod"/>
              <a:tabLst/>
              <a:defRPr/>
            </a:pPr>
            <a:r>
              <a:rPr lang="zh-CN" altLang="en-US" smtClean="0">
                <a:solidFill>
                  <a:srgbClr val="7030A0"/>
                </a:solidFill>
              </a:rPr>
              <a:t>如果在间歇场的第</a:t>
            </a:r>
            <a:r>
              <a:rPr lang="en-US" altLang="zh-CN" smtClean="0">
                <a:solidFill>
                  <a:srgbClr val="7030A0"/>
                </a:solidFill>
              </a:rPr>
              <a:t>3</a:t>
            </a:r>
            <a:r>
              <a:rPr lang="zh-CN" altLang="en-US" smtClean="0">
                <a:solidFill>
                  <a:srgbClr val="7030A0"/>
                </a:solidFill>
              </a:rPr>
              <a:t>位检测到显性位，则这个显性位将被认为是帧起始。超载标志破坏了间歇场的固定格式，因而所有其他节点都将检侧到一个超载条件，并且各自开始发送超载标志。</a:t>
            </a:r>
            <a:endParaRPr lang="en-US" altLang="zh-CN" smtClean="0">
              <a:solidFill>
                <a:srgbClr val="7030A0"/>
              </a:solidFill>
            </a:endParaRPr>
          </a:p>
          <a:p>
            <a:pPr marL="228600" marR="0" lvl="1" indent="-228600" algn="l" defTabSz="914400" rtl="0" eaLnBrk="0" fontAlgn="base" latinLnBrk="0" hangingPunct="0">
              <a:lnSpc>
                <a:spcPct val="100000"/>
              </a:lnSpc>
              <a:spcBef>
                <a:spcPct val="30000"/>
              </a:spcBef>
              <a:spcAft>
                <a:spcPct val="0"/>
              </a:spcAft>
              <a:buClrTx/>
              <a:buSzTx/>
              <a:buFont typeface="+mj-lt"/>
              <a:buAutoNum type="arabicPeriod"/>
              <a:tabLst/>
              <a:defRPr/>
            </a:pPr>
            <a:r>
              <a:rPr lang="zh-CN" altLang="en-US" smtClean="0">
                <a:solidFill>
                  <a:srgbClr val="7030A0"/>
                </a:solidFill>
              </a:rPr>
              <a:t>节点在发送超载标志后，就开始监视总线，直到检测到一个从显位到隐位的跳变，这说明总线上的所有节点都已经完成超载标志的发送，因此所有节点将开始发送超载界定符的剩下</a:t>
            </a:r>
            <a:r>
              <a:rPr lang="en-US" altLang="zh-CN" smtClean="0">
                <a:solidFill>
                  <a:srgbClr val="7030A0"/>
                </a:solidFill>
              </a:rPr>
              <a:t>7</a:t>
            </a:r>
            <a:r>
              <a:rPr lang="zh-CN" altLang="en-US" smtClean="0">
                <a:solidFill>
                  <a:srgbClr val="7030A0"/>
                </a:solidFill>
              </a:rPr>
              <a:t>个隐位</a:t>
            </a:r>
            <a:endParaRPr lang="en-US" altLang="zh-CN" smtClean="0">
              <a:solidFill>
                <a:srgbClr val="7030A0"/>
              </a:solidFill>
            </a:endParaRPr>
          </a:p>
          <a:p>
            <a:endParaRPr lang="zh-CN" altLang="en-US"/>
          </a:p>
        </p:txBody>
      </p:sp>
      <p:sp>
        <p:nvSpPr>
          <p:cNvPr id="4" name="灯片编号占位符 3"/>
          <p:cNvSpPr>
            <a:spLocks noGrp="1"/>
          </p:cNvSpPr>
          <p:nvPr>
            <p:ph type="sldNum" sz="quarter" idx="10"/>
          </p:nvPr>
        </p:nvSpPr>
        <p:spPr/>
        <p:txBody>
          <a:bodyPr/>
          <a:lstStyle/>
          <a:p>
            <a:pPr>
              <a:defRPr/>
            </a:pPr>
            <a:fld id="{79AE6549-0852-48AF-B845-B4CAF315C72D}" type="slidenum">
              <a:rPr lang="zh-CN" altLang="en-US" smtClean="0"/>
              <a:pPr>
                <a:defRPr/>
              </a:pPr>
              <a:t>29</a:t>
            </a:fld>
            <a:endParaRPr lang="zh-CN" altLang="en-US"/>
          </a:p>
        </p:txBody>
      </p:sp>
    </p:spTree>
    <p:extLst>
      <p:ext uri="{BB962C8B-B14F-4D97-AF65-F5344CB8AC3E}">
        <p14:creationId xmlns:p14="http://schemas.microsoft.com/office/powerpoint/2010/main" val="34136088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077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zh-CN" dirty="0" smtClean="0"/>
              <a:t>图中，仲裁场前7位是相同的，都是1011011，但节点X的第8位为0，节点Y的第8位为1,0的优先权高于1，或者节点X的标识符小于节点Y的标识符，因此总线传送节点X的数据。</a:t>
            </a:r>
            <a:endParaRPr lang="en-US" altLang="zh-CN" dirty="0" smtClean="0"/>
          </a:p>
          <a:p>
            <a:endParaRPr lang="zh-CN" altLang="en-US" dirty="0" smtClean="0"/>
          </a:p>
        </p:txBody>
      </p:sp>
      <p:sp>
        <p:nvSpPr>
          <p:cNvPr id="16077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ea typeface="宋体" charset="-122"/>
              </a:defRPr>
            </a:lvl1pPr>
            <a:lvl2pPr marL="742950" indent="-285750" eaLnBrk="0" hangingPunct="0">
              <a:spcBef>
                <a:spcPct val="30000"/>
              </a:spcBef>
              <a:defRPr sz="1200">
                <a:solidFill>
                  <a:schemeClr val="tx1"/>
                </a:solidFill>
                <a:latin typeface="Calibri" pitchFamily="34" charset="0"/>
                <a:ea typeface="宋体" charset="-122"/>
              </a:defRPr>
            </a:lvl2pPr>
            <a:lvl3pPr marL="1143000" indent="-228600" eaLnBrk="0" hangingPunct="0">
              <a:spcBef>
                <a:spcPct val="30000"/>
              </a:spcBef>
              <a:defRPr sz="1200">
                <a:solidFill>
                  <a:schemeClr val="tx1"/>
                </a:solidFill>
                <a:latin typeface="Calibri" pitchFamily="34" charset="0"/>
                <a:ea typeface="宋体" charset="-122"/>
              </a:defRPr>
            </a:lvl3pPr>
            <a:lvl4pPr marL="1600200" indent="-228600" eaLnBrk="0" hangingPunct="0">
              <a:spcBef>
                <a:spcPct val="30000"/>
              </a:spcBef>
              <a:defRPr sz="1200">
                <a:solidFill>
                  <a:schemeClr val="tx1"/>
                </a:solidFill>
                <a:latin typeface="Calibri" pitchFamily="34" charset="0"/>
                <a:ea typeface="宋体" charset="-122"/>
              </a:defRPr>
            </a:lvl4pPr>
            <a:lvl5pPr marL="2057400" indent="-228600" eaLnBrk="0" hangingPunct="0">
              <a:spcBef>
                <a:spcPct val="30000"/>
              </a:spcBef>
              <a:defRPr sz="1200">
                <a:solidFill>
                  <a:schemeClr val="tx1"/>
                </a:solidFill>
                <a:latin typeface="Calibri" pitchFamily="34" charset="0"/>
                <a:ea typeface="宋体" charset="-122"/>
              </a:defRPr>
            </a:lvl5pPr>
            <a:lvl6pPr marL="2514600" indent="-228600" eaLnBrk="0" fontAlgn="base" hangingPunct="0">
              <a:spcBef>
                <a:spcPct val="30000"/>
              </a:spcBef>
              <a:spcAft>
                <a:spcPct val="0"/>
              </a:spcAft>
              <a:defRPr sz="1200">
                <a:solidFill>
                  <a:schemeClr val="tx1"/>
                </a:solidFill>
                <a:latin typeface="Calibri" pitchFamily="34" charset="0"/>
                <a:ea typeface="宋体" charset="-122"/>
              </a:defRPr>
            </a:lvl6pPr>
            <a:lvl7pPr marL="2971800" indent="-228600" eaLnBrk="0" fontAlgn="base" hangingPunct="0">
              <a:spcBef>
                <a:spcPct val="30000"/>
              </a:spcBef>
              <a:spcAft>
                <a:spcPct val="0"/>
              </a:spcAft>
              <a:defRPr sz="1200">
                <a:solidFill>
                  <a:schemeClr val="tx1"/>
                </a:solidFill>
                <a:latin typeface="Calibri" pitchFamily="34" charset="0"/>
                <a:ea typeface="宋体" charset="-122"/>
              </a:defRPr>
            </a:lvl7pPr>
            <a:lvl8pPr marL="3429000" indent="-228600" eaLnBrk="0" fontAlgn="base" hangingPunct="0">
              <a:spcBef>
                <a:spcPct val="30000"/>
              </a:spcBef>
              <a:spcAft>
                <a:spcPct val="0"/>
              </a:spcAft>
              <a:defRPr sz="1200">
                <a:solidFill>
                  <a:schemeClr val="tx1"/>
                </a:solidFill>
                <a:latin typeface="Calibri" pitchFamily="34" charset="0"/>
                <a:ea typeface="宋体" charset="-122"/>
              </a:defRPr>
            </a:lvl8pPr>
            <a:lvl9pPr marL="3886200" indent="-228600" eaLnBrk="0" fontAlgn="base" hangingPunct="0">
              <a:spcBef>
                <a:spcPct val="30000"/>
              </a:spcBef>
              <a:spcAft>
                <a:spcPct val="0"/>
              </a:spcAft>
              <a:defRPr sz="1200">
                <a:solidFill>
                  <a:schemeClr val="tx1"/>
                </a:solidFill>
                <a:latin typeface="Calibri" pitchFamily="34" charset="0"/>
                <a:ea typeface="宋体" charset="-122"/>
              </a:defRPr>
            </a:lvl9pPr>
          </a:lstStyle>
          <a:p>
            <a:pPr eaLnBrk="1" hangingPunct="1">
              <a:spcBef>
                <a:spcPct val="0"/>
              </a:spcBef>
            </a:pPr>
            <a:fld id="{047E3398-BA84-4E8A-ACDB-2379E46E224A}" type="slidenum">
              <a:rPr lang="zh-CN" altLang="en-US" smtClean="0"/>
              <a:pPr eaLnBrk="1" hangingPunct="1">
                <a:spcBef>
                  <a:spcPct val="0"/>
                </a:spcBef>
              </a:pPr>
              <a:t>35</a:t>
            </a:fld>
            <a:endParaRPr lang="zh-CN" alt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281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dirty="0" smtClean="0"/>
              <a:t>Flash</a:t>
            </a:r>
            <a:r>
              <a:rPr lang="zh-CN" altLang="en-US" dirty="0" smtClean="0"/>
              <a:t>中，高低表示逻辑值</a:t>
            </a:r>
            <a:r>
              <a:rPr lang="en-US" altLang="zh-CN" dirty="0" smtClean="0"/>
              <a:t>1</a:t>
            </a:r>
            <a:r>
              <a:rPr lang="zh-CN" altLang="en-US" dirty="0" smtClean="0"/>
              <a:t>与</a:t>
            </a:r>
            <a:r>
              <a:rPr lang="en-US" altLang="zh-CN" smtClean="0"/>
              <a:t>0</a:t>
            </a:r>
            <a:r>
              <a:rPr lang="zh-CN" altLang="en-US" smtClean="0"/>
              <a:t>，</a:t>
            </a:r>
            <a:r>
              <a:rPr lang="zh-CN" altLang="en-US" dirty="0" smtClean="0"/>
              <a:t>与隐性</a:t>
            </a:r>
            <a:r>
              <a:rPr lang="en-US" altLang="zh-CN" dirty="0" smtClean="0"/>
              <a:t>/</a:t>
            </a:r>
            <a:r>
              <a:rPr lang="zh-CN" altLang="en-US" dirty="0" smtClean="0"/>
              <a:t>显性相反</a:t>
            </a:r>
          </a:p>
        </p:txBody>
      </p:sp>
      <p:sp>
        <p:nvSpPr>
          <p:cNvPr id="16282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ea typeface="宋体" charset="-122"/>
              </a:defRPr>
            </a:lvl1pPr>
            <a:lvl2pPr marL="742950" indent="-285750" eaLnBrk="0" hangingPunct="0">
              <a:spcBef>
                <a:spcPct val="30000"/>
              </a:spcBef>
              <a:defRPr sz="1200">
                <a:solidFill>
                  <a:schemeClr val="tx1"/>
                </a:solidFill>
                <a:latin typeface="Calibri" pitchFamily="34" charset="0"/>
                <a:ea typeface="宋体" charset="-122"/>
              </a:defRPr>
            </a:lvl2pPr>
            <a:lvl3pPr marL="1143000" indent="-228600" eaLnBrk="0" hangingPunct="0">
              <a:spcBef>
                <a:spcPct val="30000"/>
              </a:spcBef>
              <a:defRPr sz="1200">
                <a:solidFill>
                  <a:schemeClr val="tx1"/>
                </a:solidFill>
                <a:latin typeface="Calibri" pitchFamily="34" charset="0"/>
                <a:ea typeface="宋体" charset="-122"/>
              </a:defRPr>
            </a:lvl3pPr>
            <a:lvl4pPr marL="1600200" indent="-228600" eaLnBrk="0" hangingPunct="0">
              <a:spcBef>
                <a:spcPct val="30000"/>
              </a:spcBef>
              <a:defRPr sz="1200">
                <a:solidFill>
                  <a:schemeClr val="tx1"/>
                </a:solidFill>
                <a:latin typeface="Calibri" pitchFamily="34" charset="0"/>
                <a:ea typeface="宋体" charset="-122"/>
              </a:defRPr>
            </a:lvl4pPr>
            <a:lvl5pPr marL="2057400" indent="-228600" eaLnBrk="0" hangingPunct="0">
              <a:spcBef>
                <a:spcPct val="30000"/>
              </a:spcBef>
              <a:defRPr sz="1200">
                <a:solidFill>
                  <a:schemeClr val="tx1"/>
                </a:solidFill>
                <a:latin typeface="Calibri" pitchFamily="34" charset="0"/>
                <a:ea typeface="宋体" charset="-122"/>
              </a:defRPr>
            </a:lvl5pPr>
            <a:lvl6pPr marL="2514600" indent="-228600" eaLnBrk="0" fontAlgn="base" hangingPunct="0">
              <a:spcBef>
                <a:spcPct val="30000"/>
              </a:spcBef>
              <a:spcAft>
                <a:spcPct val="0"/>
              </a:spcAft>
              <a:defRPr sz="1200">
                <a:solidFill>
                  <a:schemeClr val="tx1"/>
                </a:solidFill>
                <a:latin typeface="Calibri" pitchFamily="34" charset="0"/>
                <a:ea typeface="宋体" charset="-122"/>
              </a:defRPr>
            </a:lvl6pPr>
            <a:lvl7pPr marL="2971800" indent="-228600" eaLnBrk="0" fontAlgn="base" hangingPunct="0">
              <a:spcBef>
                <a:spcPct val="30000"/>
              </a:spcBef>
              <a:spcAft>
                <a:spcPct val="0"/>
              </a:spcAft>
              <a:defRPr sz="1200">
                <a:solidFill>
                  <a:schemeClr val="tx1"/>
                </a:solidFill>
                <a:latin typeface="Calibri" pitchFamily="34" charset="0"/>
                <a:ea typeface="宋体" charset="-122"/>
              </a:defRPr>
            </a:lvl7pPr>
            <a:lvl8pPr marL="3429000" indent="-228600" eaLnBrk="0" fontAlgn="base" hangingPunct="0">
              <a:spcBef>
                <a:spcPct val="30000"/>
              </a:spcBef>
              <a:spcAft>
                <a:spcPct val="0"/>
              </a:spcAft>
              <a:defRPr sz="1200">
                <a:solidFill>
                  <a:schemeClr val="tx1"/>
                </a:solidFill>
                <a:latin typeface="Calibri" pitchFamily="34" charset="0"/>
                <a:ea typeface="宋体" charset="-122"/>
              </a:defRPr>
            </a:lvl8pPr>
            <a:lvl9pPr marL="3886200" indent="-228600" eaLnBrk="0" fontAlgn="base" hangingPunct="0">
              <a:spcBef>
                <a:spcPct val="30000"/>
              </a:spcBef>
              <a:spcAft>
                <a:spcPct val="0"/>
              </a:spcAft>
              <a:defRPr sz="1200">
                <a:solidFill>
                  <a:schemeClr val="tx1"/>
                </a:solidFill>
                <a:latin typeface="Calibri" pitchFamily="34" charset="0"/>
                <a:ea typeface="宋体" charset="-122"/>
              </a:defRPr>
            </a:lvl9pPr>
          </a:lstStyle>
          <a:p>
            <a:pPr eaLnBrk="1" hangingPunct="1">
              <a:spcBef>
                <a:spcPct val="0"/>
              </a:spcBef>
            </a:pPr>
            <a:fld id="{FFB4DF6F-E81E-48E6-891F-29141D1AC3A1}" type="slidenum">
              <a:rPr lang="zh-CN" altLang="en-US" smtClean="0"/>
              <a:pPr eaLnBrk="1" hangingPunct="1">
                <a:spcBef>
                  <a:spcPct val="0"/>
                </a:spcBef>
              </a:pPr>
              <a:t>36</a:t>
            </a:fld>
            <a:endParaRPr lang="zh-CN" alt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lang="en-US" altLang="zh-CN" dirty="0" smtClean="0"/>
              <a:t>Bit monitoring</a:t>
            </a:r>
          </a:p>
          <a:p>
            <a:pPr marL="228600" indent="-228600">
              <a:buAutoNum type="arabicPeriod"/>
            </a:pPr>
            <a:r>
              <a:rPr lang="en-US" altLang="zh-CN" dirty="0" smtClean="0"/>
              <a:t>Bit stuffing</a:t>
            </a:r>
            <a:r>
              <a:rPr lang="zh-CN" altLang="en-US" dirty="0" smtClean="0"/>
              <a:t>：位填充，在实际应用中，如果数据流中有连续的</a:t>
            </a:r>
            <a:r>
              <a:rPr lang="en-US" altLang="zh-CN" dirty="0" smtClean="0"/>
              <a:t>5</a:t>
            </a:r>
            <a:r>
              <a:rPr lang="zh-CN" altLang="en-US" dirty="0" smtClean="0"/>
              <a:t>个位相同</a:t>
            </a:r>
            <a:r>
              <a:rPr lang="en-US" altLang="zh-CN" dirty="0" smtClean="0"/>
              <a:t>(</a:t>
            </a:r>
            <a:r>
              <a:rPr lang="zh-CN" altLang="en-US" dirty="0" smtClean="0"/>
              <a:t>显性或隐性</a:t>
            </a:r>
            <a:r>
              <a:rPr lang="en-US" altLang="zh-CN" dirty="0" smtClean="0"/>
              <a:t>)</a:t>
            </a:r>
            <a:r>
              <a:rPr lang="zh-CN" altLang="en-US" dirty="0" smtClean="0"/>
              <a:t>，则总线上自动增加一个填充位（与传输数据位相反，通过</a:t>
            </a:r>
            <a:r>
              <a:rPr lang="en-US" altLang="zh-CN" dirty="0" smtClean="0"/>
              <a:t>CAN</a:t>
            </a:r>
            <a:r>
              <a:rPr lang="zh-CN" altLang="en-US" dirty="0" smtClean="0"/>
              <a:t>控制器自动添加</a:t>
            </a:r>
            <a:r>
              <a:rPr lang="en-US" altLang="zh-CN" dirty="0" smtClean="0"/>
              <a:t>/</a:t>
            </a:r>
            <a:r>
              <a:rPr lang="zh-CN" altLang="en-US" dirty="0" smtClean="0"/>
              <a:t>删除）</a:t>
            </a:r>
            <a:endParaRPr lang="en-US" altLang="zh-CN" dirty="0" smtClean="0"/>
          </a:p>
          <a:p>
            <a:pPr marL="228600" indent="-228600">
              <a:buAutoNum type="arabicPeriod"/>
            </a:pPr>
            <a:r>
              <a:rPr lang="en-US" altLang="zh-CN" dirty="0" smtClean="0"/>
              <a:t>Cyclic redundancy check</a:t>
            </a:r>
          </a:p>
          <a:p>
            <a:pPr marL="228600" indent="-228600">
              <a:buAutoNum type="arabicPeriod"/>
            </a:pPr>
            <a:r>
              <a:rPr lang="en-US" altLang="zh-CN" dirty="0" smtClean="0"/>
              <a:t>Frame check</a:t>
            </a:r>
          </a:p>
          <a:p>
            <a:pPr marL="228600" indent="-228600">
              <a:buAutoNum type="arabicPeriod"/>
            </a:pPr>
            <a:r>
              <a:rPr lang="en-US" altLang="zh-CN" dirty="0" smtClean="0"/>
              <a:t>Acknowledgment check</a:t>
            </a:r>
            <a:endParaRPr lang="zh-CN" altLang="en-US" dirty="0"/>
          </a:p>
        </p:txBody>
      </p:sp>
      <p:sp>
        <p:nvSpPr>
          <p:cNvPr id="4" name="灯片编号占位符 3"/>
          <p:cNvSpPr>
            <a:spLocks noGrp="1"/>
          </p:cNvSpPr>
          <p:nvPr>
            <p:ph type="sldNum" sz="quarter" idx="10"/>
          </p:nvPr>
        </p:nvSpPr>
        <p:spPr/>
        <p:txBody>
          <a:bodyPr/>
          <a:lstStyle/>
          <a:p>
            <a:pPr>
              <a:defRPr/>
            </a:pPr>
            <a:fld id="{79AE6549-0852-48AF-B845-B4CAF315C72D}" type="slidenum">
              <a:rPr lang="zh-CN" altLang="en-US" smtClean="0"/>
              <a:pPr>
                <a:defRPr/>
              </a:pPr>
              <a:t>37</a:t>
            </a:fld>
            <a:endParaRPr lang="zh-CN" altLang="en-US"/>
          </a:p>
        </p:txBody>
      </p:sp>
    </p:spTree>
    <p:extLst>
      <p:ext uri="{BB962C8B-B14F-4D97-AF65-F5344CB8AC3E}">
        <p14:creationId xmlns:p14="http://schemas.microsoft.com/office/powerpoint/2010/main" val="18577507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667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dirty="0" smtClean="0"/>
              <a:t>检测到出错类型的节点发送出错标志来表示出错状态，</a:t>
            </a:r>
            <a:endParaRPr lang="en-US" altLang="zh-CN" dirty="0" smtClean="0"/>
          </a:p>
          <a:p>
            <a:r>
              <a:rPr lang="en-US" altLang="zh-CN" dirty="0" smtClean="0"/>
              <a:t>error active, error passive, bus off</a:t>
            </a:r>
            <a:endParaRPr lang="zh-CN" altLang="en-US" dirty="0" smtClean="0"/>
          </a:p>
        </p:txBody>
      </p:sp>
      <p:sp>
        <p:nvSpPr>
          <p:cNvPr id="15667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ea typeface="宋体" charset="-122"/>
              </a:defRPr>
            </a:lvl1pPr>
            <a:lvl2pPr marL="742950" indent="-285750" eaLnBrk="0" hangingPunct="0">
              <a:spcBef>
                <a:spcPct val="30000"/>
              </a:spcBef>
              <a:defRPr sz="1200">
                <a:solidFill>
                  <a:schemeClr val="tx1"/>
                </a:solidFill>
                <a:latin typeface="Calibri" pitchFamily="34" charset="0"/>
                <a:ea typeface="宋体" charset="-122"/>
              </a:defRPr>
            </a:lvl2pPr>
            <a:lvl3pPr marL="1143000" indent="-228600" eaLnBrk="0" hangingPunct="0">
              <a:spcBef>
                <a:spcPct val="30000"/>
              </a:spcBef>
              <a:defRPr sz="1200">
                <a:solidFill>
                  <a:schemeClr val="tx1"/>
                </a:solidFill>
                <a:latin typeface="Calibri" pitchFamily="34" charset="0"/>
                <a:ea typeface="宋体" charset="-122"/>
              </a:defRPr>
            </a:lvl3pPr>
            <a:lvl4pPr marL="1600200" indent="-228600" eaLnBrk="0" hangingPunct="0">
              <a:spcBef>
                <a:spcPct val="30000"/>
              </a:spcBef>
              <a:defRPr sz="1200">
                <a:solidFill>
                  <a:schemeClr val="tx1"/>
                </a:solidFill>
                <a:latin typeface="Calibri" pitchFamily="34" charset="0"/>
                <a:ea typeface="宋体" charset="-122"/>
              </a:defRPr>
            </a:lvl4pPr>
            <a:lvl5pPr marL="2057400" indent="-228600" eaLnBrk="0" hangingPunct="0">
              <a:spcBef>
                <a:spcPct val="30000"/>
              </a:spcBef>
              <a:defRPr sz="1200">
                <a:solidFill>
                  <a:schemeClr val="tx1"/>
                </a:solidFill>
                <a:latin typeface="Calibri" pitchFamily="34" charset="0"/>
                <a:ea typeface="宋体" charset="-122"/>
              </a:defRPr>
            </a:lvl5pPr>
            <a:lvl6pPr marL="2514600" indent="-228600" eaLnBrk="0" fontAlgn="base" hangingPunct="0">
              <a:spcBef>
                <a:spcPct val="30000"/>
              </a:spcBef>
              <a:spcAft>
                <a:spcPct val="0"/>
              </a:spcAft>
              <a:defRPr sz="1200">
                <a:solidFill>
                  <a:schemeClr val="tx1"/>
                </a:solidFill>
                <a:latin typeface="Calibri" pitchFamily="34" charset="0"/>
                <a:ea typeface="宋体" charset="-122"/>
              </a:defRPr>
            </a:lvl6pPr>
            <a:lvl7pPr marL="2971800" indent="-228600" eaLnBrk="0" fontAlgn="base" hangingPunct="0">
              <a:spcBef>
                <a:spcPct val="30000"/>
              </a:spcBef>
              <a:spcAft>
                <a:spcPct val="0"/>
              </a:spcAft>
              <a:defRPr sz="1200">
                <a:solidFill>
                  <a:schemeClr val="tx1"/>
                </a:solidFill>
                <a:latin typeface="Calibri" pitchFamily="34" charset="0"/>
                <a:ea typeface="宋体" charset="-122"/>
              </a:defRPr>
            </a:lvl7pPr>
            <a:lvl8pPr marL="3429000" indent="-228600" eaLnBrk="0" fontAlgn="base" hangingPunct="0">
              <a:spcBef>
                <a:spcPct val="30000"/>
              </a:spcBef>
              <a:spcAft>
                <a:spcPct val="0"/>
              </a:spcAft>
              <a:defRPr sz="1200">
                <a:solidFill>
                  <a:schemeClr val="tx1"/>
                </a:solidFill>
                <a:latin typeface="Calibri" pitchFamily="34" charset="0"/>
                <a:ea typeface="宋体" charset="-122"/>
              </a:defRPr>
            </a:lvl8pPr>
            <a:lvl9pPr marL="3886200" indent="-228600" eaLnBrk="0" fontAlgn="base" hangingPunct="0">
              <a:spcBef>
                <a:spcPct val="30000"/>
              </a:spcBef>
              <a:spcAft>
                <a:spcPct val="0"/>
              </a:spcAft>
              <a:defRPr sz="1200">
                <a:solidFill>
                  <a:schemeClr val="tx1"/>
                </a:solidFill>
                <a:latin typeface="Calibri" pitchFamily="34" charset="0"/>
                <a:ea typeface="宋体" charset="-122"/>
              </a:defRPr>
            </a:lvl9pPr>
          </a:lstStyle>
          <a:p>
            <a:pPr eaLnBrk="1" hangingPunct="1">
              <a:spcBef>
                <a:spcPct val="0"/>
              </a:spcBef>
            </a:pPr>
            <a:fld id="{9202A182-FA87-4E2B-9E4B-8E0EE906DF78}" type="slidenum">
              <a:rPr lang="zh-CN" altLang="en-US" smtClean="0"/>
              <a:pPr eaLnBrk="1" hangingPunct="1">
                <a:spcBef>
                  <a:spcPct val="0"/>
                </a:spcBef>
              </a:pPr>
              <a:t>38</a:t>
            </a:fld>
            <a:endParaRPr lang="zh-CN" alt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667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b="0" dirty="0" smtClean="0">
                <a:solidFill>
                  <a:srgbClr val="C00000"/>
                </a:solidFill>
              </a:rPr>
              <a:t>节点 主动</a:t>
            </a:r>
            <a:r>
              <a:rPr lang="zh-CN" altLang="en-US" sz="1200" b="0" dirty="0" smtClean="0">
                <a:solidFill>
                  <a:srgbClr val="C00000"/>
                </a:solidFill>
              </a:rPr>
              <a:t>错误</a:t>
            </a:r>
            <a:r>
              <a:rPr lang="zh-CN" altLang="en-US" b="0" dirty="0" smtClean="0">
                <a:solidFill>
                  <a:srgbClr val="C00000"/>
                </a:solidFill>
              </a:rPr>
              <a:t>与被动</a:t>
            </a:r>
            <a:r>
              <a:rPr lang="zh-CN" altLang="en-US" sz="1200" b="0" dirty="0" smtClean="0">
                <a:solidFill>
                  <a:srgbClr val="C00000"/>
                </a:solidFill>
              </a:rPr>
              <a:t>错误</a:t>
            </a:r>
            <a:r>
              <a:rPr lang="zh-CN" altLang="en-US" b="0" dirty="0" smtClean="0">
                <a:solidFill>
                  <a:srgbClr val="C00000"/>
                </a:solidFill>
              </a:rPr>
              <a:t>状态</a:t>
            </a:r>
            <a:r>
              <a:rPr lang="zh-CN" altLang="en-US" b="0" baseline="0" dirty="0" smtClean="0">
                <a:solidFill>
                  <a:srgbClr val="C00000"/>
                </a:solidFill>
              </a:rPr>
              <a:t> 之间的区别：</a:t>
            </a:r>
            <a:endParaRPr lang="en-US" altLang="zh-CN" b="0" baseline="0" dirty="0" smtClean="0">
              <a:solidFill>
                <a:srgbClr val="C00000"/>
              </a:solidFill>
            </a:endParaRPr>
          </a:p>
          <a:p>
            <a:r>
              <a:rPr lang="zh-CN" altLang="en-US" b="0" baseline="0" dirty="0" smtClean="0">
                <a:solidFill>
                  <a:srgbClr val="C00000"/>
                </a:solidFill>
              </a:rPr>
              <a:t>主动</a:t>
            </a:r>
            <a:r>
              <a:rPr lang="zh-CN" altLang="en-US" sz="1200" b="0" dirty="0" smtClean="0">
                <a:solidFill>
                  <a:srgbClr val="C00000"/>
                </a:solidFill>
              </a:rPr>
              <a:t>错误</a:t>
            </a:r>
            <a:r>
              <a:rPr lang="zh-CN" altLang="en-US" b="0" baseline="0" dirty="0" smtClean="0">
                <a:solidFill>
                  <a:srgbClr val="C00000"/>
                </a:solidFill>
              </a:rPr>
              <a:t>节点处于正常工作模式，正常参与通信；</a:t>
            </a:r>
            <a:endParaRPr lang="en-US" altLang="zh-CN" b="0" baseline="0" dirty="0" smtClean="0">
              <a:solidFill>
                <a:srgbClr val="C00000"/>
              </a:solidFill>
            </a:endParaRPr>
          </a:p>
          <a:p>
            <a:r>
              <a:rPr lang="zh-CN" altLang="en-US" b="0" baseline="0" dirty="0" smtClean="0">
                <a:solidFill>
                  <a:srgbClr val="C00000"/>
                </a:solidFill>
              </a:rPr>
              <a:t>被动</a:t>
            </a:r>
            <a:r>
              <a:rPr lang="zh-CN" altLang="en-US" sz="1200" b="0" dirty="0" smtClean="0">
                <a:solidFill>
                  <a:srgbClr val="C00000"/>
                </a:solidFill>
              </a:rPr>
              <a:t>错误</a:t>
            </a:r>
            <a:r>
              <a:rPr lang="zh-CN" altLang="en-US" b="0" baseline="0" dirty="0" smtClean="0">
                <a:solidFill>
                  <a:srgbClr val="C00000"/>
                </a:solidFill>
              </a:rPr>
              <a:t>节点在传输完一帧后，帧间空间多了一个</a:t>
            </a:r>
            <a:r>
              <a:rPr lang="en-US" altLang="zh-CN" b="0" baseline="0" dirty="0" smtClean="0">
                <a:solidFill>
                  <a:srgbClr val="C00000"/>
                </a:solidFill>
              </a:rPr>
              <a:t>8</a:t>
            </a:r>
            <a:r>
              <a:rPr lang="zh-CN" altLang="en-US" b="0" baseline="0" dirty="0" smtClean="0">
                <a:solidFill>
                  <a:srgbClr val="C00000"/>
                </a:solidFill>
              </a:rPr>
              <a:t>位的暂停发送场；</a:t>
            </a:r>
            <a:endParaRPr lang="zh-CN" altLang="en-US" b="0" dirty="0" smtClean="0">
              <a:solidFill>
                <a:srgbClr val="C00000"/>
              </a:solidFill>
            </a:endParaRPr>
          </a:p>
        </p:txBody>
      </p:sp>
      <p:sp>
        <p:nvSpPr>
          <p:cNvPr id="15667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ea typeface="宋体" charset="-122"/>
              </a:defRPr>
            </a:lvl1pPr>
            <a:lvl2pPr marL="742950" indent="-285750" eaLnBrk="0" hangingPunct="0">
              <a:spcBef>
                <a:spcPct val="30000"/>
              </a:spcBef>
              <a:defRPr sz="1200">
                <a:solidFill>
                  <a:schemeClr val="tx1"/>
                </a:solidFill>
                <a:latin typeface="Calibri" pitchFamily="34" charset="0"/>
                <a:ea typeface="宋体" charset="-122"/>
              </a:defRPr>
            </a:lvl2pPr>
            <a:lvl3pPr marL="1143000" indent="-228600" eaLnBrk="0" hangingPunct="0">
              <a:spcBef>
                <a:spcPct val="30000"/>
              </a:spcBef>
              <a:defRPr sz="1200">
                <a:solidFill>
                  <a:schemeClr val="tx1"/>
                </a:solidFill>
                <a:latin typeface="Calibri" pitchFamily="34" charset="0"/>
                <a:ea typeface="宋体" charset="-122"/>
              </a:defRPr>
            </a:lvl3pPr>
            <a:lvl4pPr marL="1600200" indent="-228600" eaLnBrk="0" hangingPunct="0">
              <a:spcBef>
                <a:spcPct val="30000"/>
              </a:spcBef>
              <a:defRPr sz="1200">
                <a:solidFill>
                  <a:schemeClr val="tx1"/>
                </a:solidFill>
                <a:latin typeface="Calibri" pitchFamily="34" charset="0"/>
                <a:ea typeface="宋体" charset="-122"/>
              </a:defRPr>
            </a:lvl4pPr>
            <a:lvl5pPr marL="2057400" indent="-228600" eaLnBrk="0" hangingPunct="0">
              <a:spcBef>
                <a:spcPct val="30000"/>
              </a:spcBef>
              <a:defRPr sz="1200">
                <a:solidFill>
                  <a:schemeClr val="tx1"/>
                </a:solidFill>
                <a:latin typeface="Calibri" pitchFamily="34" charset="0"/>
                <a:ea typeface="宋体" charset="-122"/>
              </a:defRPr>
            </a:lvl5pPr>
            <a:lvl6pPr marL="2514600" indent="-228600" eaLnBrk="0" fontAlgn="base" hangingPunct="0">
              <a:spcBef>
                <a:spcPct val="30000"/>
              </a:spcBef>
              <a:spcAft>
                <a:spcPct val="0"/>
              </a:spcAft>
              <a:defRPr sz="1200">
                <a:solidFill>
                  <a:schemeClr val="tx1"/>
                </a:solidFill>
                <a:latin typeface="Calibri" pitchFamily="34" charset="0"/>
                <a:ea typeface="宋体" charset="-122"/>
              </a:defRPr>
            </a:lvl6pPr>
            <a:lvl7pPr marL="2971800" indent="-228600" eaLnBrk="0" fontAlgn="base" hangingPunct="0">
              <a:spcBef>
                <a:spcPct val="30000"/>
              </a:spcBef>
              <a:spcAft>
                <a:spcPct val="0"/>
              </a:spcAft>
              <a:defRPr sz="1200">
                <a:solidFill>
                  <a:schemeClr val="tx1"/>
                </a:solidFill>
                <a:latin typeface="Calibri" pitchFamily="34" charset="0"/>
                <a:ea typeface="宋体" charset="-122"/>
              </a:defRPr>
            </a:lvl7pPr>
            <a:lvl8pPr marL="3429000" indent="-228600" eaLnBrk="0" fontAlgn="base" hangingPunct="0">
              <a:spcBef>
                <a:spcPct val="30000"/>
              </a:spcBef>
              <a:spcAft>
                <a:spcPct val="0"/>
              </a:spcAft>
              <a:defRPr sz="1200">
                <a:solidFill>
                  <a:schemeClr val="tx1"/>
                </a:solidFill>
                <a:latin typeface="Calibri" pitchFamily="34" charset="0"/>
                <a:ea typeface="宋体" charset="-122"/>
              </a:defRPr>
            </a:lvl8pPr>
            <a:lvl9pPr marL="3886200" indent="-228600" eaLnBrk="0" fontAlgn="base" hangingPunct="0">
              <a:spcBef>
                <a:spcPct val="30000"/>
              </a:spcBef>
              <a:spcAft>
                <a:spcPct val="0"/>
              </a:spcAft>
              <a:defRPr sz="1200">
                <a:solidFill>
                  <a:schemeClr val="tx1"/>
                </a:solidFill>
                <a:latin typeface="Calibri" pitchFamily="34" charset="0"/>
                <a:ea typeface="宋体" charset="-122"/>
              </a:defRPr>
            </a:lvl9pPr>
          </a:lstStyle>
          <a:p>
            <a:pPr eaLnBrk="1" hangingPunct="1">
              <a:spcBef>
                <a:spcPct val="0"/>
              </a:spcBef>
            </a:pPr>
            <a:fld id="{9202A182-FA87-4E2B-9E4B-8E0EE906DF78}" type="slidenum">
              <a:rPr lang="zh-CN" altLang="en-US" smtClean="0"/>
              <a:pPr eaLnBrk="1" hangingPunct="1">
                <a:spcBef>
                  <a:spcPct val="0"/>
                </a:spcBef>
              </a:pPr>
              <a:t>39</a:t>
            </a:fld>
            <a:endParaRPr lang="zh-CN" alt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667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dirty="0" smtClean="0"/>
              <a:t>ID</a:t>
            </a:r>
            <a:r>
              <a:rPr lang="zh-CN" altLang="en-US" dirty="0" smtClean="0"/>
              <a:t>可以表示所传递信息表示的内容</a:t>
            </a:r>
            <a:endParaRPr lang="en-US" altLang="zh-CN" dirty="0" smtClean="0"/>
          </a:p>
          <a:p>
            <a:r>
              <a:rPr lang="zh-CN" altLang="en-US" dirty="0" smtClean="0"/>
              <a:t>信息交换模型使得总线可以进行广播，由控制应用，基于生产</a:t>
            </a:r>
            <a:r>
              <a:rPr lang="en-US" altLang="zh-CN" dirty="0" smtClean="0"/>
              <a:t>/</a:t>
            </a:r>
            <a:r>
              <a:rPr lang="zh-CN" altLang="en-US" dirty="0" smtClean="0"/>
              <a:t>消费模式来管理设备间的交互。</a:t>
            </a:r>
          </a:p>
        </p:txBody>
      </p:sp>
      <p:sp>
        <p:nvSpPr>
          <p:cNvPr id="15667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ea typeface="宋体" charset="-122"/>
              </a:defRPr>
            </a:lvl1pPr>
            <a:lvl2pPr marL="742950" indent="-285750" eaLnBrk="0" hangingPunct="0">
              <a:spcBef>
                <a:spcPct val="30000"/>
              </a:spcBef>
              <a:defRPr sz="1200">
                <a:solidFill>
                  <a:schemeClr val="tx1"/>
                </a:solidFill>
                <a:latin typeface="Calibri" pitchFamily="34" charset="0"/>
                <a:ea typeface="宋体" charset="-122"/>
              </a:defRPr>
            </a:lvl2pPr>
            <a:lvl3pPr marL="1143000" indent="-228600" eaLnBrk="0" hangingPunct="0">
              <a:spcBef>
                <a:spcPct val="30000"/>
              </a:spcBef>
              <a:defRPr sz="1200">
                <a:solidFill>
                  <a:schemeClr val="tx1"/>
                </a:solidFill>
                <a:latin typeface="Calibri" pitchFamily="34" charset="0"/>
                <a:ea typeface="宋体" charset="-122"/>
              </a:defRPr>
            </a:lvl3pPr>
            <a:lvl4pPr marL="1600200" indent="-228600" eaLnBrk="0" hangingPunct="0">
              <a:spcBef>
                <a:spcPct val="30000"/>
              </a:spcBef>
              <a:defRPr sz="1200">
                <a:solidFill>
                  <a:schemeClr val="tx1"/>
                </a:solidFill>
                <a:latin typeface="Calibri" pitchFamily="34" charset="0"/>
                <a:ea typeface="宋体" charset="-122"/>
              </a:defRPr>
            </a:lvl4pPr>
            <a:lvl5pPr marL="2057400" indent="-228600" eaLnBrk="0" hangingPunct="0">
              <a:spcBef>
                <a:spcPct val="30000"/>
              </a:spcBef>
              <a:defRPr sz="1200">
                <a:solidFill>
                  <a:schemeClr val="tx1"/>
                </a:solidFill>
                <a:latin typeface="Calibri" pitchFamily="34" charset="0"/>
                <a:ea typeface="宋体" charset="-122"/>
              </a:defRPr>
            </a:lvl5pPr>
            <a:lvl6pPr marL="2514600" indent="-228600" eaLnBrk="0" fontAlgn="base" hangingPunct="0">
              <a:spcBef>
                <a:spcPct val="30000"/>
              </a:spcBef>
              <a:spcAft>
                <a:spcPct val="0"/>
              </a:spcAft>
              <a:defRPr sz="1200">
                <a:solidFill>
                  <a:schemeClr val="tx1"/>
                </a:solidFill>
                <a:latin typeface="Calibri" pitchFamily="34" charset="0"/>
                <a:ea typeface="宋体" charset="-122"/>
              </a:defRPr>
            </a:lvl6pPr>
            <a:lvl7pPr marL="2971800" indent="-228600" eaLnBrk="0" fontAlgn="base" hangingPunct="0">
              <a:spcBef>
                <a:spcPct val="30000"/>
              </a:spcBef>
              <a:spcAft>
                <a:spcPct val="0"/>
              </a:spcAft>
              <a:defRPr sz="1200">
                <a:solidFill>
                  <a:schemeClr val="tx1"/>
                </a:solidFill>
                <a:latin typeface="Calibri" pitchFamily="34" charset="0"/>
                <a:ea typeface="宋体" charset="-122"/>
              </a:defRPr>
            </a:lvl7pPr>
            <a:lvl8pPr marL="3429000" indent="-228600" eaLnBrk="0" fontAlgn="base" hangingPunct="0">
              <a:spcBef>
                <a:spcPct val="30000"/>
              </a:spcBef>
              <a:spcAft>
                <a:spcPct val="0"/>
              </a:spcAft>
              <a:defRPr sz="1200">
                <a:solidFill>
                  <a:schemeClr val="tx1"/>
                </a:solidFill>
                <a:latin typeface="Calibri" pitchFamily="34" charset="0"/>
                <a:ea typeface="宋体" charset="-122"/>
              </a:defRPr>
            </a:lvl8pPr>
            <a:lvl9pPr marL="3886200" indent="-228600" eaLnBrk="0" fontAlgn="base" hangingPunct="0">
              <a:spcBef>
                <a:spcPct val="30000"/>
              </a:spcBef>
              <a:spcAft>
                <a:spcPct val="0"/>
              </a:spcAft>
              <a:defRPr sz="1200">
                <a:solidFill>
                  <a:schemeClr val="tx1"/>
                </a:solidFill>
                <a:latin typeface="Calibri" pitchFamily="34" charset="0"/>
                <a:ea typeface="宋体" charset="-122"/>
              </a:defRPr>
            </a:lvl9pPr>
          </a:lstStyle>
          <a:p>
            <a:pPr eaLnBrk="1" hangingPunct="1">
              <a:spcBef>
                <a:spcPct val="0"/>
              </a:spcBef>
            </a:pPr>
            <a:fld id="{9202A182-FA87-4E2B-9E4B-8E0EE906DF78}" type="slidenum">
              <a:rPr lang="zh-CN" altLang="en-US" smtClean="0"/>
              <a:pPr eaLnBrk="1" hangingPunct="1">
                <a:spcBef>
                  <a:spcPct val="0"/>
                </a:spcBef>
              </a:pPr>
              <a:t>40</a:t>
            </a:fld>
            <a:endParaRPr lang="zh-CN" alt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667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smtClean="0"/>
          </a:p>
        </p:txBody>
      </p:sp>
      <p:sp>
        <p:nvSpPr>
          <p:cNvPr id="15667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ea typeface="宋体" charset="-122"/>
              </a:defRPr>
            </a:lvl1pPr>
            <a:lvl2pPr marL="742950" indent="-285750" eaLnBrk="0" hangingPunct="0">
              <a:spcBef>
                <a:spcPct val="30000"/>
              </a:spcBef>
              <a:defRPr sz="1200">
                <a:solidFill>
                  <a:schemeClr val="tx1"/>
                </a:solidFill>
                <a:latin typeface="Calibri" pitchFamily="34" charset="0"/>
                <a:ea typeface="宋体" charset="-122"/>
              </a:defRPr>
            </a:lvl2pPr>
            <a:lvl3pPr marL="1143000" indent="-228600" eaLnBrk="0" hangingPunct="0">
              <a:spcBef>
                <a:spcPct val="30000"/>
              </a:spcBef>
              <a:defRPr sz="1200">
                <a:solidFill>
                  <a:schemeClr val="tx1"/>
                </a:solidFill>
                <a:latin typeface="Calibri" pitchFamily="34" charset="0"/>
                <a:ea typeface="宋体" charset="-122"/>
              </a:defRPr>
            </a:lvl3pPr>
            <a:lvl4pPr marL="1600200" indent="-228600" eaLnBrk="0" hangingPunct="0">
              <a:spcBef>
                <a:spcPct val="30000"/>
              </a:spcBef>
              <a:defRPr sz="1200">
                <a:solidFill>
                  <a:schemeClr val="tx1"/>
                </a:solidFill>
                <a:latin typeface="Calibri" pitchFamily="34" charset="0"/>
                <a:ea typeface="宋体" charset="-122"/>
              </a:defRPr>
            </a:lvl4pPr>
            <a:lvl5pPr marL="2057400" indent="-228600" eaLnBrk="0" hangingPunct="0">
              <a:spcBef>
                <a:spcPct val="30000"/>
              </a:spcBef>
              <a:defRPr sz="1200">
                <a:solidFill>
                  <a:schemeClr val="tx1"/>
                </a:solidFill>
                <a:latin typeface="Calibri" pitchFamily="34" charset="0"/>
                <a:ea typeface="宋体" charset="-122"/>
              </a:defRPr>
            </a:lvl5pPr>
            <a:lvl6pPr marL="2514600" indent="-228600" eaLnBrk="0" fontAlgn="base" hangingPunct="0">
              <a:spcBef>
                <a:spcPct val="30000"/>
              </a:spcBef>
              <a:spcAft>
                <a:spcPct val="0"/>
              </a:spcAft>
              <a:defRPr sz="1200">
                <a:solidFill>
                  <a:schemeClr val="tx1"/>
                </a:solidFill>
                <a:latin typeface="Calibri" pitchFamily="34" charset="0"/>
                <a:ea typeface="宋体" charset="-122"/>
              </a:defRPr>
            </a:lvl6pPr>
            <a:lvl7pPr marL="2971800" indent="-228600" eaLnBrk="0" fontAlgn="base" hangingPunct="0">
              <a:spcBef>
                <a:spcPct val="30000"/>
              </a:spcBef>
              <a:spcAft>
                <a:spcPct val="0"/>
              </a:spcAft>
              <a:defRPr sz="1200">
                <a:solidFill>
                  <a:schemeClr val="tx1"/>
                </a:solidFill>
                <a:latin typeface="Calibri" pitchFamily="34" charset="0"/>
                <a:ea typeface="宋体" charset="-122"/>
              </a:defRPr>
            </a:lvl7pPr>
            <a:lvl8pPr marL="3429000" indent="-228600" eaLnBrk="0" fontAlgn="base" hangingPunct="0">
              <a:spcBef>
                <a:spcPct val="30000"/>
              </a:spcBef>
              <a:spcAft>
                <a:spcPct val="0"/>
              </a:spcAft>
              <a:defRPr sz="1200">
                <a:solidFill>
                  <a:schemeClr val="tx1"/>
                </a:solidFill>
                <a:latin typeface="Calibri" pitchFamily="34" charset="0"/>
                <a:ea typeface="宋体" charset="-122"/>
              </a:defRPr>
            </a:lvl8pPr>
            <a:lvl9pPr marL="3886200" indent="-228600" eaLnBrk="0" fontAlgn="base" hangingPunct="0">
              <a:spcBef>
                <a:spcPct val="30000"/>
              </a:spcBef>
              <a:spcAft>
                <a:spcPct val="0"/>
              </a:spcAft>
              <a:defRPr sz="1200">
                <a:solidFill>
                  <a:schemeClr val="tx1"/>
                </a:solidFill>
                <a:latin typeface="Calibri" pitchFamily="34" charset="0"/>
                <a:ea typeface="宋体" charset="-122"/>
              </a:defRPr>
            </a:lvl9pPr>
          </a:lstStyle>
          <a:p>
            <a:pPr eaLnBrk="1" hangingPunct="1">
              <a:spcBef>
                <a:spcPct val="0"/>
              </a:spcBef>
            </a:pPr>
            <a:fld id="{9202A182-FA87-4E2B-9E4B-8E0EE906DF78}" type="slidenum">
              <a:rPr lang="zh-CN" altLang="en-US" smtClean="0"/>
              <a:pPr eaLnBrk="1" hangingPunct="1">
                <a:spcBef>
                  <a:spcPct val="0"/>
                </a:spcBef>
              </a:pPr>
              <a:t>41</a:t>
            </a:fld>
            <a:endParaRPr lang="zh-CN" alt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主</a:t>
            </a:r>
            <a:r>
              <a:rPr lang="en-US" altLang="zh-CN" dirty="0" smtClean="0"/>
              <a:t>/</a:t>
            </a:r>
            <a:r>
              <a:rPr lang="zh-CN" altLang="en-US" dirty="0" smtClean="0"/>
              <a:t>从模式</a:t>
            </a:r>
            <a:r>
              <a:rPr lang="zh-CN" altLang="en-US" baseline="0" dirty="0" smtClean="0"/>
              <a:t> </a:t>
            </a:r>
            <a:r>
              <a:rPr lang="en-US" altLang="zh-CN" baseline="0" dirty="0" smtClean="0"/>
              <a:t>– </a:t>
            </a:r>
            <a:r>
              <a:rPr lang="zh-CN" altLang="en-US" baseline="0" dirty="0" smtClean="0"/>
              <a:t>请求</a:t>
            </a:r>
            <a:r>
              <a:rPr lang="en-US" altLang="zh-CN" baseline="0" dirty="0" smtClean="0"/>
              <a:t>/</a:t>
            </a:r>
            <a:r>
              <a:rPr lang="zh-CN" altLang="en-US" baseline="0" dirty="0" smtClean="0"/>
              <a:t>响应模式</a:t>
            </a:r>
            <a:endParaRPr lang="zh-CN" altLang="en-US" dirty="0"/>
          </a:p>
        </p:txBody>
      </p:sp>
      <p:sp>
        <p:nvSpPr>
          <p:cNvPr id="4" name="灯片编号占位符 3"/>
          <p:cNvSpPr>
            <a:spLocks noGrp="1"/>
          </p:cNvSpPr>
          <p:nvPr>
            <p:ph type="sldNum" sz="quarter" idx="10"/>
          </p:nvPr>
        </p:nvSpPr>
        <p:spPr/>
        <p:txBody>
          <a:bodyPr/>
          <a:lstStyle/>
          <a:p>
            <a:pPr>
              <a:defRPr/>
            </a:pPr>
            <a:fld id="{79AE6549-0852-48AF-B845-B4CAF315C72D}" type="slidenum">
              <a:rPr lang="zh-CN" altLang="en-US" smtClean="0"/>
              <a:pPr>
                <a:defRPr/>
              </a:pPr>
              <a:t>43</a:t>
            </a:fld>
            <a:endParaRPr lang="zh-CN" altLang="en-US"/>
          </a:p>
        </p:txBody>
      </p:sp>
    </p:spTree>
    <p:extLst>
      <p:ext uri="{BB962C8B-B14F-4D97-AF65-F5344CB8AC3E}">
        <p14:creationId xmlns:p14="http://schemas.microsoft.com/office/powerpoint/2010/main" val="27061364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smtClean="0"/>
              <a:t>BasicCAN</a:t>
            </a:r>
            <a:r>
              <a:rPr lang="zh-CN" altLang="en-US" dirty="0" smtClean="0"/>
              <a:t>的单缓冲区也可以用双缓冲区方案实施，一个缓冲区接收数据，一个缓冲区的数据被处理，这样可以提高负载能力；</a:t>
            </a:r>
            <a:endParaRPr lang="zh-CN" altLang="en-US" dirty="0"/>
          </a:p>
        </p:txBody>
      </p:sp>
      <p:sp>
        <p:nvSpPr>
          <p:cNvPr id="4" name="灯片编号占位符 3"/>
          <p:cNvSpPr>
            <a:spLocks noGrp="1"/>
          </p:cNvSpPr>
          <p:nvPr>
            <p:ph type="sldNum" sz="quarter" idx="10"/>
          </p:nvPr>
        </p:nvSpPr>
        <p:spPr/>
        <p:txBody>
          <a:bodyPr/>
          <a:lstStyle/>
          <a:p>
            <a:pPr>
              <a:defRPr/>
            </a:pPr>
            <a:fld id="{79AE6549-0852-48AF-B845-B4CAF315C72D}" type="slidenum">
              <a:rPr lang="zh-CN" altLang="en-US" smtClean="0"/>
              <a:pPr>
                <a:defRPr/>
              </a:pPr>
              <a:t>44</a:t>
            </a:fld>
            <a:endParaRPr lang="zh-CN" altLang="en-US"/>
          </a:p>
        </p:txBody>
      </p:sp>
    </p:spTree>
    <p:extLst>
      <p:ext uri="{BB962C8B-B14F-4D97-AF65-F5344CB8AC3E}">
        <p14:creationId xmlns:p14="http://schemas.microsoft.com/office/powerpoint/2010/main" val="27061364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i="0" dirty="0" err="1" smtClean="0"/>
              <a:t>InterBus</a:t>
            </a:r>
            <a:r>
              <a:rPr lang="zh-CN" altLang="en-US" i="1" dirty="0" smtClean="0"/>
              <a:t>是一个传感器</a:t>
            </a:r>
            <a:r>
              <a:rPr lang="en-US" altLang="zh-CN" i="1" dirty="0" smtClean="0"/>
              <a:t>/</a:t>
            </a:r>
            <a:r>
              <a:rPr lang="zh-CN" altLang="en-US" i="1" dirty="0" smtClean="0"/>
              <a:t>调节器总线系统</a:t>
            </a:r>
            <a:endParaRPr lang="en-US" altLang="zh-CN" i="1" dirty="0" smtClean="0"/>
          </a:p>
          <a:p>
            <a:r>
              <a:rPr lang="en-US" altLang="zh-CN" dirty="0" smtClean="0"/>
              <a:t>SERCOS </a:t>
            </a:r>
            <a:r>
              <a:rPr lang="zh-CN" altLang="en-US" dirty="0" smtClean="0"/>
              <a:t>数字伺服和传动系统的总线</a:t>
            </a:r>
            <a:endParaRPr lang="en-US" altLang="zh-CN" dirty="0" smtClean="0"/>
          </a:p>
          <a:p>
            <a:r>
              <a:rPr lang="en-US" altLang="zh-CN" dirty="0" smtClean="0"/>
              <a:t>PROFIBUS</a:t>
            </a:r>
          </a:p>
          <a:p>
            <a:r>
              <a:rPr lang="en-US" altLang="zh-CN" dirty="0" smtClean="0"/>
              <a:t>FIP</a:t>
            </a:r>
            <a:r>
              <a:rPr lang="en-US" altLang="zh-CN" baseline="0" dirty="0" smtClean="0"/>
              <a:t> -- </a:t>
            </a:r>
            <a:r>
              <a:rPr lang="en-US" altLang="zh-CN" dirty="0" smtClean="0"/>
              <a:t>Factory Instrumentation Protocol</a:t>
            </a:r>
            <a:endParaRPr lang="zh-CN" altLang="en-US" dirty="0"/>
          </a:p>
        </p:txBody>
      </p:sp>
      <p:sp>
        <p:nvSpPr>
          <p:cNvPr id="4" name="灯片编号占位符 3"/>
          <p:cNvSpPr>
            <a:spLocks noGrp="1"/>
          </p:cNvSpPr>
          <p:nvPr>
            <p:ph type="sldNum" sz="quarter" idx="10"/>
          </p:nvPr>
        </p:nvSpPr>
        <p:spPr/>
        <p:txBody>
          <a:bodyPr/>
          <a:lstStyle/>
          <a:p>
            <a:pPr>
              <a:defRPr/>
            </a:pPr>
            <a:fld id="{79AE6549-0852-48AF-B845-B4CAF315C72D}" type="slidenum">
              <a:rPr lang="zh-CN" altLang="en-US" smtClean="0"/>
              <a:pPr>
                <a:defRPr/>
              </a:pPr>
              <a:t>46</a:t>
            </a:fld>
            <a:endParaRPr lang="zh-CN" altLang="en-US"/>
          </a:p>
        </p:txBody>
      </p:sp>
    </p:spTree>
    <p:extLst>
      <p:ext uri="{BB962C8B-B14F-4D97-AF65-F5344CB8AC3E}">
        <p14:creationId xmlns:p14="http://schemas.microsoft.com/office/powerpoint/2010/main" val="30476088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1.CAN</a:t>
            </a:r>
            <a:r>
              <a:rPr lang="zh-CN" altLang="en-US" dirty="0" smtClean="0"/>
              <a:t>的标准帧最大</a:t>
            </a:r>
            <a:r>
              <a:rPr lang="en-US" altLang="zh-CN" dirty="0" smtClean="0"/>
              <a:t>135</a:t>
            </a:r>
            <a:r>
              <a:rPr lang="zh-CN" altLang="en-US" dirty="0" smtClean="0"/>
              <a:t>位</a:t>
            </a:r>
            <a:endParaRPr lang="en-US" altLang="zh-CN" dirty="0" smtClean="0"/>
          </a:p>
          <a:p>
            <a:r>
              <a:rPr lang="en-US" altLang="zh-CN" dirty="0" smtClean="0"/>
              <a:t>2.</a:t>
            </a:r>
            <a:r>
              <a:rPr lang="zh-CN" altLang="en-US" dirty="0" smtClean="0"/>
              <a:t>在中</a:t>
            </a:r>
            <a:r>
              <a:rPr lang="en-US" altLang="zh-CN" dirty="0" smtClean="0"/>
              <a:t>-</a:t>
            </a:r>
            <a:r>
              <a:rPr lang="zh-CN" altLang="en-US" dirty="0" smtClean="0"/>
              <a:t>高传输速度下，阻塞时间在</a:t>
            </a:r>
            <a:r>
              <a:rPr lang="en-US" altLang="zh-CN" dirty="0" smtClean="0"/>
              <a:t>1ms</a:t>
            </a:r>
            <a:r>
              <a:rPr lang="zh-CN" altLang="en-US" dirty="0" smtClean="0"/>
              <a:t>以下</a:t>
            </a:r>
            <a:endParaRPr lang="en-US" altLang="zh-CN" dirty="0" smtClean="0"/>
          </a:p>
          <a:p>
            <a:r>
              <a:rPr lang="en-US" altLang="zh-CN" dirty="0" smtClean="0"/>
              <a:t>3.</a:t>
            </a:r>
            <a:r>
              <a:rPr lang="zh-CN" altLang="en-US" dirty="0" smtClean="0"/>
              <a:t>滞后短使得</a:t>
            </a:r>
            <a:r>
              <a:rPr lang="en-US" altLang="zh-CN" dirty="0" smtClean="0"/>
              <a:t>CAN</a:t>
            </a:r>
            <a:r>
              <a:rPr lang="zh-CN" altLang="en-US" dirty="0" smtClean="0"/>
              <a:t>尽管带宽低，但却应用在许多实时控制系统中</a:t>
            </a:r>
            <a:endParaRPr lang="en-US" altLang="zh-CN" dirty="0" smtClean="0"/>
          </a:p>
          <a:p>
            <a:r>
              <a:rPr lang="en-US" altLang="zh-CN" dirty="0" smtClean="0"/>
              <a:t>4.</a:t>
            </a:r>
            <a:r>
              <a:rPr lang="zh-CN" altLang="en-US" dirty="0" smtClean="0"/>
              <a:t>实时以太网控制器、收发器以及线缆都比</a:t>
            </a:r>
            <a:r>
              <a:rPr lang="en-US" altLang="zh-CN" dirty="0" smtClean="0"/>
              <a:t>CAN</a:t>
            </a:r>
            <a:r>
              <a:rPr lang="zh-CN" altLang="en-US" smtClean="0"/>
              <a:t>贵，通常还需要交换机</a:t>
            </a:r>
            <a:endParaRPr lang="zh-CN" altLang="en-US" dirty="0"/>
          </a:p>
        </p:txBody>
      </p:sp>
      <p:sp>
        <p:nvSpPr>
          <p:cNvPr id="4" name="灯片编号占位符 3"/>
          <p:cNvSpPr>
            <a:spLocks noGrp="1"/>
          </p:cNvSpPr>
          <p:nvPr>
            <p:ph type="sldNum" sz="quarter" idx="10"/>
          </p:nvPr>
        </p:nvSpPr>
        <p:spPr/>
        <p:txBody>
          <a:bodyPr/>
          <a:lstStyle/>
          <a:p>
            <a:pPr>
              <a:defRPr/>
            </a:pPr>
            <a:fld id="{79AE6549-0852-48AF-B845-B4CAF315C72D}" type="slidenum">
              <a:rPr lang="zh-CN" altLang="en-US" smtClean="0"/>
              <a:pPr>
                <a:defRPr/>
              </a:pPr>
              <a:t>47</a:t>
            </a:fld>
            <a:endParaRPr lang="zh-CN" altLang="en-US"/>
          </a:p>
        </p:txBody>
      </p:sp>
    </p:spTree>
    <p:extLst>
      <p:ext uri="{BB962C8B-B14F-4D97-AF65-F5344CB8AC3E}">
        <p14:creationId xmlns:p14="http://schemas.microsoft.com/office/powerpoint/2010/main" val="133402344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即</a:t>
            </a:r>
            <a:r>
              <a:rPr lang="en-US" altLang="zh-CN" sz="1200" b="1" i="1" dirty="0" err="1" smtClean="0">
                <a:solidFill>
                  <a:srgbClr val="C00000"/>
                </a:solidFill>
              </a:rPr>
              <a:t>T</a:t>
            </a:r>
            <a:r>
              <a:rPr lang="en-US" altLang="zh-CN" sz="1200" b="1" baseline="-25000" dirty="0" err="1" smtClean="0">
                <a:solidFill>
                  <a:srgbClr val="C00000"/>
                </a:solidFill>
              </a:rPr>
              <a:t>prop_seg</a:t>
            </a:r>
            <a:r>
              <a:rPr lang="en-US" altLang="zh-CN" sz="1200" b="1" baseline="30000" dirty="0" smtClean="0">
                <a:solidFill>
                  <a:srgbClr val="C00000"/>
                </a:solidFill>
              </a:rPr>
              <a:t>&lt; </a:t>
            </a:r>
            <a:r>
              <a:rPr lang="en-US" altLang="zh-CN" sz="1200" b="1" i="1" dirty="0" err="1" smtClean="0">
                <a:solidFill>
                  <a:srgbClr val="C00000"/>
                </a:solidFill>
              </a:rPr>
              <a:t>T</a:t>
            </a:r>
            <a:r>
              <a:rPr lang="en-US" altLang="zh-CN" sz="1200" b="1" i="0" baseline="-25000" dirty="0" err="1" smtClean="0">
                <a:solidFill>
                  <a:srgbClr val="C00000"/>
                </a:solidFill>
              </a:rPr>
              <a:t>bit</a:t>
            </a:r>
            <a:r>
              <a:rPr lang="en-US" altLang="zh-CN" sz="1200" b="1" i="0" baseline="-25000" dirty="0" smtClean="0">
                <a:solidFill>
                  <a:srgbClr val="C00000"/>
                </a:solidFill>
              </a:rPr>
              <a:t>,</a:t>
            </a:r>
            <a:r>
              <a:rPr lang="zh-CN" altLang="en-US" sz="1200" b="0" i="0" baseline="0" dirty="0" smtClean="0">
                <a:solidFill>
                  <a:srgbClr val="C00000"/>
                </a:solidFill>
              </a:rPr>
              <a:t>信号滞后量小于比特传输时间</a:t>
            </a:r>
            <a:endParaRPr lang="zh-CN" altLang="en-US" b="0" baseline="0" dirty="0"/>
          </a:p>
        </p:txBody>
      </p:sp>
      <p:sp>
        <p:nvSpPr>
          <p:cNvPr id="4" name="灯片编号占位符 3"/>
          <p:cNvSpPr>
            <a:spLocks noGrp="1"/>
          </p:cNvSpPr>
          <p:nvPr>
            <p:ph type="sldNum" sz="quarter" idx="10"/>
          </p:nvPr>
        </p:nvSpPr>
        <p:spPr/>
        <p:txBody>
          <a:bodyPr/>
          <a:lstStyle/>
          <a:p>
            <a:pPr>
              <a:defRPr/>
            </a:pPr>
            <a:fld id="{79AE6549-0852-48AF-B845-B4CAF315C72D}" type="slidenum">
              <a:rPr lang="zh-CN" altLang="en-US" smtClean="0"/>
              <a:pPr>
                <a:defRPr/>
              </a:pPr>
              <a:t>48</a:t>
            </a:fld>
            <a:endParaRPr lang="zh-CN" altLang="en-US"/>
          </a:p>
        </p:txBody>
      </p:sp>
    </p:spTree>
    <p:extLst>
      <p:ext uri="{BB962C8B-B14F-4D97-AF65-F5344CB8AC3E}">
        <p14:creationId xmlns:p14="http://schemas.microsoft.com/office/powerpoint/2010/main" val="4105284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Time-triggered</a:t>
            </a:r>
            <a:r>
              <a:rPr lang="en-US" altLang="zh-CN" baseline="0" dirty="0" smtClean="0"/>
              <a:t> </a:t>
            </a:r>
            <a:r>
              <a:rPr lang="zh-CN" altLang="en-US" dirty="0" smtClean="0"/>
              <a:t>在时间驱动系统中，包括传感器采样，指令执行，任务启动以及信息交换的所有行为都是提前已知的，且必须在精确的时间点执行。</a:t>
            </a:r>
            <a:endParaRPr lang="zh-CN" altLang="en-US" dirty="0"/>
          </a:p>
        </p:txBody>
      </p:sp>
      <p:sp>
        <p:nvSpPr>
          <p:cNvPr id="4" name="灯片编号占位符 3"/>
          <p:cNvSpPr>
            <a:spLocks noGrp="1"/>
          </p:cNvSpPr>
          <p:nvPr>
            <p:ph type="sldNum" sz="quarter" idx="10"/>
          </p:nvPr>
        </p:nvSpPr>
        <p:spPr/>
        <p:txBody>
          <a:bodyPr/>
          <a:lstStyle/>
          <a:p>
            <a:pPr>
              <a:defRPr/>
            </a:pPr>
            <a:fld id="{79AE6549-0852-48AF-B845-B4CAF315C72D}" type="slidenum">
              <a:rPr lang="zh-CN" altLang="en-US" smtClean="0"/>
              <a:pPr>
                <a:defRPr/>
              </a:pPr>
              <a:t>50</a:t>
            </a:fld>
            <a:endParaRPr lang="zh-CN" altLang="en-US"/>
          </a:p>
        </p:txBody>
      </p:sp>
    </p:spTree>
    <p:extLst>
      <p:ext uri="{BB962C8B-B14F-4D97-AF65-F5344CB8AC3E}">
        <p14:creationId xmlns:p14="http://schemas.microsoft.com/office/powerpoint/2010/main" val="198850475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smtClean="0">
                <a:solidFill>
                  <a:schemeClr val="accent3">
                    <a:lumMod val="50000"/>
                  </a:schemeClr>
                </a:solidFill>
              </a:rPr>
              <a:t>（</a:t>
            </a:r>
            <a:r>
              <a:rPr lang="en-US" altLang="zh-CN" sz="1200" dirty="0" smtClean="0">
                <a:solidFill>
                  <a:schemeClr val="accent3">
                    <a:lumMod val="50000"/>
                  </a:schemeClr>
                </a:solidFill>
              </a:rPr>
              <a:t>Process data objects – PDOs</a:t>
            </a:r>
            <a:r>
              <a:rPr lang="zh-CN" altLang="en-US" sz="1200" dirty="0" smtClean="0">
                <a:solidFill>
                  <a:schemeClr val="accent3">
                    <a:lumMod val="50000"/>
                  </a:schemeClr>
                </a:solidFill>
              </a:rPr>
              <a:t>）</a:t>
            </a:r>
            <a:endParaRPr lang="en-US" altLang="zh-CN" sz="1200" dirty="0" smtClean="0">
              <a:solidFill>
                <a:schemeClr val="accent3">
                  <a:lumMod val="50000"/>
                </a:schemeClr>
              </a:solidFill>
            </a:endParaRPr>
          </a:p>
          <a:p>
            <a:r>
              <a:rPr lang="zh-CN" altLang="en-US" sz="1200" dirty="0" smtClean="0">
                <a:solidFill>
                  <a:schemeClr val="accent3">
                    <a:lumMod val="50000"/>
                  </a:schemeClr>
                </a:solidFill>
              </a:rPr>
              <a:t>（</a:t>
            </a:r>
            <a:r>
              <a:rPr lang="en-US" altLang="zh-CN" sz="1200" dirty="0" smtClean="0">
                <a:solidFill>
                  <a:schemeClr val="accent3">
                    <a:lumMod val="50000"/>
                  </a:schemeClr>
                </a:solidFill>
              </a:rPr>
              <a:t>Service data objects – SDOs</a:t>
            </a:r>
            <a:r>
              <a:rPr lang="zh-CN" altLang="en-US" sz="1200" dirty="0" smtClean="0">
                <a:solidFill>
                  <a:schemeClr val="accent3">
                    <a:lumMod val="50000"/>
                  </a:schemeClr>
                </a:solidFill>
              </a:rPr>
              <a:t>）</a:t>
            </a:r>
            <a:endParaRPr lang="en-US" altLang="zh-CN" sz="1200" dirty="0" smtClean="0">
              <a:solidFill>
                <a:schemeClr val="accent3">
                  <a:lumMod val="50000"/>
                </a:schemeClr>
              </a:solidFill>
            </a:endParaRPr>
          </a:p>
          <a:p>
            <a:r>
              <a:rPr lang="zh-CN" altLang="en-US" sz="1200" dirty="0" smtClean="0">
                <a:solidFill>
                  <a:schemeClr val="accent3">
                    <a:lumMod val="50000"/>
                  </a:schemeClr>
                </a:solidFill>
              </a:rPr>
              <a:t>（</a:t>
            </a:r>
            <a:r>
              <a:rPr lang="en-US" altLang="zh-CN" sz="1200" dirty="0" smtClean="0">
                <a:solidFill>
                  <a:schemeClr val="accent3">
                    <a:lumMod val="50000"/>
                  </a:schemeClr>
                </a:solidFill>
              </a:rPr>
              <a:t>Emergency objects – EMCYs</a:t>
            </a:r>
            <a:r>
              <a:rPr lang="zh-CN" altLang="en-US" sz="1200" dirty="0" smtClean="0">
                <a:solidFill>
                  <a:schemeClr val="accent3">
                    <a:lumMod val="50000"/>
                  </a:schemeClr>
                </a:solidFill>
              </a:rPr>
              <a:t>）</a:t>
            </a:r>
            <a:endParaRPr lang="en-US" altLang="zh-CN" sz="1200" dirty="0" smtClean="0">
              <a:solidFill>
                <a:schemeClr val="accent3">
                  <a:lumMod val="50000"/>
                </a:schemeClr>
              </a:solidFill>
            </a:endParaRPr>
          </a:p>
          <a:p>
            <a:r>
              <a:rPr lang="zh-CN" altLang="en-US" sz="1200" dirty="0" smtClean="0">
                <a:solidFill>
                  <a:schemeClr val="accent3">
                    <a:lumMod val="50000"/>
                  </a:schemeClr>
                </a:solidFill>
              </a:rPr>
              <a:t>（</a:t>
            </a:r>
            <a:r>
              <a:rPr lang="en-US" altLang="zh-CN" sz="1200" dirty="0" smtClean="0">
                <a:solidFill>
                  <a:schemeClr val="accent3">
                    <a:lumMod val="50000"/>
                  </a:schemeClr>
                </a:solidFill>
              </a:rPr>
              <a:t>Synchronization objects – SYNC</a:t>
            </a:r>
            <a:r>
              <a:rPr lang="zh-CN" altLang="en-US" sz="1200" dirty="0" smtClean="0">
                <a:solidFill>
                  <a:schemeClr val="accent3">
                    <a:lumMod val="50000"/>
                  </a:schemeClr>
                </a:solidFill>
              </a:rPr>
              <a:t>）</a:t>
            </a:r>
            <a:endParaRPr lang="en-US" altLang="zh-CN" sz="1200" dirty="0" smtClean="0">
              <a:solidFill>
                <a:schemeClr val="accent3">
                  <a:lumMod val="50000"/>
                </a:schemeClr>
              </a:solidFill>
            </a:endParaRPr>
          </a:p>
          <a:p>
            <a:r>
              <a:rPr lang="zh-CN" altLang="en-US" sz="1200" dirty="0" smtClean="0">
                <a:solidFill>
                  <a:schemeClr val="accent3">
                    <a:lumMod val="50000"/>
                  </a:schemeClr>
                </a:solidFill>
              </a:rPr>
              <a:t>（</a:t>
            </a:r>
            <a:r>
              <a:rPr lang="en-US" altLang="zh-CN" sz="1200" dirty="0" smtClean="0">
                <a:solidFill>
                  <a:schemeClr val="accent3">
                    <a:lumMod val="50000"/>
                  </a:schemeClr>
                </a:solidFill>
              </a:rPr>
              <a:t>Time stamp</a:t>
            </a:r>
            <a:r>
              <a:rPr lang="en-US" altLang="zh-CN" sz="1200" baseline="0" dirty="0" smtClean="0">
                <a:solidFill>
                  <a:schemeClr val="accent3">
                    <a:lumMod val="50000"/>
                  </a:schemeClr>
                </a:solidFill>
              </a:rPr>
              <a:t> objects – TIME)</a:t>
            </a:r>
          </a:p>
          <a:p>
            <a:r>
              <a:rPr lang="zh-CN" altLang="en-US" sz="1200" baseline="0" dirty="0" smtClean="0">
                <a:solidFill>
                  <a:schemeClr val="accent3">
                    <a:lumMod val="50000"/>
                  </a:schemeClr>
                </a:solidFill>
              </a:rPr>
              <a:t>每个</a:t>
            </a:r>
            <a:r>
              <a:rPr lang="en-US" altLang="zh-CN" sz="1200" baseline="0" dirty="0" smtClean="0">
                <a:solidFill>
                  <a:schemeClr val="accent3">
                    <a:lumMod val="50000"/>
                  </a:schemeClr>
                </a:solidFill>
              </a:rPr>
              <a:t>COB</a:t>
            </a:r>
            <a:r>
              <a:rPr lang="zh-CN" altLang="en-US" sz="1200" baseline="0" dirty="0" smtClean="0">
                <a:solidFill>
                  <a:schemeClr val="accent3">
                    <a:lumMod val="50000"/>
                  </a:schemeClr>
                </a:solidFill>
              </a:rPr>
              <a:t>都映射于总线上传输的一个或多个</a:t>
            </a:r>
            <a:r>
              <a:rPr lang="en-US" altLang="zh-CN" sz="1200" baseline="0" dirty="0" smtClean="0">
                <a:solidFill>
                  <a:schemeClr val="accent3">
                    <a:lumMod val="50000"/>
                  </a:schemeClr>
                </a:solidFill>
              </a:rPr>
              <a:t>CAN</a:t>
            </a:r>
            <a:r>
              <a:rPr lang="zh-CN" altLang="en-US" sz="1200" baseline="0" dirty="0" smtClean="0">
                <a:solidFill>
                  <a:schemeClr val="accent3">
                    <a:lumMod val="50000"/>
                  </a:schemeClr>
                </a:solidFill>
              </a:rPr>
              <a:t>帧。</a:t>
            </a:r>
            <a:endParaRPr lang="zh-CN" altLang="en-US" dirty="0"/>
          </a:p>
        </p:txBody>
      </p:sp>
      <p:sp>
        <p:nvSpPr>
          <p:cNvPr id="4" name="灯片编号占位符 3"/>
          <p:cNvSpPr>
            <a:spLocks noGrp="1"/>
          </p:cNvSpPr>
          <p:nvPr>
            <p:ph type="sldNum" sz="quarter" idx="10"/>
          </p:nvPr>
        </p:nvSpPr>
        <p:spPr/>
        <p:txBody>
          <a:bodyPr/>
          <a:lstStyle/>
          <a:p>
            <a:pPr>
              <a:defRPr/>
            </a:pPr>
            <a:fld id="{79AE6549-0852-48AF-B845-B4CAF315C72D}" type="slidenum">
              <a:rPr lang="zh-CN" altLang="en-US" smtClean="0"/>
              <a:pPr>
                <a:defRPr/>
              </a:pPr>
              <a:t>53</a:t>
            </a:fld>
            <a:endParaRPr lang="zh-CN" altLang="en-US"/>
          </a:p>
        </p:txBody>
      </p:sp>
    </p:spTree>
    <p:extLst>
      <p:ext uri="{BB962C8B-B14F-4D97-AF65-F5344CB8AC3E}">
        <p14:creationId xmlns:p14="http://schemas.microsoft.com/office/powerpoint/2010/main" val="19620212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9AE6549-0852-48AF-B845-B4CAF315C72D}" type="slidenum">
              <a:rPr lang="zh-CN" altLang="en-US" smtClean="0"/>
              <a:pPr>
                <a:defRPr/>
              </a:pPr>
              <a:t>55</a:t>
            </a:fld>
            <a:endParaRPr lang="zh-CN" altLang="en-US"/>
          </a:p>
        </p:txBody>
      </p:sp>
    </p:spTree>
    <p:extLst>
      <p:ext uri="{BB962C8B-B14F-4D97-AF65-F5344CB8AC3E}">
        <p14:creationId xmlns:p14="http://schemas.microsoft.com/office/powerpoint/2010/main" val="183472459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9AE6549-0852-48AF-B845-B4CAF315C72D}" type="slidenum">
              <a:rPr lang="zh-CN" altLang="en-US" smtClean="0"/>
              <a:pPr>
                <a:defRPr/>
              </a:pPr>
              <a:t>56</a:t>
            </a:fld>
            <a:endParaRPr lang="zh-CN" altLang="en-US"/>
          </a:p>
        </p:txBody>
      </p:sp>
    </p:spTree>
    <p:extLst>
      <p:ext uri="{BB962C8B-B14F-4D97-AF65-F5344CB8AC3E}">
        <p14:creationId xmlns:p14="http://schemas.microsoft.com/office/powerpoint/2010/main" val="183472459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9AE6549-0852-48AF-B845-B4CAF315C72D}" type="slidenum">
              <a:rPr lang="zh-CN" altLang="en-US" smtClean="0"/>
              <a:pPr>
                <a:defRPr/>
              </a:pPr>
              <a:t>57</a:t>
            </a:fld>
            <a:endParaRPr lang="zh-CN" altLang="en-US"/>
          </a:p>
        </p:txBody>
      </p:sp>
    </p:spTree>
    <p:extLst>
      <p:ext uri="{BB962C8B-B14F-4D97-AF65-F5344CB8AC3E}">
        <p14:creationId xmlns:p14="http://schemas.microsoft.com/office/powerpoint/2010/main" val="183472459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9AE6549-0852-48AF-B845-B4CAF315C72D}" type="slidenum">
              <a:rPr lang="zh-CN" altLang="en-US" smtClean="0"/>
              <a:pPr>
                <a:defRPr/>
              </a:pPr>
              <a:t>59</a:t>
            </a:fld>
            <a:endParaRPr lang="zh-CN" altLang="en-US"/>
          </a:p>
        </p:txBody>
      </p:sp>
    </p:spTree>
    <p:extLst>
      <p:ext uri="{BB962C8B-B14F-4D97-AF65-F5344CB8AC3E}">
        <p14:creationId xmlns:p14="http://schemas.microsoft.com/office/powerpoint/2010/main" val="219787693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特定节点：通常是网络主节点；</a:t>
            </a:r>
            <a:endParaRPr lang="en-US" altLang="zh-CN" dirty="0" smtClean="0"/>
          </a:p>
          <a:p>
            <a:r>
              <a:rPr lang="zh-CN" altLang="en-US" dirty="0" smtClean="0"/>
              <a:t>同步传输通常是周期的；</a:t>
            </a:r>
            <a:endParaRPr lang="zh-CN" altLang="en-US" dirty="0"/>
          </a:p>
        </p:txBody>
      </p:sp>
      <p:sp>
        <p:nvSpPr>
          <p:cNvPr id="4" name="灯片编号占位符 3"/>
          <p:cNvSpPr>
            <a:spLocks noGrp="1"/>
          </p:cNvSpPr>
          <p:nvPr>
            <p:ph type="sldNum" sz="quarter" idx="10"/>
          </p:nvPr>
        </p:nvSpPr>
        <p:spPr/>
        <p:txBody>
          <a:bodyPr/>
          <a:lstStyle/>
          <a:p>
            <a:pPr>
              <a:defRPr/>
            </a:pPr>
            <a:fld id="{79AE6549-0852-48AF-B845-B4CAF315C72D}" type="slidenum">
              <a:rPr lang="zh-CN" altLang="en-US" smtClean="0"/>
              <a:pPr>
                <a:defRPr/>
              </a:pPr>
              <a:t>60</a:t>
            </a:fld>
            <a:endParaRPr lang="zh-CN" altLang="en-US"/>
          </a:p>
        </p:txBody>
      </p:sp>
    </p:spTree>
    <p:extLst>
      <p:ext uri="{BB962C8B-B14F-4D97-AF65-F5344CB8AC3E}">
        <p14:creationId xmlns:p14="http://schemas.microsoft.com/office/powerpoint/2010/main" val="241835382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禁止时间：防止高优先级信息独占总线，</a:t>
            </a:r>
            <a:r>
              <a:rPr lang="en-US" altLang="zh-CN" dirty="0" smtClean="0"/>
              <a:t>0-disable</a:t>
            </a:r>
            <a:r>
              <a:rPr lang="zh-CN" altLang="en-US" dirty="0" smtClean="0"/>
              <a:t>；</a:t>
            </a:r>
            <a:endParaRPr lang="en-US" altLang="zh-CN" dirty="0" smtClean="0"/>
          </a:p>
          <a:p>
            <a:r>
              <a:rPr lang="zh-CN" altLang="en-US" dirty="0" smtClean="0"/>
              <a:t>事件定时器：对于</a:t>
            </a:r>
            <a:r>
              <a:rPr lang="en-US" altLang="zh-CN" dirty="0" smtClean="0"/>
              <a:t>TPDO</a:t>
            </a:r>
            <a:r>
              <a:rPr lang="zh-CN" altLang="en-US" dirty="0" smtClean="0"/>
              <a:t>，定时器到了自动发送信息，增加缓变值的最小刷新率；对于</a:t>
            </a:r>
            <a:r>
              <a:rPr lang="en-US" altLang="zh-CN" dirty="0" smtClean="0"/>
              <a:t>RPDO</a:t>
            </a:r>
            <a:r>
              <a:rPr lang="zh-CN" altLang="en-US" dirty="0" smtClean="0"/>
              <a:t>，定时器监测截止时间，超时后则通知本地程序</a:t>
            </a:r>
            <a:r>
              <a:rPr lang="en-US" altLang="zh-CN" dirty="0" smtClean="0"/>
              <a:t>,0-disable</a:t>
            </a:r>
          </a:p>
          <a:p>
            <a:r>
              <a:rPr lang="zh-CN" altLang="en-US" dirty="0" smtClean="0"/>
              <a:t>通信参数：</a:t>
            </a:r>
            <a:r>
              <a:rPr lang="en-US" altLang="zh-CN" dirty="0" smtClean="0"/>
              <a:t>RPDO</a:t>
            </a:r>
            <a:r>
              <a:rPr lang="zh-CN" altLang="en-US" dirty="0" smtClean="0"/>
              <a:t>地址为</a:t>
            </a:r>
            <a:r>
              <a:rPr lang="en-US" altLang="zh-CN" dirty="0" smtClean="0"/>
              <a:t>1400h-15FFh</a:t>
            </a:r>
            <a:r>
              <a:rPr lang="zh-CN" altLang="en-US" dirty="0" smtClean="0"/>
              <a:t>，</a:t>
            </a:r>
            <a:r>
              <a:rPr lang="en-US" altLang="zh-CN" dirty="0" smtClean="0"/>
              <a:t>TPDO</a:t>
            </a:r>
            <a:r>
              <a:rPr lang="zh-CN" altLang="en-US" dirty="0" smtClean="0"/>
              <a:t>为</a:t>
            </a:r>
            <a:r>
              <a:rPr lang="en-US" altLang="zh-CN" dirty="0" smtClean="0"/>
              <a:t>1800h-19FFh</a:t>
            </a:r>
          </a:p>
          <a:p>
            <a:r>
              <a:rPr lang="zh-CN" altLang="en-US" dirty="0" smtClean="0"/>
              <a:t>静态映射参数：设备内置不能更改</a:t>
            </a:r>
            <a:r>
              <a:rPr lang="en-US" altLang="zh-CN" dirty="0" smtClean="0"/>
              <a:t>;</a:t>
            </a:r>
            <a:r>
              <a:rPr lang="en-US" altLang="zh-CN" baseline="0" dirty="0" smtClean="0"/>
              <a:t> </a:t>
            </a:r>
            <a:r>
              <a:rPr lang="zh-CN" altLang="en-US" dirty="0" smtClean="0"/>
              <a:t>动态映射参数：通过方位对象词典中的相关记录来配置；</a:t>
            </a:r>
            <a:endParaRPr lang="en-US" altLang="zh-CN" dirty="0" smtClean="0"/>
          </a:p>
          <a:p>
            <a:r>
              <a:rPr lang="zh-CN" altLang="en-US" dirty="0" smtClean="0"/>
              <a:t>映射参数，</a:t>
            </a:r>
            <a:r>
              <a:rPr lang="en-US" altLang="zh-CN" dirty="0" smtClean="0"/>
              <a:t>RPDO 1600h-17FFh,</a:t>
            </a:r>
            <a:r>
              <a:rPr lang="en-US" altLang="zh-CN" baseline="0" dirty="0" smtClean="0"/>
              <a:t> TPDO 1A00h-1BFFh</a:t>
            </a:r>
          </a:p>
        </p:txBody>
      </p:sp>
      <p:sp>
        <p:nvSpPr>
          <p:cNvPr id="4" name="灯片编号占位符 3"/>
          <p:cNvSpPr>
            <a:spLocks noGrp="1"/>
          </p:cNvSpPr>
          <p:nvPr>
            <p:ph type="sldNum" sz="quarter" idx="10"/>
          </p:nvPr>
        </p:nvSpPr>
        <p:spPr/>
        <p:txBody>
          <a:bodyPr/>
          <a:lstStyle/>
          <a:p>
            <a:pPr>
              <a:defRPr/>
            </a:pPr>
            <a:fld id="{79AE6549-0852-48AF-B845-B4CAF315C72D}" type="slidenum">
              <a:rPr lang="zh-CN" altLang="en-US" smtClean="0"/>
              <a:pPr>
                <a:defRPr/>
              </a:pPr>
              <a:t>62</a:t>
            </a:fld>
            <a:endParaRPr lang="zh-CN" altLang="en-US"/>
          </a:p>
        </p:txBody>
      </p:sp>
    </p:spTree>
    <p:extLst>
      <p:ext uri="{BB962C8B-B14F-4D97-AF65-F5344CB8AC3E}">
        <p14:creationId xmlns:p14="http://schemas.microsoft.com/office/powerpoint/2010/main" val="124019311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lang="zh-CN" altLang="en-US" dirty="0" smtClean="0"/>
              <a:t>用于提醒进行故障诊断</a:t>
            </a:r>
            <a:endParaRPr lang="en-US" altLang="zh-CN" dirty="0" smtClean="0"/>
          </a:p>
          <a:p>
            <a:pPr marL="228600" indent="-228600">
              <a:buAutoNum type="arabicPeriod"/>
            </a:pPr>
            <a:endParaRPr lang="zh-CN" altLang="en-US" dirty="0"/>
          </a:p>
        </p:txBody>
      </p:sp>
      <p:sp>
        <p:nvSpPr>
          <p:cNvPr id="4" name="灯片编号占位符 3"/>
          <p:cNvSpPr>
            <a:spLocks noGrp="1"/>
          </p:cNvSpPr>
          <p:nvPr>
            <p:ph type="sldNum" sz="quarter" idx="10"/>
          </p:nvPr>
        </p:nvSpPr>
        <p:spPr/>
        <p:txBody>
          <a:bodyPr/>
          <a:lstStyle/>
          <a:p>
            <a:pPr>
              <a:defRPr/>
            </a:pPr>
            <a:fld id="{79AE6549-0852-48AF-B845-B4CAF315C72D}" type="slidenum">
              <a:rPr lang="zh-CN" altLang="en-US" smtClean="0"/>
              <a:pPr>
                <a:defRPr/>
              </a:pPr>
              <a:t>65</a:t>
            </a:fld>
            <a:endParaRPr lang="zh-CN" altLang="en-US"/>
          </a:p>
        </p:txBody>
      </p:sp>
    </p:spTree>
    <p:extLst>
      <p:ext uri="{BB962C8B-B14F-4D97-AF65-F5344CB8AC3E}">
        <p14:creationId xmlns:p14="http://schemas.microsoft.com/office/powerpoint/2010/main" val="357806171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smtClean="0"/>
              <a:t>heartbeat</a:t>
            </a:r>
            <a:r>
              <a:rPr lang="zh-CN" altLang="en-US" sz="1200" dirty="0" smtClean="0"/>
              <a:t>消息不需要使用远程帧请求，从而降低网络负载。</a:t>
            </a:r>
            <a:endParaRPr lang="en-US" altLang="zh-CN" sz="1200"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sz="1200" dirty="0" smtClean="0">
                <a:solidFill>
                  <a:srgbClr val="C00000"/>
                </a:solidFill>
              </a:rPr>
              <a:t>Node </a:t>
            </a:r>
            <a:r>
              <a:rPr lang="en-US" altLang="zh-CN" sz="1200" dirty="0" err="1" smtClean="0">
                <a:solidFill>
                  <a:srgbClr val="C00000"/>
                </a:solidFill>
              </a:rPr>
              <a:t>garding</a:t>
            </a:r>
            <a:r>
              <a:rPr lang="zh-CN" altLang="en-US" sz="1200" dirty="0" smtClean="0"/>
              <a:t>与</a:t>
            </a:r>
            <a:r>
              <a:rPr lang="en-US" altLang="zh-CN" sz="1200" dirty="0" smtClean="0">
                <a:solidFill>
                  <a:srgbClr val="C00000"/>
                </a:solidFill>
              </a:rPr>
              <a:t>Heartbeat</a:t>
            </a:r>
            <a:r>
              <a:rPr lang="zh-CN" altLang="en-US" sz="1200" dirty="0" smtClean="0"/>
              <a:t>两种机制传输的消息格式类似，同样的</a:t>
            </a:r>
            <a:r>
              <a:rPr lang="en-US" altLang="zh-CN" sz="1200" dirty="0" smtClean="0"/>
              <a:t>CAN-ID</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zh-CN" sz="1200"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sz="1200" dirty="0" smtClean="0"/>
              <a:t>此外，为了减少建立</a:t>
            </a:r>
            <a:r>
              <a:rPr lang="en-US" altLang="zh-CN" sz="1200" dirty="0" err="1" smtClean="0"/>
              <a:t>CANopen</a:t>
            </a:r>
            <a:r>
              <a:rPr lang="zh-CN" altLang="en-US" sz="1200" dirty="0" smtClean="0"/>
              <a:t>系统的工作，可以将常用通信对象</a:t>
            </a:r>
            <a:r>
              <a:rPr lang="en-US" altLang="zh-CN" sz="1200" dirty="0" smtClean="0"/>
              <a:t>COBs</a:t>
            </a:r>
            <a:r>
              <a:rPr lang="zh-CN" altLang="en-US" sz="1200" dirty="0" smtClean="0"/>
              <a:t>于</a:t>
            </a:r>
            <a:r>
              <a:rPr lang="en-US" altLang="zh-CN" sz="1200" dirty="0" smtClean="0"/>
              <a:t>CAN-ID</a:t>
            </a:r>
            <a:r>
              <a:rPr lang="zh-CN" altLang="en-US" sz="1200" dirty="0" smtClean="0"/>
              <a:t>之间做直接映射，前提是系统初始化后无需修改，多数情况下满足。</a:t>
            </a:r>
            <a:endParaRPr lang="en-US" altLang="zh-CN" sz="1200"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sz="1200" dirty="0" smtClean="0"/>
              <a:t>此时的</a:t>
            </a:r>
            <a:r>
              <a:rPr lang="en-US" altLang="zh-CN" sz="1200" dirty="0" smtClean="0"/>
              <a:t>CAN-ID</a:t>
            </a:r>
            <a:r>
              <a:rPr lang="zh-CN" altLang="en-US" sz="1200" dirty="0" smtClean="0"/>
              <a:t>分为两部分，高</a:t>
            </a:r>
            <a:r>
              <a:rPr lang="en-US" altLang="zh-CN" sz="1200" dirty="0" smtClean="0"/>
              <a:t>4</a:t>
            </a:r>
            <a:r>
              <a:rPr lang="zh-CN" altLang="en-US" sz="1200" dirty="0" smtClean="0"/>
              <a:t>位功能码</a:t>
            </a:r>
            <a:r>
              <a:rPr lang="en-US" altLang="zh-CN" sz="1200" dirty="0" smtClean="0"/>
              <a:t>+</a:t>
            </a:r>
            <a:r>
              <a:rPr lang="zh-CN" altLang="en-US" sz="1200" dirty="0" smtClean="0"/>
              <a:t>低</a:t>
            </a:r>
            <a:r>
              <a:rPr lang="en-US" altLang="zh-CN" sz="1200" dirty="0" smtClean="0"/>
              <a:t>7</a:t>
            </a:r>
            <a:r>
              <a:rPr lang="zh-CN" altLang="en-US" sz="1200" dirty="0" smtClean="0"/>
              <a:t>位</a:t>
            </a:r>
            <a:r>
              <a:rPr lang="en-US" altLang="zh-CN" sz="1200" dirty="0" smtClean="0"/>
              <a:t>node-ID</a:t>
            </a:r>
            <a:r>
              <a:rPr lang="zh-CN" altLang="en-US" sz="1200" dirty="0" smtClean="0"/>
              <a:t>。功能码指定</a:t>
            </a:r>
            <a:r>
              <a:rPr lang="en-US" altLang="zh-CN" sz="1200" dirty="0" smtClean="0"/>
              <a:t>COBs</a:t>
            </a:r>
            <a:r>
              <a:rPr lang="zh-CN" altLang="en-US" sz="1200" dirty="0" smtClean="0"/>
              <a:t>类型（</a:t>
            </a:r>
            <a:r>
              <a:rPr lang="en-US" altLang="zh-CN" sz="1200" dirty="0" smtClean="0"/>
              <a:t>SYNC</a:t>
            </a:r>
            <a:r>
              <a:rPr lang="zh-CN" altLang="en-US" sz="1200" dirty="0" smtClean="0"/>
              <a:t>，</a:t>
            </a:r>
            <a:r>
              <a:rPr lang="en-US" altLang="zh-CN" sz="1200" dirty="0" smtClean="0"/>
              <a:t>PDO</a:t>
            </a:r>
            <a:r>
              <a:rPr lang="zh-CN" altLang="en-US" sz="1200" dirty="0" smtClean="0"/>
              <a:t>，</a:t>
            </a:r>
            <a:r>
              <a:rPr lang="en-US" altLang="zh-CN" sz="1200" dirty="0" smtClean="0"/>
              <a:t>SDO</a:t>
            </a:r>
            <a:r>
              <a:rPr lang="zh-CN" altLang="en-US" sz="1200" dirty="0" smtClean="0"/>
              <a:t>，</a:t>
            </a:r>
            <a:r>
              <a:rPr lang="en-US" altLang="zh-CN" sz="1200" dirty="0" smtClean="0"/>
              <a:t>EMCY</a:t>
            </a:r>
            <a:r>
              <a:rPr lang="zh-CN" altLang="en-US" sz="1200" dirty="0" smtClean="0"/>
              <a:t>，</a:t>
            </a:r>
            <a:r>
              <a:rPr lang="en-US" altLang="zh-CN" sz="1200" dirty="0" smtClean="0"/>
              <a:t>NMT</a:t>
            </a:r>
            <a:r>
              <a:rPr lang="zh-CN" altLang="en-US" sz="1200" dirty="0" smtClean="0"/>
              <a:t>等），其影响帧的优先级。</a:t>
            </a:r>
            <a:endParaRPr lang="en-US" altLang="zh-CN" sz="1200"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sz="1200" dirty="0" smtClean="0"/>
              <a:t>Node-ID</a:t>
            </a:r>
            <a:r>
              <a:rPr lang="zh-CN" altLang="en-US" sz="1200" dirty="0" smtClean="0"/>
              <a:t>的作用是保证两个节点不发送同样</a:t>
            </a:r>
            <a:r>
              <a:rPr lang="en-US" altLang="zh-CN" sz="1200" dirty="0" smtClean="0"/>
              <a:t>node-ID</a:t>
            </a:r>
            <a:r>
              <a:rPr lang="zh-CN" altLang="en-US" sz="1200" smtClean="0"/>
              <a:t>的帧（略）</a:t>
            </a:r>
            <a:endParaRPr lang="en-US" altLang="zh-CN" sz="1200" dirty="0" smtClean="0"/>
          </a:p>
          <a:p>
            <a:endParaRPr lang="zh-CN" altLang="en-US" dirty="0"/>
          </a:p>
        </p:txBody>
      </p:sp>
      <p:sp>
        <p:nvSpPr>
          <p:cNvPr id="4" name="灯片编号占位符 3"/>
          <p:cNvSpPr>
            <a:spLocks noGrp="1"/>
          </p:cNvSpPr>
          <p:nvPr>
            <p:ph type="sldNum" sz="quarter" idx="10"/>
          </p:nvPr>
        </p:nvSpPr>
        <p:spPr/>
        <p:txBody>
          <a:bodyPr/>
          <a:lstStyle/>
          <a:p>
            <a:pPr>
              <a:defRPr/>
            </a:pPr>
            <a:fld id="{79AE6549-0852-48AF-B845-B4CAF315C72D}" type="slidenum">
              <a:rPr lang="zh-CN" altLang="en-US" smtClean="0"/>
              <a:pPr>
                <a:defRPr/>
              </a:pPr>
              <a:t>69</a:t>
            </a:fld>
            <a:endParaRPr lang="zh-CN" altLang="en-US"/>
          </a:p>
        </p:txBody>
      </p:sp>
    </p:spTree>
    <p:extLst>
      <p:ext uri="{BB962C8B-B14F-4D97-AF65-F5344CB8AC3E}">
        <p14:creationId xmlns:p14="http://schemas.microsoft.com/office/powerpoint/2010/main" val="330560244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图片 9"/>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5" name="日期占位符 3"/>
          <p:cNvSpPr>
            <a:spLocks noGrp="1"/>
          </p:cNvSpPr>
          <p:nvPr>
            <p:ph type="dt" sz="half" idx="10"/>
          </p:nvPr>
        </p:nvSpPr>
        <p:spPr/>
        <p:txBody>
          <a:bodyPr/>
          <a:lstStyle>
            <a:lvl1pPr>
              <a:defRPr/>
            </a:lvl1pPr>
          </a:lstStyle>
          <a:p>
            <a:pPr>
              <a:defRPr/>
            </a:pPr>
            <a:fld id="{5123DF14-DE97-4132-85D4-F793C10B3922}" type="datetimeFigureOut">
              <a:rPr lang="zh-CN" altLang="en-US"/>
              <a:pPr>
                <a:defRPr/>
              </a:pPr>
              <a:t>2016/9/25</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6C87FE6A-60D0-4101-B4E7-70B2E06BB5A8}" type="slidenum">
              <a:rPr lang="zh-CN" altLang="en-US"/>
              <a:pPr>
                <a:defRPr/>
              </a:pPr>
              <a:t>‹#›</a:t>
            </a:fld>
            <a:endParaRPr lang="zh-CN" altLang="en-US"/>
          </a:p>
        </p:txBody>
      </p:sp>
    </p:spTree>
    <p:extLst>
      <p:ext uri="{BB962C8B-B14F-4D97-AF65-F5344CB8AC3E}">
        <p14:creationId xmlns:p14="http://schemas.microsoft.com/office/powerpoint/2010/main" val="2613217701"/>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lvl1pPr algn="just">
              <a:defRPr/>
            </a:lvl1pPr>
            <a:lvl2pPr algn="just">
              <a:defRPr/>
            </a:lvl2pPr>
            <a:lvl3pPr algn="just">
              <a:defRPr/>
            </a:lvl3pPr>
            <a:lvl4pPr algn="just">
              <a:defRPr/>
            </a:lvl4pPr>
            <a:lvl5pPr algn="just">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lvl1pPr>
              <a:defRPr/>
            </a:lvl1pPr>
          </a:lstStyle>
          <a:p>
            <a:pPr>
              <a:defRPr/>
            </a:pPr>
            <a:fld id="{678F5163-C656-473B-B777-1CB2988EDEAF}" type="datetimeFigureOut">
              <a:rPr lang="zh-CN" altLang="en-US"/>
              <a:pPr>
                <a:defRPr/>
              </a:pPr>
              <a:t>2016/9/25</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FAD54F3C-AD27-4DC2-9804-19E94EEF9845}" type="slidenum">
              <a:rPr lang="zh-CN" altLang="en-US"/>
              <a:pPr>
                <a:defRPr/>
              </a:pPr>
              <a:t>‹#›</a:t>
            </a:fld>
            <a:endParaRPr lang="zh-CN" altLang="en-US"/>
          </a:p>
        </p:txBody>
      </p:sp>
    </p:spTree>
    <p:extLst>
      <p:ext uri="{BB962C8B-B14F-4D97-AF65-F5344CB8AC3E}">
        <p14:creationId xmlns:p14="http://schemas.microsoft.com/office/powerpoint/2010/main" val="2346484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pPr>
              <a:defRPr/>
            </a:pPr>
            <a:fld id="{7D8DE620-412A-4441-85E7-C08F0E8EE73A}" type="datetimeFigureOut">
              <a:rPr lang="zh-CN" altLang="en-US"/>
              <a:pPr>
                <a:defRPr/>
              </a:pPr>
              <a:t>2016/9/25</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4F5BFCE0-1110-41B1-BF5B-39D98B9FAAB2}" type="slidenum">
              <a:rPr lang="zh-CN" altLang="en-US"/>
              <a:pPr>
                <a:defRPr/>
              </a:pPr>
              <a:t>‹#›</a:t>
            </a:fld>
            <a:endParaRPr lang="zh-CN" altLang="en-US"/>
          </a:p>
        </p:txBody>
      </p:sp>
    </p:spTree>
    <p:extLst>
      <p:ext uri="{BB962C8B-B14F-4D97-AF65-F5344CB8AC3E}">
        <p14:creationId xmlns:p14="http://schemas.microsoft.com/office/powerpoint/2010/main" val="16742052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3"/>
          <p:cNvSpPr>
            <a:spLocks noGrp="1"/>
          </p:cNvSpPr>
          <p:nvPr>
            <p:ph type="dt" sz="half" idx="10"/>
          </p:nvPr>
        </p:nvSpPr>
        <p:spPr/>
        <p:txBody>
          <a:bodyPr/>
          <a:lstStyle>
            <a:lvl1pPr>
              <a:defRPr/>
            </a:lvl1pPr>
          </a:lstStyle>
          <a:p>
            <a:pPr>
              <a:defRPr/>
            </a:pPr>
            <a:fld id="{54357421-515C-4555-A2B9-EBA7D9CB9862}" type="datetimeFigureOut">
              <a:rPr lang="zh-CN" altLang="en-US"/>
              <a:pPr>
                <a:defRPr/>
              </a:pPr>
              <a:t>2016/9/25</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05B2ED3F-5062-4CCF-8F54-B65A05A8D089}" type="slidenum">
              <a:rPr lang="zh-CN" altLang="en-US"/>
              <a:pPr>
                <a:defRPr/>
              </a:pPr>
              <a:t>‹#›</a:t>
            </a:fld>
            <a:endParaRPr lang="zh-CN" altLang="en-US"/>
          </a:p>
        </p:txBody>
      </p:sp>
    </p:spTree>
    <p:extLst>
      <p:ext uri="{BB962C8B-B14F-4D97-AF65-F5344CB8AC3E}">
        <p14:creationId xmlns:p14="http://schemas.microsoft.com/office/powerpoint/2010/main" val="1006242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3"/>
          <p:cNvSpPr>
            <a:spLocks noGrp="1"/>
          </p:cNvSpPr>
          <p:nvPr>
            <p:ph type="dt" sz="half" idx="10"/>
          </p:nvPr>
        </p:nvSpPr>
        <p:spPr/>
        <p:txBody>
          <a:bodyPr/>
          <a:lstStyle>
            <a:lvl1pPr>
              <a:defRPr/>
            </a:lvl1pPr>
          </a:lstStyle>
          <a:p>
            <a:pPr>
              <a:defRPr/>
            </a:pPr>
            <a:fld id="{29E82B93-3F72-4429-BB94-AF01506AF66A}" type="datetimeFigureOut">
              <a:rPr lang="zh-CN" altLang="en-US"/>
              <a:pPr>
                <a:defRPr/>
              </a:pPr>
              <a:t>2016/9/25</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3E59B813-CED0-496B-9226-D92FBBA104CA}" type="slidenum">
              <a:rPr lang="zh-CN" altLang="en-US"/>
              <a:pPr>
                <a:defRPr/>
              </a:pPr>
              <a:t>‹#›</a:t>
            </a:fld>
            <a:endParaRPr lang="zh-CN" altLang="en-US"/>
          </a:p>
        </p:txBody>
      </p:sp>
    </p:spTree>
    <p:extLst>
      <p:ext uri="{BB962C8B-B14F-4D97-AF65-F5344CB8AC3E}">
        <p14:creationId xmlns:p14="http://schemas.microsoft.com/office/powerpoint/2010/main" val="38980574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fld id="{7F2279DF-73AD-4391-AE9A-2F3BE3D9FCCC}" type="datetimeFigureOut">
              <a:rPr lang="zh-CN" altLang="en-US"/>
              <a:pPr>
                <a:defRPr/>
              </a:pPr>
              <a:t>2016/9/25</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C1E713DD-EBA8-4D59-B91B-5E4D9BE2C431}" type="slidenum">
              <a:rPr lang="zh-CN" altLang="en-US"/>
              <a:pPr>
                <a:defRPr/>
              </a:pPr>
              <a:t>‹#›</a:t>
            </a:fld>
            <a:endParaRPr lang="zh-CN" altLang="en-US"/>
          </a:p>
        </p:txBody>
      </p:sp>
    </p:spTree>
    <p:extLst>
      <p:ext uri="{BB962C8B-B14F-4D97-AF65-F5344CB8AC3E}">
        <p14:creationId xmlns:p14="http://schemas.microsoft.com/office/powerpoint/2010/main" val="34471569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7D87908A-FC13-485C-B3BB-DD2BD6A47086}" type="datetimeFigureOut">
              <a:rPr lang="zh-CN" altLang="en-US"/>
              <a:pPr>
                <a:defRPr/>
              </a:pPr>
              <a:t>2016/9/25</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36F6361E-989A-4CBA-80E1-32F7429C8565}" type="slidenum">
              <a:rPr lang="zh-CN" altLang="en-US"/>
              <a:pPr>
                <a:defRPr/>
              </a:pPr>
              <a:t>‹#›</a:t>
            </a:fld>
            <a:endParaRPr lang="zh-CN" altLang="en-US"/>
          </a:p>
        </p:txBody>
      </p:sp>
    </p:spTree>
    <p:extLst>
      <p:ext uri="{BB962C8B-B14F-4D97-AF65-F5344CB8AC3E}">
        <p14:creationId xmlns:p14="http://schemas.microsoft.com/office/powerpoint/2010/main" val="25598135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fld id="{6157D516-EFD6-4D94-9F5F-F1CE5CA9F05E}" type="datetimeFigureOut">
              <a:rPr lang="zh-CN" altLang="en-US"/>
              <a:pPr>
                <a:defRPr/>
              </a:pPr>
              <a:t>2016/9/25</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1E29D173-7221-4C59-AC8C-5A822C8E4C17}" type="slidenum">
              <a:rPr lang="zh-CN" altLang="en-US"/>
              <a:pPr>
                <a:defRPr/>
              </a:pPr>
              <a:t>‹#›</a:t>
            </a:fld>
            <a:endParaRPr lang="zh-CN" altLang="en-US"/>
          </a:p>
        </p:txBody>
      </p:sp>
    </p:spTree>
    <p:extLst>
      <p:ext uri="{BB962C8B-B14F-4D97-AF65-F5344CB8AC3E}">
        <p14:creationId xmlns:p14="http://schemas.microsoft.com/office/powerpoint/2010/main" val="30384083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fld id="{A5D8AA25-E2F3-4E6C-82B2-EF9BDBDF1CBF}" type="datetimeFigureOut">
              <a:rPr lang="zh-CN" altLang="en-US"/>
              <a:pPr>
                <a:defRPr/>
              </a:pPr>
              <a:t>2016/9/25</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03F47F2D-7988-44F4-A88D-3D5D4301266C}" type="slidenum">
              <a:rPr lang="zh-CN" altLang="en-US"/>
              <a:pPr>
                <a:defRPr/>
              </a:pPr>
              <a:t>‹#›</a:t>
            </a:fld>
            <a:endParaRPr lang="zh-CN" altLang="en-US"/>
          </a:p>
        </p:txBody>
      </p:sp>
    </p:spTree>
    <p:extLst>
      <p:ext uri="{BB962C8B-B14F-4D97-AF65-F5344CB8AC3E}">
        <p14:creationId xmlns:p14="http://schemas.microsoft.com/office/powerpoint/2010/main" val="10540475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FE7F77A5-F2EA-46BC-A002-3CD2C6D39266}" type="datetimeFigureOut">
              <a:rPr lang="zh-CN" altLang="en-US"/>
              <a:pPr>
                <a:defRPr/>
              </a:pPr>
              <a:t>2016/9/25</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FD85D714-C6A0-41DE-A891-C3936568914C}" type="slidenum">
              <a:rPr lang="zh-CN" altLang="en-US"/>
              <a:pPr>
                <a:defRPr/>
              </a:pPr>
              <a:t>‹#›</a:t>
            </a:fld>
            <a:endParaRPr lang="zh-CN" altLang="en-US"/>
          </a:p>
        </p:txBody>
      </p:sp>
    </p:spTree>
    <p:extLst>
      <p:ext uri="{BB962C8B-B14F-4D97-AF65-F5344CB8AC3E}">
        <p14:creationId xmlns:p14="http://schemas.microsoft.com/office/powerpoint/2010/main" val="6795135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3310D5F2-1EBE-43B0-B43E-D20B7CCEE42C}" type="datetimeFigureOut">
              <a:rPr lang="zh-CN" altLang="en-US"/>
              <a:pPr>
                <a:defRPr/>
              </a:pPr>
              <a:t>2016/9/25</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A7148BE5-B896-486F-B0A2-43D139B4115C}" type="slidenum">
              <a:rPr lang="zh-CN" altLang="en-US"/>
              <a:pPr>
                <a:defRPr/>
              </a:pPr>
              <a:t>‹#›</a:t>
            </a:fld>
            <a:endParaRPr lang="zh-CN" altLang="en-US"/>
          </a:p>
        </p:txBody>
      </p:sp>
    </p:spTree>
    <p:extLst>
      <p:ext uri="{BB962C8B-B14F-4D97-AF65-F5344CB8AC3E}">
        <p14:creationId xmlns:p14="http://schemas.microsoft.com/office/powerpoint/2010/main" val="28630176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107950" y="44450"/>
            <a:ext cx="7343775"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文本占位符 2"/>
          <p:cNvSpPr>
            <a:spLocks noGrp="1"/>
          </p:cNvSpPr>
          <p:nvPr>
            <p:ph type="body" idx="1"/>
          </p:nvPr>
        </p:nvSpPr>
        <p:spPr bwMode="auto">
          <a:xfrm>
            <a:off x="107950" y="908050"/>
            <a:ext cx="89281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AA8DB01C-7FF7-492D-BFAD-5038C7063A70}" type="datetimeFigureOut">
              <a:rPr lang="zh-CN" altLang="en-US"/>
              <a:pPr>
                <a:defRPr/>
              </a:pPr>
              <a:t>2016/9/25</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defRPr>
            </a:lvl1pPr>
          </a:lstStyle>
          <a:p>
            <a:pPr>
              <a:defRPr/>
            </a:pPr>
            <a:fld id="{5884AA98-5CAB-455C-A72D-EFC99A661D6C}" type="slidenum">
              <a:rPr lang="zh-CN" altLang="en-US"/>
              <a:pPr>
                <a:defRPr/>
              </a:pPr>
              <a:t>‹#›</a:t>
            </a:fld>
            <a:endParaRPr lang="zh-CN" altLang="en-US"/>
          </a:p>
        </p:txBody>
      </p:sp>
      <p:pic>
        <p:nvPicPr>
          <p:cNvPr id="1031" name="图片 13"/>
          <p:cNvPicPr>
            <a:picLocks noChangeAspect="1"/>
          </p:cNvPicPr>
          <p:nvPr/>
        </p:nvPicPr>
        <p:blipFill>
          <a:blip r:embed="rId13">
            <a:extLst>
              <a:ext uri="{28A0092B-C50C-407E-A947-70E740481C1C}">
                <a14:useLocalDpi xmlns:a14="http://schemas.microsoft.com/office/drawing/2010/main" val="0"/>
              </a:ext>
            </a:extLst>
          </a:blip>
          <a:srcRect/>
          <a:stretch>
            <a:fillRect/>
          </a:stretch>
        </p:blipFill>
        <p:spPr bwMode="auto">
          <a:xfrm>
            <a:off x="12700" y="6165850"/>
            <a:ext cx="9144000"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Line 41"/>
          <p:cNvSpPr>
            <a:spLocks noChangeShapeType="1"/>
          </p:cNvSpPr>
          <p:nvPr/>
        </p:nvSpPr>
        <p:spPr bwMode="auto">
          <a:xfrm>
            <a:off x="179388" y="836613"/>
            <a:ext cx="7272337" cy="0"/>
          </a:xfrm>
          <a:prstGeom prst="line">
            <a:avLst/>
          </a:prstGeom>
          <a:ln>
            <a:headEnd/>
            <a:tailEnd/>
          </a:ln>
        </p:spPr>
        <p:style>
          <a:lnRef idx="2">
            <a:schemeClr val="dk1"/>
          </a:lnRef>
          <a:fillRef idx="0">
            <a:schemeClr val="dk1"/>
          </a:fillRef>
          <a:effectRef idx="1">
            <a:schemeClr val="dk1"/>
          </a:effectRef>
          <a:fontRef idx="minor">
            <a:schemeClr val="tx1"/>
          </a:fontRef>
        </p:style>
        <p:txBody>
          <a:bodyPr/>
          <a:lstStyle/>
          <a:p>
            <a:pPr fontAlgn="auto">
              <a:spcBef>
                <a:spcPts val="0"/>
              </a:spcBef>
              <a:spcAft>
                <a:spcPts val="0"/>
              </a:spcAft>
              <a:defRPr/>
            </a:pPr>
            <a:endParaRPr lang="zh-CN" altLang="en-US"/>
          </a:p>
        </p:txBody>
      </p:sp>
      <p:pic>
        <p:nvPicPr>
          <p:cNvPr id="1033" name="图片 15"/>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8105775" y="44450"/>
            <a:ext cx="10033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55"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Lst>
  <p:txStyles>
    <p:titleStyle>
      <a:lvl1pPr algn="l" rtl="0" eaLnBrk="0" fontAlgn="base" hangingPunct="0">
        <a:spcBef>
          <a:spcPct val="0"/>
        </a:spcBef>
        <a:spcAft>
          <a:spcPct val="0"/>
        </a:spcAft>
        <a:defRPr sz="3600" b="1" kern="1200">
          <a:solidFill>
            <a:srgbClr val="002060"/>
          </a:solidFill>
          <a:latin typeface="Calibri" panose="020F0502020204030204" pitchFamily="34" charset="0"/>
          <a:ea typeface="楷体_GB2312" panose="02010609030101010101" pitchFamily="49" charset="-122"/>
          <a:cs typeface="+mj-cs"/>
        </a:defRPr>
      </a:lvl1pPr>
      <a:lvl2pPr algn="l" rtl="0" eaLnBrk="0" fontAlgn="base" hangingPunct="0">
        <a:spcBef>
          <a:spcPct val="0"/>
        </a:spcBef>
        <a:spcAft>
          <a:spcPct val="0"/>
        </a:spcAft>
        <a:defRPr sz="3600" b="1">
          <a:solidFill>
            <a:srgbClr val="002060"/>
          </a:solidFill>
          <a:latin typeface="Calibri" pitchFamily="34" charset="0"/>
          <a:ea typeface="楷体_GB2312" pitchFamily="49" charset="-122"/>
        </a:defRPr>
      </a:lvl2pPr>
      <a:lvl3pPr algn="l" rtl="0" eaLnBrk="0" fontAlgn="base" hangingPunct="0">
        <a:spcBef>
          <a:spcPct val="0"/>
        </a:spcBef>
        <a:spcAft>
          <a:spcPct val="0"/>
        </a:spcAft>
        <a:defRPr sz="3600" b="1">
          <a:solidFill>
            <a:srgbClr val="002060"/>
          </a:solidFill>
          <a:latin typeface="Calibri" pitchFamily="34" charset="0"/>
          <a:ea typeface="楷体_GB2312" pitchFamily="49" charset="-122"/>
        </a:defRPr>
      </a:lvl3pPr>
      <a:lvl4pPr algn="l" rtl="0" eaLnBrk="0" fontAlgn="base" hangingPunct="0">
        <a:spcBef>
          <a:spcPct val="0"/>
        </a:spcBef>
        <a:spcAft>
          <a:spcPct val="0"/>
        </a:spcAft>
        <a:defRPr sz="3600" b="1">
          <a:solidFill>
            <a:srgbClr val="002060"/>
          </a:solidFill>
          <a:latin typeface="Calibri" pitchFamily="34" charset="0"/>
          <a:ea typeface="楷体_GB2312" pitchFamily="49" charset="-122"/>
        </a:defRPr>
      </a:lvl4pPr>
      <a:lvl5pPr algn="l" rtl="0" eaLnBrk="0" fontAlgn="base" hangingPunct="0">
        <a:spcBef>
          <a:spcPct val="0"/>
        </a:spcBef>
        <a:spcAft>
          <a:spcPct val="0"/>
        </a:spcAft>
        <a:defRPr sz="3600" b="1">
          <a:solidFill>
            <a:srgbClr val="002060"/>
          </a:solidFill>
          <a:latin typeface="Calibri" pitchFamily="34" charset="0"/>
          <a:ea typeface="楷体_GB2312" pitchFamily="49" charset="-122"/>
        </a:defRPr>
      </a:lvl5pPr>
      <a:lvl6pPr marL="457200" algn="l" rtl="0" fontAlgn="base">
        <a:spcBef>
          <a:spcPct val="0"/>
        </a:spcBef>
        <a:spcAft>
          <a:spcPct val="0"/>
        </a:spcAft>
        <a:defRPr sz="3600" b="1">
          <a:solidFill>
            <a:srgbClr val="002060"/>
          </a:solidFill>
          <a:latin typeface="Calibri" pitchFamily="34" charset="0"/>
          <a:ea typeface="楷体_GB2312" pitchFamily="49" charset="-122"/>
        </a:defRPr>
      </a:lvl6pPr>
      <a:lvl7pPr marL="914400" algn="l" rtl="0" fontAlgn="base">
        <a:spcBef>
          <a:spcPct val="0"/>
        </a:spcBef>
        <a:spcAft>
          <a:spcPct val="0"/>
        </a:spcAft>
        <a:defRPr sz="3600" b="1">
          <a:solidFill>
            <a:srgbClr val="002060"/>
          </a:solidFill>
          <a:latin typeface="Calibri" pitchFamily="34" charset="0"/>
          <a:ea typeface="楷体_GB2312" pitchFamily="49" charset="-122"/>
        </a:defRPr>
      </a:lvl7pPr>
      <a:lvl8pPr marL="1371600" algn="l" rtl="0" fontAlgn="base">
        <a:spcBef>
          <a:spcPct val="0"/>
        </a:spcBef>
        <a:spcAft>
          <a:spcPct val="0"/>
        </a:spcAft>
        <a:defRPr sz="3600" b="1">
          <a:solidFill>
            <a:srgbClr val="002060"/>
          </a:solidFill>
          <a:latin typeface="Calibri" pitchFamily="34" charset="0"/>
          <a:ea typeface="楷体_GB2312" pitchFamily="49" charset="-122"/>
        </a:defRPr>
      </a:lvl8pPr>
      <a:lvl9pPr marL="1828800" algn="l" rtl="0" fontAlgn="base">
        <a:spcBef>
          <a:spcPct val="0"/>
        </a:spcBef>
        <a:spcAft>
          <a:spcPct val="0"/>
        </a:spcAft>
        <a:defRPr sz="3600" b="1">
          <a:solidFill>
            <a:srgbClr val="002060"/>
          </a:solidFill>
          <a:latin typeface="Calibri" pitchFamily="34" charset="0"/>
          <a:ea typeface="楷体_GB2312" pitchFamily="49" charset="-122"/>
        </a:defRPr>
      </a:lvl9pPr>
    </p:titleStyle>
    <p:bodyStyle>
      <a:lvl1pPr marL="342900" indent="-342900" algn="l" rtl="0" eaLnBrk="0" fontAlgn="base" hangingPunct="0">
        <a:spcBef>
          <a:spcPct val="20000"/>
        </a:spcBef>
        <a:spcAft>
          <a:spcPct val="0"/>
        </a:spcAft>
        <a:buFont typeface="Wingdings" pitchFamily="2" charset="2"/>
        <a:buChar char="Ø"/>
        <a:defRPr sz="3200" kern="1200">
          <a:solidFill>
            <a:srgbClr val="4F6228"/>
          </a:solidFill>
          <a:latin typeface="Calibri" panose="020F0502020204030204" pitchFamily="34" charset="0"/>
          <a:ea typeface="楷体_GB2312" panose="02010609030101010101" pitchFamily="49" charset="-122"/>
          <a:cs typeface="+mn-cs"/>
        </a:defRPr>
      </a:lvl1pPr>
      <a:lvl2pPr marL="742950" indent="-285750" algn="l" rtl="0" eaLnBrk="0" fontAlgn="base" hangingPunct="0">
        <a:spcBef>
          <a:spcPct val="20000"/>
        </a:spcBef>
        <a:spcAft>
          <a:spcPct val="0"/>
        </a:spcAft>
        <a:buFont typeface="Wingdings" pitchFamily="2" charset="2"/>
        <a:buChar char="ü"/>
        <a:defRPr sz="2800" kern="1200">
          <a:solidFill>
            <a:srgbClr val="4F6228"/>
          </a:solidFill>
          <a:latin typeface="Calibri" panose="020F0502020204030204" pitchFamily="34" charset="0"/>
          <a:ea typeface="楷体_GB2312" panose="02010609030101010101" pitchFamily="49" charset="-122"/>
          <a:cs typeface="+mn-cs"/>
        </a:defRPr>
      </a:lvl2pPr>
      <a:lvl3pPr marL="1143000" indent="-228600" algn="l" rtl="0" eaLnBrk="0" fontAlgn="base" hangingPunct="0">
        <a:spcBef>
          <a:spcPct val="20000"/>
        </a:spcBef>
        <a:spcAft>
          <a:spcPct val="0"/>
        </a:spcAft>
        <a:buFont typeface="Arial" charset="0"/>
        <a:buChar char="•"/>
        <a:defRPr sz="2400" kern="1200">
          <a:solidFill>
            <a:srgbClr val="4F6228"/>
          </a:solidFill>
          <a:latin typeface="Calibri" panose="020F0502020204030204" pitchFamily="34" charset="0"/>
          <a:ea typeface="楷体_GB2312" panose="02010609030101010101" pitchFamily="49" charset="-122"/>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标题 1"/>
          <p:cNvSpPr>
            <a:spLocks noGrp="1"/>
          </p:cNvSpPr>
          <p:nvPr>
            <p:ph type="ctrTitle"/>
          </p:nvPr>
        </p:nvSpPr>
        <p:spPr/>
        <p:txBody>
          <a:bodyPr/>
          <a:lstStyle/>
          <a:p>
            <a:pPr algn="ctr" eaLnBrk="1" hangingPunct="1"/>
            <a:r>
              <a:rPr lang="zh-CN" altLang="en-US" sz="8000" dirty="0"/>
              <a:t>第</a:t>
            </a:r>
            <a:r>
              <a:rPr lang="en-US" altLang="zh-CN" sz="8000" dirty="0"/>
              <a:t>3</a:t>
            </a:r>
            <a:r>
              <a:rPr lang="zh-CN" altLang="en-US" sz="8000" dirty="0"/>
              <a:t>章 </a:t>
            </a:r>
            <a:r>
              <a:rPr lang="en-US" altLang="zh-CN" sz="8000" dirty="0"/>
              <a:t>CAN</a:t>
            </a:r>
            <a:r>
              <a:rPr lang="zh-CN" altLang="en-US" sz="8000" dirty="0"/>
              <a:t>总线</a:t>
            </a:r>
            <a:endParaRPr lang="zh-CN" altLang="en-US" sz="8000" dirty="0" smtClean="0">
              <a:latin typeface="华文行楷" pitchFamily="2" charset="-122"/>
              <a:ea typeface="华文行楷" pitchFamily="2" charset="-122"/>
            </a:endParaRPr>
          </a:p>
        </p:txBody>
      </p:sp>
      <p:sp>
        <p:nvSpPr>
          <p:cNvPr id="3" name="副标题 2"/>
          <p:cNvSpPr>
            <a:spLocks noGrp="1"/>
          </p:cNvSpPr>
          <p:nvPr>
            <p:ph type="subTitle" idx="1"/>
          </p:nvPr>
        </p:nvSpPr>
        <p:spPr>
          <a:xfrm>
            <a:off x="2736850" y="4437063"/>
            <a:ext cx="6400800" cy="1752600"/>
          </a:xfrm>
        </p:spPr>
        <p:txBody>
          <a:bodyPr rtlCol="0">
            <a:normAutofit/>
          </a:bodyPr>
          <a:lstStyle/>
          <a:p>
            <a:pPr eaLnBrk="1" fontAlgn="auto" hangingPunct="1">
              <a:spcAft>
                <a:spcPts val="0"/>
              </a:spcAft>
              <a:buFont typeface="Arial" pitchFamily="34" charset="0"/>
              <a:buNone/>
              <a:defRPr/>
            </a:pPr>
            <a:r>
              <a:rPr lang="zh-CN" altLang="en-US" b="1" dirty="0" smtClean="0">
                <a:latin typeface="楷体" panose="02010609060101010101" pitchFamily="49" charset="-122"/>
                <a:ea typeface="楷体" panose="02010609060101010101" pitchFamily="49" charset="-122"/>
              </a:rPr>
              <a:t>主讲教师：张筱磊</a:t>
            </a:r>
            <a:endParaRPr lang="zh-CN" altLang="en-US" b="1" dirty="0">
              <a:latin typeface="楷体" panose="02010609060101010101" pitchFamily="49" charset="-122"/>
              <a:ea typeface="楷体" panose="02010609060101010101" pitchFamily="49" charset="-122"/>
            </a:endParaRPr>
          </a:p>
        </p:txBody>
      </p:sp>
    </p:spTree>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p:cNvSpPr>
            <a:spLocks noGrp="1"/>
          </p:cNvSpPr>
          <p:nvPr>
            <p:ph type="title"/>
          </p:nvPr>
        </p:nvSpPr>
        <p:spPr/>
        <p:txBody>
          <a:bodyPr/>
          <a:lstStyle/>
          <a:p>
            <a:pPr eaLnBrk="1" hangingPunct="1"/>
            <a:r>
              <a:rPr lang="zh-CN" altLang="en-US" dirty="0" smtClean="0"/>
              <a:t>第</a:t>
            </a:r>
            <a:r>
              <a:rPr lang="en-US" altLang="zh-CN" dirty="0" smtClean="0"/>
              <a:t>3</a:t>
            </a:r>
            <a:r>
              <a:rPr lang="zh-CN" altLang="en-US" dirty="0" smtClean="0"/>
              <a:t>章 </a:t>
            </a:r>
            <a:r>
              <a:rPr lang="en-US" altLang="zh-CN" dirty="0" smtClean="0"/>
              <a:t>CAN</a:t>
            </a:r>
            <a:r>
              <a:rPr lang="zh-CN" altLang="en-US" dirty="0" smtClean="0"/>
              <a:t>总线</a:t>
            </a:r>
          </a:p>
        </p:txBody>
      </p:sp>
      <p:sp>
        <p:nvSpPr>
          <p:cNvPr id="4099" name="内容占位符 2"/>
          <p:cNvSpPr>
            <a:spLocks noGrp="1"/>
          </p:cNvSpPr>
          <p:nvPr>
            <p:ph idx="1"/>
          </p:nvPr>
        </p:nvSpPr>
        <p:spPr/>
        <p:txBody>
          <a:bodyPr/>
          <a:lstStyle/>
          <a:p>
            <a:pPr eaLnBrk="1" hangingPunct="1"/>
            <a:r>
              <a:rPr lang="en-US" altLang="zh-CN" dirty="0" smtClean="0">
                <a:solidFill>
                  <a:srgbClr val="FF0000"/>
                </a:solidFill>
              </a:rPr>
              <a:t>3.1 </a:t>
            </a:r>
            <a:r>
              <a:rPr lang="zh-CN" altLang="en-US" dirty="0" smtClean="0">
                <a:solidFill>
                  <a:srgbClr val="FF0000"/>
                </a:solidFill>
              </a:rPr>
              <a:t>概述</a:t>
            </a:r>
          </a:p>
        </p:txBody>
      </p:sp>
    </p:spTree>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r>
              <a:rPr lang="en-US" altLang="zh-CN" smtClean="0"/>
              <a:t>3.1 </a:t>
            </a:r>
            <a:r>
              <a:rPr lang="zh-CN" altLang="en-US" smtClean="0"/>
              <a:t>概述</a:t>
            </a:r>
          </a:p>
        </p:txBody>
      </p:sp>
      <p:sp>
        <p:nvSpPr>
          <p:cNvPr id="5123" name="内容占位符 2"/>
          <p:cNvSpPr>
            <a:spLocks noGrp="1"/>
          </p:cNvSpPr>
          <p:nvPr>
            <p:ph idx="1"/>
          </p:nvPr>
        </p:nvSpPr>
        <p:spPr/>
        <p:txBody>
          <a:bodyPr/>
          <a:lstStyle/>
          <a:p>
            <a:r>
              <a:rPr lang="zh-CN" altLang="zh-CN" b="1" dirty="0" smtClean="0">
                <a:solidFill>
                  <a:srgbClr val="C00000"/>
                </a:solidFill>
              </a:rPr>
              <a:t>CAN</a:t>
            </a:r>
            <a:r>
              <a:rPr lang="zh-CN" altLang="zh-CN" b="1" dirty="0" smtClean="0"/>
              <a:t>（Controller Area Network控制器局域网）</a:t>
            </a:r>
            <a:endParaRPr lang="en-US" altLang="zh-CN" b="1" dirty="0" smtClean="0"/>
          </a:p>
          <a:p>
            <a:pPr lvl="1">
              <a:buFont typeface="Arial" panose="020B0604020202020204" pitchFamily="34" charset="0"/>
              <a:buChar char="•"/>
            </a:pPr>
            <a:r>
              <a:rPr lang="zh-CN" altLang="en-US" b="1" dirty="0" smtClean="0">
                <a:solidFill>
                  <a:srgbClr val="FF0000"/>
                </a:solidFill>
              </a:rPr>
              <a:t>发展历程</a:t>
            </a:r>
            <a:endParaRPr lang="en-US" altLang="zh-CN" b="1" dirty="0" smtClean="0">
              <a:solidFill>
                <a:srgbClr val="FF0000"/>
              </a:solidFill>
            </a:endParaRPr>
          </a:p>
          <a:p>
            <a:pPr lvl="2">
              <a:buFont typeface="Wingdings" panose="05000000000000000000" pitchFamily="2" charset="2"/>
              <a:buChar char="ü"/>
            </a:pPr>
            <a:r>
              <a:rPr lang="en-US" altLang="zh-CN" b="1" dirty="0" smtClean="0">
                <a:solidFill>
                  <a:schemeClr val="bg2">
                    <a:lumMod val="10000"/>
                  </a:schemeClr>
                </a:solidFill>
              </a:rPr>
              <a:t>20</a:t>
            </a:r>
            <a:r>
              <a:rPr lang="zh-CN" altLang="en-US" b="1" dirty="0" smtClean="0">
                <a:solidFill>
                  <a:schemeClr val="bg2">
                    <a:lumMod val="10000"/>
                  </a:schemeClr>
                </a:solidFill>
              </a:rPr>
              <a:t>世纪</a:t>
            </a:r>
            <a:r>
              <a:rPr lang="en-US" altLang="zh-CN" b="1" dirty="0" smtClean="0">
                <a:solidFill>
                  <a:schemeClr val="bg2">
                    <a:lumMod val="10000"/>
                  </a:schemeClr>
                </a:solidFill>
              </a:rPr>
              <a:t>80</a:t>
            </a:r>
            <a:r>
              <a:rPr lang="zh-CN" altLang="en-US" b="1" dirty="0" smtClean="0">
                <a:solidFill>
                  <a:schemeClr val="bg2">
                    <a:lumMod val="10000"/>
                  </a:schemeClr>
                </a:solidFill>
              </a:rPr>
              <a:t>年代初，当时大部分通信技术无法满足</a:t>
            </a:r>
            <a:r>
              <a:rPr lang="en-US" altLang="zh-CN" b="1" dirty="0" smtClean="0">
                <a:solidFill>
                  <a:schemeClr val="bg2">
                    <a:lumMod val="10000"/>
                  </a:schemeClr>
                </a:solidFill>
              </a:rPr>
              <a:t>(</a:t>
            </a:r>
            <a:r>
              <a:rPr lang="zh-CN" altLang="en-US" b="1" dirty="0" smtClean="0">
                <a:solidFill>
                  <a:schemeClr val="bg2">
                    <a:lumMod val="10000"/>
                  </a:schemeClr>
                </a:solidFill>
              </a:rPr>
              <a:t>汽</a:t>
            </a:r>
            <a:r>
              <a:rPr lang="en-US" altLang="zh-CN" b="1" dirty="0" smtClean="0">
                <a:solidFill>
                  <a:schemeClr val="bg2">
                    <a:lumMod val="10000"/>
                  </a:schemeClr>
                </a:solidFill>
              </a:rPr>
              <a:t>)</a:t>
            </a:r>
            <a:r>
              <a:rPr lang="zh-CN" altLang="en-US" b="1" dirty="0" smtClean="0">
                <a:solidFill>
                  <a:schemeClr val="bg2">
                    <a:lumMod val="10000"/>
                  </a:schemeClr>
                </a:solidFill>
              </a:rPr>
              <a:t>车内通信需求，</a:t>
            </a:r>
            <a:r>
              <a:rPr lang="en-US" altLang="zh-CN" b="1" dirty="0" smtClean="0">
                <a:solidFill>
                  <a:schemeClr val="bg2">
                    <a:lumMod val="10000"/>
                  </a:schemeClr>
                </a:solidFill>
              </a:rPr>
              <a:t>Bosch GmbH </a:t>
            </a:r>
            <a:r>
              <a:rPr lang="zh-CN" altLang="en-US" b="1" dirty="0" smtClean="0">
                <a:solidFill>
                  <a:schemeClr val="bg2">
                    <a:lumMod val="10000"/>
                  </a:schemeClr>
                </a:solidFill>
              </a:rPr>
              <a:t>提出开发新的串行总线系统；学术界参与，</a:t>
            </a:r>
            <a:r>
              <a:rPr lang="en-US" altLang="zh-CN" b="1" dirty="0" smtClean="0">
                <a:solidFill>
                  <a:schemeClr val="bg2">
                    <a:lumMod val="10000"/>
                  </a:schemeClr>
                </a:solidFill>
              </a:rPr>
              <a:t>Intel</a:t>
            </a:r>
            <a:r>
              <a:rPr lang="zh-CN" altLang="en-US" b="1" dirty="0" smtClean="0">
                <a:solidFill>
                  <a:schemeClr val="bg2">
                    <a:lumMod val="10000"/>
                  </a:schemeClr>
                </a:solidFill>
              </a:rPr>
              <a:t>也部分参与；</a:t>
            </a:r>
            <a:endParaRPr lang="en-US" altLang="zh-CN" b="1" dirty="0" smtClean="0">
              <a:solidFill>
                <a:schemeClr val="bg2">
                  <a:lumMod val="10000"/>
                </a:schemeClr>
              </a:solidFill>
            </a:endParaRPr>
          </a:p>
          <a:p>
            <a:pPr lvl="2">
              <a:buFont typeface="Wingdings" panose="05000000000000000000" pitchFamily="2" charset="2"/>
              <a:buChar char="ü"/>
            </a:pPr>
            <a:r>
              <a:rPr lang="en-US" altLang="zh-CN" b="1" dirty="0" smtClean="0">
                <a:solidFill>
                  <a:schemeClr val="bg2">
                    <a:lumMod val="10000"/>
                  </a:schemeClr>
                </a:solidFill>
              </a:rPr>
              <a:t>1993</a:t>
            </a:r>
            <a:r>
              <a:rPr lang="zh-CN" altLang="en-US" b="1" dirty="0" smtClean="0">
                <a:solidFill>
                  <a:schemeClr val="bg2">
                    <a:lumMod val="10000"/>
                  </a:schemeClr>
                </a:solidFill>
              </a:rPr>
              <a:t>年，</a:t>
            </a:r>
            <a:r>
              <a:rPr lang="en-US" altLang="zh-CN" b="1" dirty="0" smtClean="0">
                <a:solidFill>
                  <a:schemeClr val="bg2">
                    <a:lumMod val="10000"/>
                  </a:schemeClr>
                </a:solidFill>
              </a:rPr>
              <a:t>CAN Version 2.0</a:t>
            </a:r>
            <a:r>
              <a:rPr lang="zh-CN" altLang="en-US" b="1" dirty="0" smtClean="0">
                <a:solidFill>
                  <a:schemeClr val="bg2">
                    <a:lumMod val="10000"/>
                  </a:schemeClr>
                </a:solidFill>
              </a:rPr>
              <a:t>（</a:t>
            </a:r>
            <a:r>
              <a:rPr lang="en-US" altLang="zh-CN" b="1" dirty="0" smtClean="0">
                <a:solidFill>
                  <a:schemeClr val="bg2">
                    <a:lumMod val="10000"/>
                  </a:schemeClr>
                </a:solidFill>
              </a:rPr>
              <a:t>Bosch</a:t>
            </a:r>
            <a:r>
              <a:rPr lang="zh-CN" altLang="en-US" b="1" dirty="0" smtClean="0">
                <a:solidFill>
                  <a:schemeClr val="bg2">
                    <a:lumMod val="10000"/>
                  </a:schemeClr>
                </a:solidFill>
              </a:rPr>
              <a:t>标准）发展成为</a:t>
            </a:r>
            <a:r>
              <a:rPr lang="en-US" altLang="zh-CN" b="1" dirty="0" smtClean="0">
                <a:solidFill>
                  <a:schemeClr val="bg2">
                    <a:lumMod val="10000"/>
                  </a:schemeClr>
                </a:solidFill>
              </a:rPr>
              <a:t>ISO-11898</a:t>
            </a:r>
            <a:r>
              <a:rPr lang="zh-CN" altLang="en-US" b="1" dirty="0">
                <a:solidFill>
                  <a:schemeClr val="bg2">
                    <a:lumMod val="10000"/>
                  </a:schemeClr>
                </a:solidFill>
              </a:rPr>
              <a:t>；</a:t>
            </a:r>
            <a:r>
              <a:rPr lang="en-US" altLang="zh-CN" b="1" dirty="0" smtClean="0">
                <a:solidFill>
                  <a:schemeClr val="bg2">
                    <a:lumMod val="10000"/>
                  </a:schemeClr>
                </a:solidFill>
              </a:rPr>
              <a:t>1995</a:t>
            </a:r>
            <a:r>
              <a:rPr lang="zh-CN" altLang="en-US" b="1" dirty="0" smtClean="0">
                <a:solidFill>
                  <a:schemeClr val="bg2">
                    <a:lumMod val="10000"/>
                  </a:schemeClr>
                </a:solidFill>
              </a:rPr>
              <a:t>年消息标识符（</a:t>
            </a:r>
            <a:r>
              <a:rPr lang="en-US" altLang="zh-CN" b="1" dirty="0" smtClean="0">
                <a:solidFill>
                  <a:schemeClr val="bg2">
                    <a:lumMod val="10000"/>
                  </a:schemeClr>
                </a:solidFill>
              </a:rPr>
              <a:t>IDs</a:t>
            </a:r>
            <a:r>
              <a:rPr lang="zh-CN" altLang="en-US" b="1" dirty="0" smtClean="0">
                <a:solidFill>
                  <a:schemeClr val="bg2">
                    <a:lumMod val="10000"/>
                  </a:schemeClr>
                </a:solidFill>
              </a:rPr>
              <a:t>）的扩展格式作为附录加入</a:t>
            </a:r>
            <a:r>
              <a:rPr lang="en-US" altLang="zh-CN" b="1" dirty="0" smtClean="0">
                <a:solidFill>
                  <a:schemeClr val="bg2">
                    <a:lumMod val="10000"/>
                  </a:schemeClr>
                </a:solidFill>
              </a:rPr>
              <a:t>ISO-11898;</a:t>
            </a:r>
          </a:p>
          <a:p>
            <a:pPr lvl="2">
              <a:buFont typeface="Wingdings" panose="05000000000000000000" pitchFamily="2" charset="2"/>
              <a:buChar char="ü"/>
            </a:pPr>
            <a:r>
              <a:rPr lang="en-US" altLang="zh-CN" b="1" dirty="0" smtClean="0">
                <a:solidFill>
                  <a:schemeClr val="bg2">
                    <a:lumMod val="10000"/>
                  </a:schemeClr>
                </a:solidFill>
              </a:rPr>
              <a:t>CAN</a:t>
            </a:r>
            <a:r>
              <a:rPr lang="zh-CN" altLang="en-US" b="1" dirty="0" smtClean="0">
                <a:solidFill>
                  <a:schemeClr val="bg2">
                    <a:lumMod val="10000"/>
                  </a:schemeClr>
                </a:solidFill>
              </a:rPr>
              <a:t>标准分为若干单独部分：</a:t>
            </a:r>
            <a:r>
              <a:rPr lang="en-US" altLang="zh-CN" b="1" dirty="0" smtClean="0">
                <a:solidFill>
                  <a:schemeClr val="bg2">
                    <a:lumMod val="10000"/>
                  </a:schemeClr>
                </a:solidFill>
              </a:rPr>
              <a:t>CAN </a:t>
            </a:r>
            <a:r>
              <a:rPr lang="zh-CN" altLang="en-US" b="1" dirty="0" smtClean="0">
                <a:solidFill>
                  <a:schemeClr val="bg2">
                    <a:lumMod val="10000"/>
                  </a:schemeClr>
                </a:solidFill>
              </a:rPr>
              <a:t>数据链路协议；高速（无容错）与低速（有容错）物理层；时间触发通信协议；近年来，又提出了低功耗模式下的</a:t>
            </a:r>
            <a:r>
              <a:rPr lang="zh-CN" altLang="en-US" b="1" dirty="0">
                <a:solidFill>
                  <a:schemeClr val="bg2">
                    <a:lumMod val="10000"/>
                  </a:schemeClr>
                </a:solidFill>
              </a:rPr>
              <a:t>高速</a:t>
            </a:r>
            <a:r>
              <a:rPr lang="zh-CN" altLang="en-US" b="1" dirty="0" smtClean="0">
                <a:solidFill>
                  <a:schemeClr val="bg2">
                    <a:lumMod val="10000"/>
                  </a:schemeClr>
                </a:solidFill>
              </a:rPr>
              <a:t>媒介访问单元内容。</a:t>
            </a:r>
            <a:endParaRPr lang="en-US" altLang="zh-CN" b="1" dirty="0" smtClean="0">
              <a:solidFill>
                <a:schemeClr val="bg2">
                  <a:lumMod val="10000"/>
                </a:schemeClr>
              </a:solidFill>
            </a:endParaRPr>
          </a:p>
          <a:p>
            <a:pPr lvl="2">
              <a:buFont typeface="Wingdings" panose="05000000000000000000" pitchFamily="2" charset="2"/>
              <a:buChar char="ü"/>
            </a:pPr>
            <a:endParaRPr lang="en-US" altLang="zh-CN" dirty="0" smtClean="0">
              <a:solidFill>
                <a:schemeClr val="bg2">
                  <a:lumMod val="10000"/>
                </a:schemeClr>
              </a:solidFill>
            </a:endParaRPr>
          </a:p>
          <a:p>
            <a:pPr lvl="2">
              <a:buFont typeface="Wingdings" panose="05000000000000000000" pitchFamily="2" charset="2"/>
              <a:buChar char="ü"/>
            </a:pPr>
            <a:endParaRPr lang="zh-CN" altLang="en-US" dirty="0">
              <a:solidFill>
                <a:schemeClr val="bg2">
                  <a:lumMod val="10000"/>
                </a:schemeClr>
              </a:solidFill>
            </a:endParaRPr>
          </a:p>
        </p:txBody>
      </p:sp>
    </p:spTree>
  </p:cSld>
  <p:clrMapOvr>
    <a:masterClrMapping/>
  </p:clrMapOvr>
  <p:transition spd="slow">
    <p:push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r>
              <a:rPr lang="en-US" altLang="zh-CN" smtClean="0"/>
              <a:t>3.1 </a:t>
            </a:r>
            <a:r>
              <a:rPr lang="zh-CN" altLang="en-US" smtClean="0"/>
              <a:t>概述</a:t>
            </a:r>
          </a:p>
        </p:txBody>
      </p:sp>
      <p:sp>
        <p:nvSpPr>
          <p:cNvPr id="5123" name="内容占位符 2"/>
          <p:cNvSpPr>
            <a:spLocks noGrp="1"/>
          </p:cNvSpPr>
          <p:nvPr>
            <p:ph idx="1"/>
          </p:nvPr>
        </p:nvSpPr>
        <p:spPr/>
        <p:txBody>
          <a:bodyPr/>
          <a:lstStyle/>
          <a:p>
            <a:r>
              <a:rPr lang="zh-CN" altLang="zh-CN" b="1" dirty="0" smtClean="0">
                <a:solidFill>
                  <a:srgbClr val="C00000"/>
                </a:solidFill>
              </a:rPr>
              <a:t>CAN</a:t>
            </a:r>
            <a:r>
              <a:rPr lang="zh-CN" altLang="zh-CN" b="1" dirty="0" smtClean="0"/>
              <a:t>（Controller Area Network控制器局域网）</a:t>
            </a:r>
            <a:endParaRPr lang="en-US" altLang="zh-CN" b="1" dirty="0" smtClean="0"/>
          </a:p>
          <a:p>
            <a:pPr lvl="1">
              <a:buFont typeface="Arial" panose="020B0604020202020204" pitchFamily="34" charset="0"/>
              <a:buChar char="•"/>
            </a:pPr>
            <a:r>
              <a:rPr lang="zh-CN" altLang="en-US" b="1" dirty="0" smtClean="0">
                <a:solidFill>
                  <a:srgbClr val="FF0000"/>
                </a:solidFill>
              </a:rPr>
              <a:t>主要</a:t>
            </a:r>
            <a:r>
              <a:rPr lang="zh-CN" altLang="en-US" b="1" dirty="0">
                <a:solidFill>
                  <a:srgbClr val="FF0000"/>
                </a:solidFill>
              </a:rPr>
              <a:t>应用</a:t>
            </a:r>
            <a:r>
              <a:rPr lang="zh-CN" altLang="en-US" b="1" dirty="0" smtClean="0">
                <a:solidFill>
                  <a:srgbClr val="FF0000"/>
                </a:solidFill>
              </a:rPr>
              <a:t>领域</a:t>
            </a:r>
            <a:endParaRPr lang="en-US" altLang="zh-CN" b="1" dirty="0">
              <a:solidFill>
                <a:srgbClr val="FF0000"/>
              </a:solidFill>
            </a:endParaRPr>
          </a:p>
          <a:p>
            <a:pPr marL="457200" lvl="1" indent="0">
              <a:buNone/>
            </a:pPr>
            <a:r>
              <a:rPr lang="en-US" altLang="zh-CN" b="1" dirty="0" smtClean="0">
                <a:solidFill>
                  <a:srgbClr val="FF0000"/>
                </a:solidFill>
              </a:rPr>
              <a:t>1. </a:t>
            </a:r>
            <a:r>
              <a:rPr lang="zh-CN" altLang="en-US" b="1" dirty="0">
                <a:solidFill>
                  <a:srgbClr val="FF0000"/>
                </a:solidFill>
              </a:rPr>
              <a:t>汽车</a:t>
            </a:r>
            <a:r>
              <a:rPr lang="zh-CN" altLang="en-US" b="1" dirty="0" smtClean="0">
                <a:solidFill>
                  <a:srgbClr val="FF0000"/>
                </a:solidFill>
              </a:rPr>
              <a:t>工业</a:t>
            </a:r>
            <a:endParaRPr lang="en-US" altLang="zh-CN" b="1" dirty="0" smtClean="0">
              <a:solidFill>
                <a:srgbClr val="FF0000"/>
              </a:solidFill>
            </a:endParaRPr>
          </a:p>
          <a:p>
            <a:pPr lvl="2">
              <a:buFont typeface="Arial" panose="020B0604020202020204" pitchFamily="34" charset="0"/>
              <a:buChar char="•"/>
            </a:pPr>
            <a:r>
              <a:rPr lang="zh-CN" altLang="en-US" b="1" dirty="0" smtClean="0">
                <a:solidFill>
                  <a:schemeClr val="bg2">
                    <a:lumMod val="10000"/>
                  </a:schemeClr>
                </a:solidFill>
              </a:rPr>
              <a:t>绝大多数动力系统生产商使用高速</a:t>
            </a:r>
            <a:r>
              <a:rPr lang="en-US" altLang="zh-CN" b="1" dirty="0" smtClean="0">
                <a:solidFill>
                  <a:schemeClr val="bg2">
                    <a:lumMod val="10000"/>
                  </a:schemeClr>
                </a:solidFill>
              </a:rPr>
              <a:t>CAN</a:t>
            </a:r>
            <a:r>
              <a:rPr lang="zh-CN" altLang="en-US" b="1" dirty="0" smtClean="0">
                <a:solidFill>
                  <a:schemeClr val="bg2">
                    <a:lumMod val="10000"/>
                  </a:schemeClr>
                </a:solidFill>
              </a:rPr>
              <a:t>（遵守 </a:t>
            </a:r>
            <a:r>
              <a:rPr lang="en-US" altLang="zh-CN" b="1" dirty="0" smtClean="0">
                <a:solidFill>
                  <a:schemeClr val="bg2">
                    <a:lumMod val="10000"/>
                  </a:schemeClr>
                </a:solidFill>
              </a:rPr>
              <a:t>ISO11898-2</a:t>
            </a:r>
            <a:r>
              <a:rPr lang="zh-CN" altLang="en-US" b="1" dirty="0" smtClean="0">
                <a:solidFill>
                  <a:schemeClr val="bg2">
                    <a:lumMod val="10000"/>
                  </a:schemeClr>
                </a:solidFill>
              </a:rPr>
              <a:t>物理层，</a:t>
            </a:r>
            <a:r>
              <a:rPr lang="en-US" altLang="zh-CN" b="1" dirty="0" smtClean="0">
                <a:solidFill>
                  <a:schemeClr val="bg2">
                    <a:lumMod val="10000"/>
                  </a:schemeClr>
                </a:solidFill>
              </a:rPr>
              <a:t>500kb/s</a:t>
            </a:r>
            <a:r>
              <a:rPr lang="zh-CN" altLang="en-US" b="1" dirty="0" smtClean="0">
                <a:solidFill>
                  <a:schemeClr val="bg2">
                    <a:lumMod val="10000"/>
                  </a:schemeClr>
                </a:solidFill>
              </a:rPr>
              <a:t>）；</a:t>
            </a:r>
            <a:endParaRPr lang="en-US" altLang="zh-CN" b="1" dirty="0" smtClean="0">
              <a:solidFill>
                <a:schemeClr val="bg2">
                  <a:lumMod val="10000"/>
                </a:schemeClr>
              </a:solidFill>
            </a:endParaRPr>
          </a:p>
          <a:p>
            <a:pPr lvl="2">
              <a:buFont typeface="Arial" panose="020B0604020202020204" pitchFamily="34" charset="0"/>
              <a:buChar char="•"/>
            </a:pPr>
            <a:r>
              <a:rPr lang="zh-CN" altLang="en-US" b="1" dirty="0" smtClean="0">
                <a:solidFill>
                  <a:schemeClr val="bg2">
                    <a:lumMod val="10000"/>
                  </a:schemeClr>
                </a:solidFill>
              </a:rPr>
              <a:t>欧洲的大多数轿车中，车门、天窗、灯光以及座椅控制单元都使用</a:t>
            </a:r>
            <a:r>
              <a:rPr lang="en-US" altLang="zh-CN" b="1" dirty="0" smtClean="0">
                <a:solidFill>
                  <a:schemeClr val="bg2">
                    <a:lumMod val="10000"/>
                  </a:schemeClr>
                </a:solidFill>
              </a:rPr>
              <a:t>CAN</a:t>
            </a:r>
            <a:r>
              <a:rPr lang="zh-CN" altLang="en-US" b="1" dirty="0" smtClean="0">
                <a:solidFill>
                  <a:schemeClr val="bg2">
                    <a:lumMod val="10000"/>
                  </a:schemeClr>
                </a:solidFill>
              </a:rPr>
              <a:t>（基于</a:t>
            </a:r>
            <a:r>
              <a:rPr lang="en-US" altLang="zh-CN" b="1" dirty="0" smtClean="0">
                <a:solidFill>
                  <a:schemeClr val="bg2">
                    <a:lumMod val="10000"/>
                  </a:schemeClr>
                </a:solidFill>
              </a:rPr>
              <a:t>ISO 11898-3</a:t>
            </a:r>
            <a:r>
              <a:rPr lang="zh-CN" altLang="en-US" b="1" dirty="0" smtClean="0">
                <a:solidFill>
                  <a:schemeClr val="bg2">
                    <a:lumMod val="10000"/>
                  </a:schemeClr>
                </a:solidFill>
              </a:rPr>
              <a:t>容错物理层，</a:t>
            </a:r>
            <a:r>
              <a:rPr lang="en-US" altLang="zh-CN" b="1" dirty="0" smtClean="0">
                <a:solidFill>
                  <a:schemeClr val="bg2">
                    <a:lumMod val="10000"/>
                  </a:schemeClr>
                </a:solidFill>
              </a:rPr>
              <a:t>ISO 11898-5</a:t>
            </a:r>
            <a:r>
              <a:rPr lang="zh-CN" altLang="en-US" b="1" dirty="0" smtClean="0">
                <a:solidFill>
                  <a:schemeClr val="bg2">
                    <a:lumMod val="10000"/>
                  </a:schemeClr>
                </a:solidFill>
              </a:rPr>
              <a:t>低功耗高速物理层）；</a:t>
            </a:r>
            <a:endParaRPr lang="en-US" altLang="zh-CN" b="1" dirty="0" smtClean="0">
              <a:solidFill>
                <a:schemeClr val="bg2">
                  <a:lumMod val="10000"/>
                </a:schemeClr>
              </a:solidFill>
            </a:endParaRPr>
          </a:p>
          <a:p>
            <a:pPr lvl="2">
              <a:buFont typeface="Arial" panose="020B0604020202020204" pitchFamily="34" charset="0"/>
              <a:buChar char="•"/>
            </a:pPr>
            <a:r>
              <a:rPr lang="zh-CN" altLang="en-US" b="1" dirty="0" smtClean="0">
                <a:solidFill>
                  <a:schemeClr val="bg2">
                    <a:lumMod val="10000"/>
                  </a:schemeClr>
                </a:solidFill>
              </a:rPr>
              <a:t>车载娱乐系统（</a:t>
            </a:r>
            <a:r>
              <a:rPr lang="en-US" altLang="zh-CN" b="1" dirty="0" smtClean="0">
                <a:solidFill>
                  <a:schemeClr val="bg2">
                    <a:lumMod val="10000"/>
                  </a:schemeClr>
                </a:solidFill>
              </a:rPr>
              <a:t>SAE J2366</a:t>
            </a:r>
            <a:r>
              <a:rPr lang="zh-CN" altLang="en-US" b="1" dirty="0" smtClean="0">
                <a:solidFill>
                  <a:schemeClr val="bg2">
                    <a:lumMod val="10000"/>
                  </a:schemeClr>
                </a:solidFill>
              </a:rPr>
              <a:t>）基于高速</a:t>
            </a:r>
            <a:r>
              <a:rPr lang="en-US" altLang="zh-CN" b="1" dirty="0" smtClean="0">
                <a:solidFill>
                  <a:schemeClr val="bg2">
                    <a:lumMod val="10000"/>
                  </a:schemeClr>
                </a:solidFill>
              </a:rPr>
              <a:t>CAN</a:t>
            </a:r>
            <a:r>
              <a:rPr lang="zh-CN" altLang="en-US" b="1" dirty="0" smtClean="0">
                <a:solidFill>
                  <a:schemeClr val="bg2">
                    <a:lumMod val="10000"/>
                  </a:schemeClr>
                </a:solidFill>
              </a:rPr>
              <a:t>（</a:t>
            </a:r>
            <a:r>
              <a:rPr lang="en-US" altLang="zh-CN" b="1" dirty="0" smtClean="0">
                <a:solidFill>
                  <a:schemeClr val="bg2">
                    <a:lumMod val="10000"/>
                  </a:schemeClr>
                </a:solidFill>
              </a:rPr>
              <a:t>250kb/s</a:t>
            </a:r>
            <a:r>
              <a:rPr lang="zh-CN" altLang="en-US" b="1" dirty="0" smtClean="0">
                <a:solidFill>
                  <a:schemeClr val="bg2">
                    <a:lumMod val="10000"/>
                  </a:schemeClr>
                </a:solidFill>
              </a:rPr>
              <a:t>）；</a:t>
            </a:r>
            <a:endParaRPr lang="en-US" altLang="zh-CN" b="1" dirty="0" smtClean="0">
              <a:solidFill>
                <a:schemeClr val="bg2">
                  <a:lumMod val="10000"/>
                </a:schemeClr>
              </a:solidFill>
            </a:endParaRPr>
          </a:p>
          <a:p>
            <a:pPr lvl="2">
              <a:buFont typeface="Arial" panose="020B0604020202020204" pitchFamily="34" charset="0"/>
              <a:buChar char="•"/>
            </a:pPr>
            <a:r>
              <a:rPr lang="zh-CN" altLang="en-US" b="1" dirty="0" smtClean="0">
                <a:solidFill>
                  <a:schemeClr val="bg2">
                    <a:lumMod val="10000"/>
                  </a:schemeClr>
                </a:solidFill>
              </a:rPr>
              <a:t>某些轿车通过</a:t>
            </a:r>
            <a:r>
              <a:rPr lang="en-US" altLang="zh-CN" b="1" dirty="0" smtClean="0">
                <a:solidFill>
                  <a:schemeClr val="bg2">
                    <a:lumMod val="10000"/>
                  </a:schemeClr>
                </a:solidFill>
              </a:rPr>
              <a:t>CAN</a:t>
            </a:r>
            <a:r>
              <a:rPr lang="zh-CN" altLang="en-US" b="1" dirty="0" smtClean="0">
                <a:solidFill>
                  <a:schemeClr val="bg2">
                    <a:lumMod val="10000"/>
                  </a:schemeClr>
                </a:solidFill>
              </a:rPr>
              <a:t>，在车载网络中将诊断工具连接至诊断接口（</a:t>
            </a:r>
            <a:r>
              <a:rPr lang="en-US" altLang="zh-CN" b="1" dirty="0" smtClean="0">
                <a:solidFill>
                  <a:schemeClr val="bg2">
                    <a:lumMod val="10000"/>
                  </a:schemeClr>
                </a:solidFill>
              </a:rPr>
              <a:t>ISO 16757</a:t>
            </a:r>
            <a:r>
              <a:rPr lang="zh-CN" altLang="en-US" b="1" dirty="0" smtClean="0">
                <a:solidFill>
                  <a:schemeClr val="bg2">
                    <a:lumMod val="10000"/>
                  </a:schemeClr>
                </a:solidFill>
              </a:rPr>
              <a:t>，</a:t>
            </a:r>
            <a:r>
              <a:rPr lang="en-US" altLang="zh-CN" b="1" dirty="0" smtClean="0">
                <a:solidFill>
                  <a:schemeClr val="bg2">
                    <a:lumMod val="10000"/>
                  </a:schemeClr>
                </a:solidFill>
              </a:rPr>
              <a:t>ISO 14229-1</a:t>
            </a:r>
            <a:r>
              <a:rPr lang="zh-CN" altLang="en-US" b="1" dirty="0" smtClean="0">
                <a:solidFill>
                  <a:schemeClr val="bg2">
                    <a:lumMod val="10000"/>
                  </a:schemeClr>
                </a:solidFill>
              </a:rPr>
              <a:t>，</a:t>
            </a:r>
            <a:r>
              <a:rPr lang="en-US" altLang="zh-CN" b="1" dirty="0" smtClean="0">
                <a:solidFill>
                  <a:schemeClr val="bg2">
                    <a:lumMod val="10000"/>
                  </a:schemeClr>
                </a:solidFill>
              </a:rPr>
              <a:t>ISO 15031</a:t>
            </a:r>
            <a:r>
              <a:rPr lang="zh-CN" altLang="en-US" b="1" dirty="0" smtClean="0">
                <a:solidFill>
                  <a:schemeClr val="bg2">
                    <a:lumMod val="10000"/>
                  </a:schemeClr>
                </a:solidFill>
              </a:rPr>
              <a:t>）</a:t>
            </a:r>
            <a:endParaRPr lang="zh-CN" altLang="en-US" b="1" dirty="0">
              <a:solidFill>
                <a:schemeClr val="bg2">
                  <a:lumMod val="10000"/>
                </a:schemeClr>
              </a:solidFill>
            </a:endParaRPr>
          </a:p>
        </p:txBody>
      </p:sp>
    </p:spTree>
    <p:extLst>
      <p:ext uri="{BB962C8B-B14F-4D97-AF65-F5344CB8AC3E}">
        <p14:creationId xmlns:p14="http://schemas.microsoft.com/office/powerpoint/2010/main" val="3133648160"/>
      </p:ext>
    </p:extLst>
  </p:cSld>
  <p:clrMapOvr>
    <a:masterClrMapping/>
  </p:clrMapOvr>
  <p:transition spd="slow">
    <p:push dir="u"/>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r>
              <a:rPr lang="en-US" altLang="zh-CN" dirty="0" smtClean="0"/>
              <a:t>3.1 </a:t>
            </a:r>
            <a:r>
              <a:rPr lang="zh-CN" altLang="en-US" dirty="0" smtClean="0"/>
              <a:t>概述</a:t>
            </a:r>
          </a:p>
        </p:txBody>
      </p:sp>
      <p:sp>
        <p:nvSpPr>
          <p:cNvPr id="5123" name="内容占位符 2"/>
          <p:cNvSpPr>
            <a:spLocks noGrp="1"/>
          </p:cNvSpPr>
          <p:nvPr>
            <p:ph idx="1"/>
          </p:nvPr>
        </p:nvSpPr>
        <p:spPr/>
        <p:txBody>
          <a:bodyPr/>
          <a:lstStyle/>
          <a:p>
            <a:pPr marL="457200" lvl="1" indent="0">
              <a:buNone/>
            </a:pPr>
            <a:r>
              <a:rPr lang="en-US" altLang="zh-CN" b="1" dirty="0" smtClean="0">
                <a:solidFill>
                  <a:srgbClr val="FF0000"/>
                </a:solidFill>
              </a:rPr>
              <a:t>2. </a:t>
            </a:r>
            <a:r>
              <a:rPr lang="zh-CN" altLang="en-US" b="1" dirty="0" smtClean="0">
                <a:solidFill>
                  <a:srgbClr val="FF0000"/>
                </a:solidFill>
              </a:rPr>
              <a:t>自动化与网络控制系统</a:t>
            </a:r>
          </a:p>
          <a:p>
            <a:pPr lvl="2">
              <a:buFont typeface="Arial" panose="020B0604020202020204" pitchFamily="34" charset="0"/>
              <a:buChar char="•"/>
            </a:pPr>
            <a:r>
              <a:rPr lang="en-US" altLang="zh-CN" b="1" dirty="0" smtClean="0">
                <a:solidFill>
                  <a:schemeClr val="bg2">
                    <a:lumMod val="10000"/>
                  </a:schemeClr>
                </a:solidFill>
              </a:rPr>
              <a:t>1992</a:t>
            </a:r>
            <a:r>
              <a:rPr lang="zh-CN" altLang="en-US" b="1" dirty="0" smtClean="0">
                <a:solidFill>
                  <a:schemeClr val="bg2">
                    <a:lumMod val="10000"/>
                  </a:schemeClr>
                </a:solidFill>
              </a:rPr>
              <a:t>年，</a:t>
            </a:r>
            <a:r>
              <a:rPr lang="en-US" altLang="zh-CN" b="1" dirty="0" smtClean="0">
                <a:solidFill>
                  <a:schemeClr val="bg2">
                    <a:lumMod val="10000"/>
                  </a:schemeClr>
                </a:solidFill>
              </a:rPr>
              <a:t>CAN in Automation</a:t>
            </a:r>
            <a:r>
              <a:rPr lang="zh-CN" altLang="en-US" b="1" dirty="0" smtClean="0">
                <a:solidFill>
                  <a:schemeClr val="bg2">
                    <a:lumMod val="10000"/>
                  </a:schemeClr>
                </a:solidFill>
              </a:rPr>
              <a:t>（</a:t>
            </a:r>
            <a:r>
              <a:rPr lang="en-US" altLang="zh-CN" b="1" dirty="0" err="1" smtClean="0">
                <a:solidFill>
                  <a:schemeClr val="bg2">
                    <a:lumMod val="10000"/>
                  </a:schemeClr>
                </a:solidFill>
              </a:rPr>
              <a:t>CiA</a:t>
            </a:r>
            <a:r>
              <a:rPr lang="zh-CN" altLang="en-US" b="1" dirty="0" smtClean="0">
                <a:solidFill>
                  <a:schemeClr val="bg2">
                    <a:lumMod val="10000"/>
                  </a:schemeClr>
                </a:solidFill>
              </a:rPr>
              <a:t>）开发了通用的</a:t>
            </a:r>
            <a:r>
              <a:rPr lang="en-US" altLang="zh-CN" b="1" dirty="0" smtClean="0">
                <a:solidFill>
                  <a:schemeClr val="bg2">
                    <a:lumMod val="10000"/>
                  </a:schemeClr>
                </a:solidFill>
              </a:rPr>
              <a:t>CAN</a:t>
            </a:r>
            <a:r>
              <a:rPr lang="zh-CN" altLang="en-US" b="1" dirty="0" smtClean="0">
                <a:solidFill>
                  <a:schemeClr val="bg2">
                    <a:lumMod val="10000"/>
                  </a:schemeClr>
                </a:solidFill>
              </a:rPr>
              <a:t>应用层（</a:t>
            </a:r>
            <a:r>
              <a:rPr lang="en-US" altLang="zh-CN" b="1" dirty="0" smtClean="0">
                <a:solidFill>
                  <a:schemeClr val="bg2">
                    <a:lumMod val="10000"/>
                  </a:schemeClr>
                </a:solidFill>
              </a:rPr>
              <a:t>CAL</a:t>
            </a:r>
            <a:r>
              <a:rPr lang="zh-CN" altLang="en-US" b="1" dirty="0" smtClean="0">
                <a:solidFill>
                  <a:schemeClr val="bg2">
                    <a:lumMod val="10000"/>
                  </a:schemeClr>
                </a:solidFill>
              </a:rPr>
              <a:t>）标准；</a:t>
            </a:r>
            <a:endParaRPr lang="en-US" altLang="zh-CN" b="1" dirty="0" smtClean="0">
              <a:solidFill>
                <a:schemeClr val="bg2">
                  <a:lumMod val="10000"/>
                </a:schemeClr>
              </a:solidFill>
            </a:endParaRPr>
          </a:p>
          <a:p>
            <a:pPr lvl="2">
              <a:buFont typeface="Arial" panose="020B0604020202020204" pitchFamily="34" charset="0"/>
              <a:buChar char="•"/>
            </a:pPr>
            <a:r>
              <a:rPr lang="en-US" altLang="zh-CN" b="1" dirty="0" smtClean="0">
                <a:solidFill>
                  <a:schemeClr val="bg2">
                    <a:lumMod val="10000"/>
                  </a:schemeClr>
                </a:solidFill>
              </a:rPr>
              <a:t>Allen-Bradley</a:t>
            </a:r>
            <a:r>
              <a:rPr lang="zh-CN" altLang="en-US" b="1" dirty="0" smtClean="0">
                <a:solidFill>
                  <a:schemeClr val="bg2">
                    <a:lumMod val="10000"/>
                  </a:schemeClr>
                </a:solidFill>
              </a:rPr>
              <a:t>开发了</a:t>
            </a:r>
            <a:r>
              <a:rPr lang="en-US" altLang="zh-CN" b="1" dirty="0" err="1" smtClean="0">
                <a:solidFill>
                  <a:schemeClr val="bg2">
                    <a:lumMod val="10000"/>
                  </a:schemeClr>
                </a:solidFill>
              </a:rPr>
              <a:t>DeviceNet</a:t>
            </a:r>
            <a:r>
              <a:rPr lang="zh-CN" altLang="en-US" b="1" dirty="0" smtClean="0">
                <a:solidFill>
                  <a:schemeClr val="bg2">
                    <a:lumMod val="10000"/>
                  </a:schemeClr>
                </a:solidFill>
              </a:rPr>
              <a:t>，进而演化为</a:t>
            </a:r>
            <a:r>
              <a:rPr lang="en-US" altLang="zh-CN" b="1" dirty="0">
                <a:solidFill>
                  <a:schemeClr val="bg2">
                    <a:lumMod val="10000"/>
                  </a:schemeClr>
                </a:solidFill>
              </a:rPr>
              <a:t>Open </a:t>
            </a:r>
            <a:r>
              <a:rPr lang="en-US" altLang="zh-CN" b="1" dirty="0" err="1">
                <a:solidFill>
                  <a:schemeClr val="bg2">
                    <a:lumMod val="10000"/>
                  </a:schemeClr>
                </a:solidFill>
              </a:rPr>
              <a:t>DeviceNet</a:t>
            </a:r>
            <a:r>
              <a:rPr lang="en-US" altLang="zh-CN" b="1" dirty="0">
                <a:solidFill>
                  <a:schemeClr val="bg2">
                    <a:lumMod val="10000"/>
                  </a:schemeClr>
                </a:solidFill>
              </a:rPr>
              <a:t> </a:t>
            </a:r>
            <a:r>
              <a:rPr lang="en-US" altLang="zh-CN" b="1" dirty="0" smtClean="0">
                <a:solidFill>
                  <a:schemeClr val="bg2">
                    <a:lumMod val="10000"/>
                  </a:schemeClr>
                </a:solidFill>
              </a:rPr>
              <a:t>Vendor </a:t>
            </a:r>
            <a:r>
              <a:rPr lang="en-US" altLang="zh-CN" b="1" dirty="0">
                <a:solidFill>
                  <a:schemeClr val="bg2">
                    <a:lumMod val="10000"/>
                  </a:schemeClr>
                </a:solidFill>
              </a:rPr>
              <a:t>Association (ODVA</a:t>
            </a:r>
            <a:r>
              <a:rPr lang="en-US" altLang="zh-CN" b="1" dirty="0" smtClean="0">
                <a:solidFill>
                  <a:schemeClr val="bg2">
                    <a:lumMod val="10000"/>
                  </a:schemeClr>
                </a:solidFill>
              </a:rPr>
              <a:t>)</a:t>
            </a:r>
            <a:r>
              <a:rPr lang="zh-CN" altLang="en-US" b="1" dirty="0" smtClean="0">
                <a:solidFill>
                  <a:schemeClr val="bg2">
                    <a:lumMod val="10000"/>
                  </a:schemeClr>
                </a:solidFill>
              </a:rPr>
              <a:t>，广泛用于美国的工厂自动化领域（</a:t>
            </a:r>
            <a:r>
              <a:rPr lang="en-US" altLang="zh-CN" b="1" dirty="0" smtClean="0">
                <a:solidFill>
                  <a:schemeClr val="bg2">
                    <a:lumMod val="10000"/>
                  </a:schemeClr>
                </a:solidFill>
              </a:rPr>
              <a:t>EN 50325 – part 2</a:t>
            </a:r>
            <a:r>
              <a:rPr lang="zh-CN" altLang="en-US" b="1" dirty="0" smtClean="0">
                <a:solidFill>
                  <a:schemeClr val="bg2">
                    <a:lumMod val="10000"/>
                  </a:schemeClr>
                </a:solidFill>
              </a:rPr>
              <a:t>）；</a:t>
            </a:r>
            <a:endParaRPr lang="en-US" altLang="zh-CN" b="1" dirty="0" smtClean="0">
              <a:solidFill>
                <a:schemeClr val="bg2">
                  <a:lumMod val="10000"/>
                </a:schemeClr>
              </a:solidFill>
            </a:endParaRPr>
          </a:p>
          <a:p>
            <a:pPr lvl="2">
              <a:buFont typeface="Arial" panose="020B0604020202020204" pitchFamily="34" charset="0"/>
              <a:buChar char="•"/>
            </a:pPr>
            <a:r>
              <a:rPr lang="en-US" altLang="zh-CN" b="1" dirty="0" smtClean="0">
                <a:solidFill>
                  <a:schemeClr val="bg2">
                    <a:lumMod val="10000"/>
                  </a:schemeClr>
                </a:solidFill>
              </a:rPr>
              <a:t>Honeywell</a:t>
            </a:r>
            <a:r>
              <a:rPr lang="zh-CN" altLang="en-US" b="1" dirty="0" smtClean="0">
                <a:solidFill>
                  <a:schemeClr val="bg2">
                    <a:lumMod val="10000"/>
                  </a:schemeClr>
                </a:solidFill>
              </a:rPr>
              <a:t>开发了</a:t>
            </a:r>
            <a:r>
              <a:rPr lang="en-US" altLang="zh-CN" b="1" dirty="0" smtClean="0">
                <a:solidFill>
                  <a:schemeClr val="bg2">
                    <a:lumMod val="10000"/>
                  </a:schemeClr>
                </a:solidFill>
              </a:rPr>
              <a:t>SDS</a:t>
            </a:r>
            <a:r>
              <a:rPr lang="zh-CN" altLang="en-US" b="1" dirty="0" smtClean="0">
                <a:solidFill>
                  <a:schemeClr val="bg2">
                    <a:lumMod val="10000"/>
                  </a:schemeClr>
                </a:solidFill>
              </a:rPr>
              <a:t>（</a:t>
            </a:r>
            <a:r>
              <a:rPr lang="en-US" altLang="zh-CN" b="1" dirty="0">
                <a:solidFill>
                  <a:schemeClr val="bg2">
                    <a:lumMod val="10000"/>
                  </a:schemeClr>
                </a:solidFill>
              </a:rPr>
              <a:t>Smart Distributed System</a:t>
            </a:r>
            <a:r>
              <a:rPr lang="zh-CN" altLang="en-US" b="1" dirty="0" smtClean="0">
                <a:solidFill>
                  <a:schemeClr val="bg2">
                    <a:lumMod val="10000"/>
                  </a:schemeClr>
                </a:solidFill>
              </a:rPr>
              <a:t>），后在其内部广泛应用</a:t>
            </a:r>
            <a:r>
              <a:rPr lang="zh-CN" altLang="en-US" b="1" dirty="0">
                <a:solidFill>
                  <a:schemeClr val="bg2">
                    <a:lumMod val="10000"/>
                  </a:schemeClr>
                </a:solidFill>
              </a:rPr>
              <a:t>（</a:t>
            </a:r>
            <a:r>
              <a:rPr lang="en-US" altLang="zh-CN" b="1" dirty="0">
                <a:solidFill>
                  <a:schemeClr val="bg2">
                    <a:lumMod val="10000"/>
                  </a:schemeClr>
                </a:solidFill>
              </a:rPr>
              <a:t>EN 50325 – part </a:t>
            </a:r>
            <a:r>
              <a:rPr lang="en-US" altLang="zh-CN" b="1" dirty="0" smtClean="0">
                <a:solidFill>
                  <a:schemeClr val="bg2">
                    <a:lumMod val="10000"/>
                  </a:schemeClr>
                </a:solidFill>
              </a:rPr>
              <a:t>3</a:t>
            </a:r>
            <a:r>
              <a:rPr lang="zh-CN" altLang="en-US" b="1" dirty="0" smtClean="0">
                <a:solidFill>
                  <a:schemeClr val="bg2">
                    <a:lumMod val="10000"/>
                  </a:schemeClr>
                </a:solidFill>
              </a:rPr>
              <a:t>）；</a:t>
            </a:r>
            <a:endParaRPr lang="en-US" altLang="zh-CN" b="1" dirty="0" smtClean="0">
              <a:solidFill>
                <a:schemeClr val="bg2">
                  <a:lumMod val="10000"/>
                </a:schemeClr>
              </a:solidFill>
            </a:endParaRPr>
          </a:p>
          <a:p>
            <a:pPr lvl="2">
              <a:buFont typeface="Arial" panose="020B0604020202020204" pitchFamily="34" charset="0"/>
              <a:buChar char="•"/>
            </a:pPr>
            <a:r>
              <a:rPr lang="en-US" altLang="zh-CN" b="1" dirty="0" err="1" smtClean="0">
                <a:solidFill>
                  <a:schemeClr val="bg2">
                    <a:lumMod val="10000"/>
                  </a:schemeClr>
                </a:solidFill>
              </a:rPr>
              <a:t>CANopen</a:t>
            </a:r>
            <a:r>
              <a:rPr lang="zh-CN" altLang="en-US" b="1" dirty="0" smtClean="0">
                <a:solidFill>
                  <a:schemeClr val="bg2">
                    <a:lumMod val="10000"/>
                  </a:schemeClr>
                </a:solidFill>
              </a:rPr>
              <a:t>，由</a:t>
            </a:r>
            <a:r>
              <a:rPr lang="en-US" altLang="zh-CN" b="1" dirty="0" smtClean="0">
                <a:solidFill>
                  <a:schemeClr val="bg2">
                    <a:lumMod val="10000"/>
                  </a:schemeClr>
                </a:solidFill>
              </a:rPr>
              <a:t>Bosch</a:t>
            </a:r>
            <a:r>
              <a:rPr lang="zh-CN" altLang="en-US" b="1" dirty="0" smtClean="0">
                <a:solidFill>
                  <a:schemeClr val="bg2">
                    <a:lumMod val="10000"/>
                  </a:schemeClr>
                </a:solidFill>
              </a:rPr>
              <a:t>主导的产业联盟</a:t>
            </a:r>
            <a:r>
              <a:rPr lang="zh-CN" altLang="en-US" b="1" dirty="0">
                <a:solidFill>
                  <a:schemeClr val="bg2">
                    <a:lumMod val="10000"/>
                  </a:schemeClr>
                </a:solidFill>
              </a:rPr>
              <a:t>基于</a:t>
            </a:r>
            <a:r>
              <a:rPr lang="en-US" altLang="zh-CN" b="1" dirty="0" smtClean="0">
                <a:solidFill>
                  <a:schemeClr val="bg2">
                    <a:lumMod val="10000"/>
                  </a:schemeClr>
                </a:solidFill>
              </a:rPr>
              <a:t>CAL</a:t>
            </a:r>
            <a:r>
              <a:rPr lang="zh-CN" altLang="en-US" b="1" dirty="0" smtClean="0">
                <a:solidFill>
                  <a:schemeClr val="bg2">
                    <a:lumMod val="10000"/>
                  </a:schemeClr>
                </a:solidFill>
              </a:rPr>
              <a:t>开发，</a:t>
            </a:r>
            <a:r>
              <a:rPr lang="en-US" altLang="zh-CN" b="1" dirty="0">
                <a:solidFill>
                  <a:schemeClr val="bg2">
                    <a:lumMod val="10000"/>
                  </a:schemeClr>
                </a:solidFill>
              </a:rPr>
              <a:t> 1995</a:t>
            </a:r>
            <a:r>
              <a:rPr lang="zh-CN" altLang="en-US" b="1" dirty="0" smtClean="0">
                <a:solidFill>
                  <a:schemeClr val="bg2">
                    <a:lumMod val="10000"/>
                  </a:schemeClr>
                </a:solidFill>
              </a:rPr>
              <a:t>年经</a:t>
            </a:r>
            <a:r>
              <a:rPr lang="en-US" altLang="zh-CN" b="1" dirty="0" err="1" smtClean="0">
                <a:solidFill>
                  <a:schemeClr val="bg2">
                    <a:lumMod val="10000"/>
                  </a:schemeClr>
                </a:solidFill>
              </a:rPr>
              <a:t>CiA</a:t>
            </a:r>
            <a:r>
              <a:rPr lang="zh-CN" altLang="en-US" b="1" dirty="0" smtClean="0">
                <a:solidFill>
                  <a:schemeClr val="bg2">
                    <a:lumMod val="10000"/>
                  </a:schemeClr>
                </a:solidFill>
              </a:rPr>
              <a:t>修改后成为标准</a:t>
            </a:r>
            <a:r>
              <a:rPr lang="zh-CN" altLang="en-US" b="1" dirty="0">
                <a:solidFill>
                  <a:schemeClr val="bg2">
                    <a:lumMod val="10000"/>
                  </a:schemeClr>
                </a:solidFill>
              </a:rPr>
              <a:t>（</a:t>
            </a:r>
            <a:r>
              <a:rPr lang="en-US" altLang="zh-CN" b="1" dirty="0">
                <a:solidFill>
                  <a:schemeClr val="bg2">
                    <a:lumMod val="10000"/>
                  </a:schemeClr>
                </a:solidFill>
              </a:rPr>
              <a:t>EN 50325 – part </a:t>
            </a:r>
            <a:r>
              <a:rPr lang="en-US" altLang="zh-CN" b="1" dirty="0" smtClean="0">
                <a:solidFill>
                  <a:schemeClr val="bg2">
                    <a:lumMod val="10000"/>
                  </a:schemeClr>
                </a:solidFill>
              </a:rPr>
              <a:t>4</a:t>
            </a:r>
            <a:r>
              <a:rPr lang="zh-CN" altLang="en-US" b="1" dirty="0" smtClean="0">
                <a:solidFill>
                  <a:schemeClr val="bg2">
                    <a:lumMod val="10000"/>
                  </a:schemeClr>
                </a:solidFill>
              </a:rPr>
              <a:t>） ；</a:t>
            </a:r>
            <a:endParaRPr lang="en-US" altLang="zh-CN" b="1" dirty="0" smtClean="0">
              <a:solidFill>
                <a:schemeClr val="bg2">
                  <a:lumMod val="10000"/>
                </a:schemeClr>
              </a:solidFill>
            </a:endParaRPr>
          </a:p>
          <a:p>
            <a:pPr marL="914400" lvl="2" indent="0">
              <a:buNone/>
            </a:pPr>
            <a:endParaRPr lang="en-US" altLang="zh-CN" dirty="0" smtClean="0">
              <a:solidFill>
                <a:schemeClr val="bg2">
                  <a:lumMod val="10000"/>
                </a:schemeClr>
              </a:solidFill>
            </a:endParaRPr>
          </a:p>
          <a:p>
            <a:pPr lvl="2">
              <a:buFont typeface="Arial" panose="020B0604020202020204" pitchFamily="34" charset="0"/>
              <a:buChar char="•"/>
            </a:pPr>
            <a:endParaRPr lang="zh-CN" altLang="en-US" dirty="0">
              <a:solidFill>
                <a:schemeClr val="bg2">
                  <a:lumMod val="10000"/>
                </a:schemeClr>
              </a:solidFill>
            </a:endParaRPr>
          </a:p>
        </p:txBody>
      </p:sp>
    </p:spTree>
    <p:extLst>
      <p:ext uri="{BB962C8B-B14F-4D97-AF65-F5344CB8AC3E}">
        <p14:creationId xmlns:p14="http://schemas.microsoft.com/office/powerpoint/2010/main" val="940064828"/>
      </p:ext>
    </p:extLst>
  </p:cSld>
  <p:clrMapOvr>
    <a:masterClrMapping/>
  </p:clrMapOvr>
  <p:transition spd="slow">
    <p:push dir="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p:txBody>
          <a:bodyPr/>
          <a:lstStyle/>
          <a:p>
            <a:pPr eaLnBrk="1" hangingPunct="1"/>
            <a:r>
              <a:rPr lang="zh-CN" altLang="en-US" dirty="0" smtClean="0"/>
              <a:t>第</a:t>
            </a:r>
            <a:r>
              <a:rPr lang="en-US" altLang="zh-CN" dirty="0" smtClean="0"/>
              <a:t>3</a:t>
            </a:r>
            <a:r>
              <a:rPr lang="zh-CN" altLang="en-US" dirty="0" smtClean="0"/>
              <a:t>章 </a:t>
            </a:r>
            <a:r>
              <a:rPr lang="en-US" altLang="zh-CN" dirty="0" smtClean="0"/>
              <a:t>CAN</a:t>
            </a:r>
            <a:r>
              <a:rPr lang="zh-CN" altLang="en-US" dirty="0" smtClean="0"/>
              <a:t>总线</a:t>
            </a:r>
          </a:p>
        </p:txBody>
      </p:sp>
      <p:sp>
        <p:nvSpPr>
          <p:cNvPr id="4099" name="内容占位符 2"/>
          <p:cNvSpPr>
            <a:spLocks noGrp="1"/>
          </p:cNvSpPr>
          <p:nvPr>
            <p:ph idx="1"/>
          </p:nvPr>
        </p:nvSpPr>
        <p:spPr/>
        <p:txBody>
          <a:bodyPr/>
          <a:lstStyle/>
          <a:p>
            <a:pPr eaLnBrk="1" hangingPunct="1">
              <a:defRPr/>
            </a:pPr>
            <a:r>
              <a:rPr lang="en-US" altLang="zh-CN" dirty="0" smtClean="0">
                <a:solidFill>
                  <a:schemeClr val="accent3">
                    <a:lumMod val="50000"/>
                  </a:schemeClr>
                </a:solidFill>
              </a:rPr>
              <a:t>3.1 </a:t>
            </a:r>
            <a:r>
              <a:rPr lang="zh-CN" altLang="en-US" dirty="0" smtClean="0">
                <a:solidFill>
                  <a:schemeClr val="accent3">
                    <a:lumMod val="50000"/>
                  </a:schemeClr>
                </a:solidFill>
              </a:rPr>
              <a:t>概述</a:t>
            </a:r>
            <a:endParaRPr lang="en-US" altLang="zh-CN" dirty="0" smtClean="0">
              <a:solidFill>
                <a:schemeClr val="accent3">
                  <a:lumMod val="50000"/>
                </a:schemeClr>
              </a:solidFill>
            </a:endParaRPr>
          </a:p>
          <a:p>
            <a:pPr eaLnBrk="1" hangingPunct="1">
              <a:defRPr/>
            </a:pPr>
            <a:r>
              <a:rPr lang="en-US" altLang="zh-CN" dirty="0" smtClean="0">
                <a:solidFill>
                  <a:srgbClr val="FF0000"/>
                </a:solidFill>
              </a:rPr>
              <a:t>3.2 CAN</a:t>
            </a:r>
            <a:r>
              <a:rPr lang="zh-CN" altLang="en-US" dirty="0" smtClean="0">
                <a:solidFill>
                  <a:srgbClr val="FF0000"/>
                </a:solidFill>
              </a:rPr>
              <a:t>协议基础</a:t>
            </a:r>
            <a:endParaRPr lang="zh-CN" altLang="en-US" dirty="0">
              <a:solidFill>
                <a:srgbClr val="FF0000"/>
              </a:solidFill>
            </a:endParaRPr>
          </a:p>
        </p:txBody>
      </p:sp>
    </p:spTree>
  </p:cSld>
  <p:clrMapOvr>
    <a:masterClrMapping/>
  </p:clrMapOvr>
  <p:transition spd="slow">
    <p:push dir="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a:lstStyle/>
          <a:p>
            <a:r>
              <a:rPr lang="en-US" altLang="zh-CN" dirty="0" smtClean="0"/>
              <a:t>3.2 CAN</a:t>
            </a:r>
            <a:r>
              <a:rPr lang="zh-CN" altLang="en-US" dirty="0" smtClean="0"/>
              <a:t>协议基础</a:t>
            </a:r>
          </a:p>
        </p:txBody>
      </p:sp>
      <p:sp>
        <p:nvSpPr>
          <p:cNvPr id="17411" name="内容占位符 2"/>
          <p:cNvSpPr>
            <a:spLocks noGrp="1"/>
          </p:cNvSpPr>
          <p:nvPr>
            <p:ph idx="1"/>
          </p:nvPr>
        </p:nvSpPr>
        <p:spPr/>
        <p:txBody>
          <a:bodyPr/>
          <a:lstStyle/>
          <a:p>
            <a:pPr marL="0" indent="0">
              <a:buNone/>
            </a:pPr>
            <a:r>
              <a:rPr lang="en-US" altLang="zh-CN" sz="2800" b="1" dirty="0">
                <a:solidFill>
                  <a:schemeClr val="tx2">
                    <a:lumMod val="75000"/>
                  </a:schemeClr>
                </a:solidFill>
              </a:rPr>
              <a:t> </a:t>
            </a:r>
            <a:r>
              <a:rPr lang="en-US" altLang="zh-CN" sz="2800" b="1" dirty="0" smtClean="0">
                <a:solidFill>
                  <a:schemeClr val="tx2">
                    <a:lumMod val="75000"/>
                  </a:schemeClr>
                </a:solidFill>
              </a:rPr>
              <a:t>        </a:t>
            </a:r>
            <a:r>
              <a:rPr lang="zh-CN" altLang="en-US" sz="2800" b="1" dirty="0" smtClean="0">
                <a:solidFill>
                  <a:schemeClr val="tx2">
                    <a:lumMod val="75000"/>
                  </a:schemeClr>
                </a:solidFill>
              </a:rPr>
              <a:t>对应</a:t>
            </a:r>
            <a:r>
              <a:rPr lang="en-US" altLang="zh-CN" sz="2800" b="1" dirty="0" smtClean="0">
                <a:solidFill>
                  <a:schemeClr val="tx2">
                    <a:lumMod val="75000"/>
                  </a:schemeClr>
                </a:solidFill>
              </a:rPr>
              <a:t>ISO OSI </a:t>
            </a:r>
            <a:r>
              <a:rPr lang="zh-CN" altLang="en-US" sz="2800" b="1" dirty="0" smtClean="0">
                <a:solidFill>
                  <a:schemeClr val="tx2">
                    <a:lumMod val="75000"/>
                  </a:schemeClr>
                </a:solidFill>
              </a:rPr>
              <a:t>网络参考模型，</a:t>
            </a:r>
            <a:r>
              <a:rPr lang="en-US" altLang="zh-CN" sz="2800" b="1" dirty="0" smtClean="0">
                <a:solidFill>
                  <a:schemeClr val="tx2">
                    <a:lumMod val="75000"/>
                  </a:schemeClr>
                </a:solidFill>
              </a:rPr>
              <a:t>CAN</a:t>
            </a:r>
            <a:r>
              <a:rPr lang="zh-CN" altLang="en-US" sz="2800" b="1" dirty="0" smtClean="0">
                <a:solidFill>
                  <a:schemeClr val="tx2">
                    <a:lumMod val="75000"/>
                  </a:schemeClr>
                </a:solidFill>
              </a:rPr>
              <a:t>标准中只包含了</a:t>
            </a:r>
            <a:r>
              <a:rPr lang="zh-CN" altLang="en-US" sz="2800" b="1" dirty="0" smtClean="0">
                <a:solidFill>
                  <a:srgbClr val="FF0000"/>
                </a:solidFill>
              </a:rPr>
              <a:t>物理层</a:t>
            </a:r>
            <a:r>
              <a:rPr lang="zh-CN" altLang="en-US" sz="2800" b="1" dirty="0" smtClean="0">
                <a:solidFill>
                  <a:schemeClr val="tx2">
                    <a:lumMod val="75000"/>
                  </a:schemeClr>
                </a:solidFill>
              </a:rPr>
              <a:t>与</a:t>
            </a:r>
            <a:r>
              <a:rPr lang="zh-CN" altLang="en-US" sz="2800" b="1" dirty="0" smtClean="0">
                <a:solidFill>
                  <a:srgbClr val="FF0000"/>
                </a:solidFill>
              </a:rPr>
              <a:t>数据链路层。</a:t>
            </a:r>
            <a:endParaRPr lang="en-US" altLang="zh-CN" sz="2800" dirty="0">
              <a:solidFill>
                <a:schemeClr val="tx2">
                  <a:lumMod val="75000"/>
                </a:schemeClr>
              </a:solidFill>
            </a:endParaRPr>
          </a:p>
          <a:p>
            <a:pPr marL="0" indent="0">
              <a:buNone/>
            </a:pPr>
            <a:endParaRPr lang="en-US" altLang="zh-CN" sz="2800" b="1" dirty="0" smtClean="0">
              <a:solidFill>
                <a:schemeClr val="tx2">
                  <a:lumMod val="75000"/>
                </a:schemeClr>
              </a:solidFill>
            </a:endParaRPr>
          </a:p>
          <a:p>
            <a:pPr>
              <a:buFont typeface="Arial" panose="020B0604020202020204" pitchFamily="34" charset="0"/>
              <a:buChar char="•"/>
            </a:pPr>
            <a:r>
              <a:rPr lang="zh-CN" altLang="en-US" sz="2400" b="1" dirty="0" smtClean="0">
                <a:solidFill>
                  <a:srgbClr val="FF0000"/>
                </a:solidFill>
              </a:rPr>
              <a:t>物理层：</a:t>
            </a:r>
            <a:r>
              <a:rPr lang="zh-CN" altLang="en-US" sz="2400" b="1" dirty="0" smtClean="0">
                <a:solidFill>
                  <a:schemeClr val="tx2">
                    <a:lumMod val="75000"/>
                  </a:schemeClr>
                </a:solidFill>
              </a:rPr>
              <a:t>管理通信介质上传输的信息，通常只关心其电气特性</a:t>
            </a:r>
            <a:endParaRPr lang="en-US" altLang="zh-CN" sz="2400" b="1" dirty="0" smtClean="0">
              <a:solidFill>
                <a:schemeClr val="tx2">
                  <a:lumMod val="75000"/>
                </a:schemeClr>
              </a:solidFill>
            </a:endParaRPr>
          </a:p>
          <a:p>
            <a:pPr marL="457200" lvl="1" indent="0">
              <a:buNone/>
            </a:pPr>
            <a:r>
              <a:rPr lang="zh-CN" altLang="en-US" sz="2400" b="1" dirty="0" smtClean="0">
                <a:solidFill>
                  <a:schemeClr val="tx2">
                    <a:lumMod val="75000"/>
                  </a:schemeClr>
                </a:solidFill>
              </a:rPr>
              <a:t>，进一步可以划分为</a:t>
            </a:r>
            <a:r>
              <a:rPr lang="zh-CN" altLang="en-US" sz="2400" b="1" dirty="0" smtClean="0">
                <a:solidFill>
                  <a:srgbClr val="FF0000"/>
                </a:solidFill>
              </a:rPr>
              <a:t>三个子层</a:t>
            </a:r>
            <a:r>
              <a:rPr lang="zh-CN" altLang="en-US" sz="2400" b="1" dirty="0" smtClean="0">
                <a:solidFill>
                  <a:schemeClr val="tx2">
                    <a:lumMod val="75000"/>
                  </a:schemeClr>
                </a:solidFill>
              </a:rPr>
              <a:t>（</a:t>
            </a:r>
            <a:r>
              <a:rPr lang="en-US" altLang="zh-CN" sz="2400" b="1" dirty="0" smtClean="0">
                <a:solidFill>
                  <a:schemeClr val="tx2">
                    <a:lumMod val="75000"/>
                  </a:schemeClr>
                </a:solidFill>
              </a:rPr>
              <a:t>PLS</a:t>
            </a:r>
            <a:r>
              <a:rPr lang="zh-CN" altLang="en-US" sz="2400" b="1" dirty="0" smtClean="0">
                <a:solidFill>
                  <a:schemeClr val="tx2">
                    <a:lumMod val="75000"/>
                  </a:schemeClr>
                </a:solidFill>
              </a:rPr>
              <a:t>，</a:t>
            </a:r>
            <a:r>
              <a:rPr lang="en-US" altLang="zh-CN" sz="2400" b="1" dirty="0" smtClean="0">
                <a:solidFill>
                  <a:schemeClr val="tx2">
                    <a:lumMod val="75000"/>
                  </a:schemeClr>
                </a:solidFill>
              </a:rPr>
              <a:t>PMA</a:t>
            </a:r>
            <a:r>
              <a:rPr lang="zh-CN" altLang="en-US" sz="2400" b="1" dirty="0" smtClean="0">
                <a:solidFill>
                  <a:schemeClr val="tx2">
                    <a:lumMod val="75000"/>
                  </a:schemeClr>
                </a:solidFill>
              </a:rPr>
              <a:t>与</a:t>
            </a:r>
            <a:r>
              <a:rPr lang="en-US" altLang="zh-CN" sz="2400" b="1" dirty="0" smtClean="0">
                <a:solidFill>
                  <a:schemeClr val="tx2">
                    <a:lumMod val="75000"/>
                  </a:schemeClr>
                </a:solidFill>
              </a:rPr>
              <a:t>MDI</a:t>
            </a:r>
            <a:r>
              <a:rPr lang="zh-CN" altLang="en-US" sz="2400" b="1" dirty="0" smtClean="0">
                <a:solidFill>
                  <a:schemeClr val="tx2">
                    <a:lumMod val="75000"/>
                  </a:schemeClr>
                </a:solidFill>
              </a:rPr>
              <a:t>）；</a:t>
            </a:r>
            <a:endParaRPr lang="en-US" altLang="zh-CN" sz="2400" b="1" dirty="0" smtClean="0">
              <a:solidFill>
                <a:schemeClr val="tx2">
                  <a:lumMod val="75000"/>
                </a:schemeClr>
              </a:solidFill>
            </a:endParaRPr>
          </a:p>
          <a:p>
            <a:pPr lvl="1"/>
            <a:r>
              <a:rPr lang="en-US" altLang="zh-CN" sz="2400" b="1" dirty="0" smtClean="0">
                <a:solidFill>
                  <a:schemeClr val="tx2">
                    <a:lumMod val="75000"/>
                  </a:schemeClr>
                </a:solidFill>
              </a:rPr>
              <a:t>PLS</a:t>
            </a:r>
            <a:r>
              <a:rPr lang="zh-CN" altLang="en-US" sz="2400" b="1" dirty="0" smtClean="0">
                <a:solidFill>
                  <a:schemeClr val="tx2">
                    <a:lumMod val="75000"/>
                  </a:schemeClr>
                </a:solidFill>
              </a:rPr>
              <a:t>定义了数据位表示、</a:t>
            </a:r>
            <a:r>
              <a:rPr lang="zh-CN" altLang="en-US" sz="2400" b="1" dirty="0">
                <a:solidFill>
                  <a:schemeClr val="tx2">
                    <a:lumMod val="75000"/>
                  </a:schemeClr>
                </a:solidFill>
              </a:rPr>
              <a:t>时序与</a:t>
            </a:r>
            <a:r>
              <a:rPr lang="zh-CN" altLang="en-US" sz="2400" b="1" dirty="0" smtClean="0">
                <a:solidFill>
                  <a:schemeClr val="tx2">
                    <a:lumMod val="75000"/>
                  </a:schemeClr>
                </a:solidFill>
              </a:rPr>
              <a:t>同步方法（</a:t>
            </a:r>
            <a:r>
              <a:rPr lang="en-US" altLang="zh-CN" sz="2400" b="1" dirty="0">
                <a:solidFill>
                  <a:schemeClr val="tx2">
                    <a:lumMod val="75000"/>
                  </a:schemeClr>
                </a:solidFill>
              </a:rPr>
              <a:t>ISO 11898-1</a:t>
            </a:r>
            <a:r>
              <a:rPr lang="zh-CN" altLang="en-US" sz="2400" b="1" dirty="0" smtClean="0">
                <a:solidFill>
                  <a:schemeClr val="tx2">
                    <a:lumMod val="75000"/>
                  </a:schemeClr>
                </a:solidFill>
              </a:rPr>
              <a:t>）；</a:t>
            </a:r>
            <a:endParaRPr lang="en-US" altLang="zh-CN" sz="2400" b="1" dirty="0" smtClean="0">
              <a:solidFill>
                <a:schemeClr val="tx2">
                  <a:lumMod val="75000"/>
                </a:schemeClr>
              </a:solidFill>
            </a:endParaRPr>
          </a:p>
          <a:p>
            <a:pPr lvl="1"/>
            <a:r>
              <a:rPr lang="en-US" altLang="zh-CN" sz="2400" b="1" dirty="0" smtClean="0">
                <a:solidFill>
                  <a:schemeClr val="tx2">
                    <a:lumMod val="75000"/>
                  </a:schemeClr>
                </a:solidFill>
              </a:rPr>
              <a:t>PMA</a:t>
            </a:r>
            <a:r>
              <a:rPr lang="zh-CN" altLang="en-US" sz="2400" b="1" dirty="0" smtClean="0">
                <a:solidFill>
                  <a:schemeClr val="tx2">
                    <a:lumMod val="75000"/>
                  </a:schemeClr>
                </a:solidFill>
              </a:rPr>
              <a:t>与</a:t>
            </a:r>
            <a:r>
              <a:rPr lang="en-US" altLang="zh-CN" sz="2400" b="1" dirty="0" smtClean="0">
                <a:solidFill>
                  <a:schemeClr val="tx2">
                    <a:lumMod val="75000"/>
                  </a:schemeClr>
                </a:solidFill>
              </a:rPr>
              <a:t>MDI</a:t>
            </a:r>
            <a:r>
              <a:rPr lang="zh-CN" altLang="en-US" sz="2400" b="1" dirty="0" smtClean="0">
                <a:solidFill>
                  <a:schemeClr val="tx2">
                    <a:lumMod val="75000"/>
                  </a:schemeClr>
                </a:solidFill>
              </a:rPr>
              <a:t>组成</a:t>
            </a:r>
            <a:r>
              <a:rPr lang="en-US" altLang="zh-CN" sz="2400" b="1" dirty="0" smtClean="0">
                <a:solidFill>
                  <a:schemeClr val="tx2">
                    <a:lumMod val="75000"/>
                  </a:schemeClr>
                </a:solidFill>
              </a:rPr>
              <a:t>MAU</a:t>
            </a:r>
            <a:r>
              <a:rPr lang="zh-CN" altLang="en-US" sz="2400" b="1" dirty="0" smtClean="0">
                <a:solidFill>
                  <a:schemeClr val="tx2">
                    <a:lumMod val="75000"/>
                  </a:schemeClr>
                </a:solidFill>
              </a:rPr>
              <a:t>，用于实现节点与传输介质的耦合；</a:t>
            </a:r>
            <a:endParaRPr lang="en-US" altLang="zh-CN" sz="2400" b="1" dirty="0" smtClean="0">
              <a:solidFill>
                <a:schemeClr val="tx2">
                  <a:lumMod val="75000"/>
                </a:schemeClr>
              </a:solidFill>
            </a:endParaRPr>
          </a:p>
          <a:p>
            <a:pPr lvl="1"/>
            <a:r>
              <a:rPr lang="en-US" altLang="zh-CN" sz="2400" b="1" dirty="0" smtClean="0">
                <a:solidFill>
                  <a:schemeClr val="tx2">
                    <a:lumMod val="75000"/>
                  </a:schemeClr>
                </a:solidFill>
              </a:rPr>
              <a:t>PMA</a:t>
            </a:r>
            <a:r>
              <a:rPr lang="zh-CN" altLang="en-US" sz="2400" b="1" dirty="0" smtClean="0">
                <a:solidFill>
                  <a:schemeClr val="tx2">
                    <a:lumMod val="75000"/>
                  </a:schemeClr>
                </a:solidFill>
              </a:rPr>
              <a:t>实现总线上的发送与接收功能，并可能提供总线失效检测方法；</a:t>
            </a:r>
            <a:endParaRPr lang="en-US" altLang="zh-CN" sz="2400" b="1" dirty="0" smtClean="0">
              <a:solidFill>
                <a:schemeClr val="tx2">
                  <a:lumMod val="75000"/>
                </a:schemeClr>
              </a:solidFill>
            </a:endParaRPr>
          </a:p>
          <a:p>
            <a:pPr lvl="1"/>
            <a:r>
              <a:rPr lang="en-US" altLang="zh-CN" sz="2400" b="1" dirty="0" smtClean="0">
                <a:solidFill>
                  <a:schemeClr val="tx2">
                    <a:lumMod val="75000"/>
                  </a:schemeClr>
                </a:solidFill>
              </a:rPr>
              <a:t>MDI</a:t>
            </a:r>
            <a:r>
              <a:rPr lang="zh-CN" altLang="en-US" sz="2400" b="1" dirty="0" smtClean="0">
                <a:solidFill>
                  <a:schemeClr val="tx2">
                    <a:lumMod val="75000"/>
                  </a:schemeClr>
                </a:solidFill>
              </a:rPr>
              <a:t>定义了</a:t>
            </a:r>
            <a:r>
              <a:rPr lang="en-US" altLang="zh-CN" sz="2400" b="1" dirty="0" smtClean="0">
                <a:solidFill>
                  <a:schemeClr val="tx2">
                    <a:lumMod val="75000"/>
                  </a:schemeClr>
                </a:solidFill>
              </a:rPr>
              <a:t>MAU</a:t>
            </a:r>
            <a:r>
              <a:rPr lang="zh-CN" altLang="en-US" sz="2400" b="1" dirty="0" smtClean="0">
                <a:solidFill>
                  <a:schemeClr val="tx2">
                    <a:lumMod val="75000"/>
                  </a:schemeClr>
                </a:solidFill>
              </a:rPr>
              <a:t>与物理介质间的机械与电气接口；</a:t>
            </a:r>
            <a:endParaRPr lang="en-US" altLang="zh-CN" sz="2400" b="1" dirty="0" smtClean="0">
              <a:solidFill>
                <a:schemeClr val="tx2">
                  <a:lumMod val="75000"/>
                </a:schemeClr>
              </a:solidFill>
            </a:endParaRPr>
          </a:p>
          <a:p>
            <a:pPr lvl="1"/>
            <a:endParaRPr lang="en-US" altLang="zh-CN" sz="2000" dirty="0">
              <a:solidFill>
                <a:schemeClr val="tx2">
                  <a:lumMod val="75000"/>
                </a:schemeClr>
              </a:solidFill>
            </a:endParaRPr>
          </a:p>
        </p:txBody>
      </p:sp>
    </p:spTree>
    <p:extLst>
      <p:ext uri="{BB962C8B-B14F-4D97-AF65-F5344CB8AC3E}">
        <p14:creationId xmlns:p14="http://schemas.microsoft.com/office/powerpoint/2010/main" val="3619447434"/>
      </p:ext>
    </p:extLst>
  </p:cSld>
  <p:clrMapOvr>
    <a:masterClrMapping/>
  </p:clrMapOvr>
  <p:transition spd="slow">
    <p:push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a:lstStyle/>
          <a:p>
            <a:r>
              <a:rPr lang="en-US" altLang="zh-CN" dirty="0" smtClean="0"/>
              <a:t>3.2 CAN</a:t>
            </a:r>
            <a:r>
              <a:rPr lang="zh-CN" altLang="en-US" dirty="0" smtClean="0"/>
              <a:t>协议基础</a:t>
            </a:r>
          </a:p>
        </p:txBody>
      </p:sp>
      <p:sp>
        <p:nvSpPr>
          <p:cNvPr id="17411" name="内容占位符 2"/>
          <p:cNvSpPr>
            <a:spLocks noGrp="1"/>
          </p:cNvSpPr>
          <p:nvPr>
            <p:ph idx="1"/>
          </p:nvPr>
        </p:nvSpPr>
        <p:spPr/>
        <p:txBody>
          <a:bodyPr/>
          <a:lstStyle/>
          <a:p>
            <a:pPr>
              <a:buFont typeface="Arial" panose="020B0604020202020204" pitchFamily="34" charset="0"/>
              <a:buChar char="•"/>
            </a:pPr>
            <a:r>
              <a:rPr lang="zh-CN" altLang="en-US" sz="2400" b="1" dirty="0" smtClean="0">
                <a:solidFill>
                  <a:srgbClr val="FF0000"/>
                </a:solidFill>
              </a:rPr>
              <a:t>数据链路层：</a:t>
            </a:r>
            <a:r>
              <a:rPr lang="zh-CN" altLang="en-US" sz="2400" b="1" dirty="0" smtClean="0">
                <a:solidFill>
                  <a:schemeClr val="tx2">
                    <a:lumMod val="75000"/>
                  </a:schemeClr>
                </a:solidFill>
              </a:rPr>
              <a:t>在网络节点中完成可靠的数据交换，处于物理层之上，应用</a:t>
            </a:r>
            <a:r>
              <a:rPr lang="en-US" altLang="zh-CN" sz="2400" b="1" dirty="0" smtClean="0">
                <a:solidFill>
                  <a:schemeClr val="tx2">
                    <a:lumMod val="75000"/>
                  </a:schemeClr>
                </a:solidFill>
              </a:rPr>
              <a:t>PLS</a:t>
            </a:r>
            <a:r>
              <a:rPr lang="zh-CN" altLang="en-US" sz="2400" b="1" dirty="0" smtClean="0">
                <a:solidFill>
                  <a:schemeClr val="tx2">
                    <a:lumMod val="75000"/>
                  </a:schemeClr>
                </a:solidFill>
              </a:rPr>
              <a:t>服务完成数据帧的传输；可以划分为单独的</a:t>
            </a:r>
            <a:r>
              <a:rPr lang="zh-CN" altLang="en-US" sz="2400" b="1" dirty="0" smtClean="0">
                <a:solidFill>
                  <a:srgbClr val="FF0000"/>
                </a:solidFill>
              </a:rPr>
              <a:t>两个子层</a:t>
            </a:r>
            <a:r>
              <a:rPr lang="zh-CN" altLang="en-US" sz="2400" b="1" dirty="0" smtClean="0">
                <a:solidFill>
                  <a:schemeClr val="tx2">
                    <a:lumMod val="75000"/>
                  </a:schemeClr>
                </a:solidFill>
              </a:rPr>
              <a:t>（</a:t>
            </a:r>
            <a:r>
              <a:rPr lang="en-US" altLang="zh-CN" sz="2400" b="1" dirty="0" smtClean="0">
                <a:solidFill>
                  <a:schemeClr val="tx2">
                    <a:lumMod val="75000"/>
                  </a:schemeClr>
                </a:solidFill>
              </a:rPr>
              <a:t>MAC</a:t>
            </a:r>
            <a:r>
              <a:rPr lang="zh-CN" altLang="en-US" sz="2400" b="1" dirty="0" smtClean="0">
                <a:solidFill>
                  <a:schemeClr val="tx2">
                    <a:lumMod val="75000"/>
                  </a:schemeClr>
                </a:solidFill>
              </a:rPr>
              <a:t>与</a:t>
            </a:r>
            <a:r>
              <a:rPr lang="en-US" altLang="zh-CN" sz="2400" b="1" dirty="0" smtClean="0">
                <a:solidFill>
                  <a:schemeClr val="tx2">
                    <a:lumMod val="75000"/>
                  </a:schemeClr>
                </a:solidFill>
              </a:rPr>
              <a:t>LLC</a:t>
            </a:r>
            <a:r>
              <a:rPr lang="zh-CN" altLang="en-US" sz="2400" b="1" dirty="0" smtClean="0">
                <a:solidFill>
                  <a:schemeClr val="tx2">
                    <a:lumMod val="75000"/>
                  </a:schemeClr>
                </a:solidFill>
              </a:rPr>
              <a:t>）；</a:t>
            </a:r>
            <a:endParaRPr lang="en-US" altLang="zh-CN" sz="2400" b="1" dirty="0" smtClean="0">
              <a:solidFill>
                <a:schemeClr val="tx2">
                  <a:lumMod val="75000"/>
                </a:schemeClr>
              </a:solidFill>
            </a:endParaRPr>
          </a:p>
          <a:p>
            <a:pPr lvl="1"/>
            <a:r>
              <a:rPr lang="en-US" altLang="zh-CN" sz="2400" b="1" dirty="0">
                <a:solidFill>
                  <a:schemeClr val="tx2">
                    <a:lumMod val="75000"/>
                  </a:schemeClr>
                </a:solidFill>
              </a:rPr>
              <a:t>MAC</a:t>
            </a:r>
            <a:r>
              <a:rPr lang="zh-CN" altLang="en-US" sz="2400" b="1" dirty="0">
                <a:solidFill>
                  <a:schemeClr val="tx2">
                    <a:lumMod val="75000"/>
                  </a:schemeClr>
                </a:solidFill>
              </a:rPr>
              <a:t>提供协调使用总线的机制，避免无法管理的冲突；</a:t>
            </a:r>
            <a:endParaRPr lang="en-US" altLang="zh-CN" sz="2400" b="1" dirty="0">
              <a:solidFill>
                <a:schemeClr val="tx2">
                  <a:lumMod val="75000"/>
                </a:schemeClr>
              </a:solidFill>
            </a:endParaRPr>
          </a:p>
          <a:p>
            <a:pPr lvl="1"/>
            <a:r>
              <a:rPr lang="en-US" altLang="zh-CN" sz="2400" b="1" dirty="0">
                <a:solidFill>
                  <a:schemeClr val="tx2">
                    <a:lumMod val="75000"/>
                  </a:schemeClr>
                </a:solidFill>
              </a:rPr>
              <a:t>MAC</a:t>
            </a:r>
            <a:r>
              <a:rPr lang="zh-CN" altLang="en-US" sz="2400" b="1" dirty="0">
                <a:solidFill>
                  <a:schemeClr val="tx2">
                    <a:lumMod val="75000"/>
                  </a:schemeClr>
                </a:solidFill>
              </a:rPr>
              <a:t>功能包括帧数据的打包与解包、仲裁、错误检测等；</a:t>
            </a:r>
            <a:endParaRPr lang="en-US" altLang="zh-CN" sz="2400" b="1" dirty="0">
              <a:solidFill>
                <a:schemeClr val="tx2">
                  <a:lumMod val="75000"/>
                </a:schemeClr>
              </a:solidFill>
            </a:endParaRPr>
          </a:p>
          <a:p>
            <a:pPr lvl="1"/>
            <a:r>
              <a:rPr lang="en-US" altLang="zh-CN" sz="2400" b="1" dirty="0">
                <a:solidFill>
                  <a:schemeClr val="tx2">
                    <a:lumMod val="75000"/>
                  </a:schemeClr>
                </a:solidFill>
              </a:rPr>
              <a:t>LLC</a:t>
            </a:r>
            <a:r>
              <a:rPr lang="zh-CN" altLang="en-US" sz="2400" b="1" dirty="0">
                <a:solidFill>
                  <a:schemeClr val="tx2">
                    <a:lumMod val="75000"/>
                  </a:schemeClr>
                </a:solidFill>
              </a:rPr>
              <a:t>为用户（应用程序或上层协议）提供合适的接口（通信服务集合</a:t>
            </a:r>
            <a:r>
              <a:rPr lang="zh-CN" altLang="en-US" sz="2400" b="1" dirty="0" smtClean="0">
                <a:solidFill>
                  <a:schemeClr val="tx2">
                    <a:lumMod val="75000"/>
                  </a:schemeClr>
                </a:solidFill>
              </a:rPr>
              <a:t>），确定收到的信息是否与节点相关；</a:t>
            </a:r>
            <a:endParaRPr lang="en-US" altLang="zh-CN" sz="2400" b="1" dirty="0" smtClean="0">
              <a:solidFill>
                <a:schemeClr val="tx2">
                  <a:lumMod val="75000"/>
                </a:schemeClr>
              </a:solidFill>
            </a:endParaRPr>
          </a:p>
          <a:p>
            <a:pPr lvl="1"/>
            <a:endParaRPr lang="en-US" altLang="zh-CN" sz="2400" b="1" dirty="0">
              <a:solidFill>
                <a:schemeClr val="tx2">
                  <a:lumMod val="75000"/>
                </a:schemeClr>
              </a:solidFill>
            </a:endParaRPr>
          </a:p>
          <a:p>
            <a:pPr>
              <a:buFont typeface="Wingdings" panose="05000000000000000000" pitchFamily="2" charset="2"/>
              <a:buChar char="p"/>
            </a:pPr>
            <a:r>
              <a:rPr lang="zh-CN" altLang="en-US" sz="2400" b="1" dirty="0" smtClean="0">
                <a:solidFill>
                  <a:schemeClr val="accent3">
                    <a:lumMod val="50000"/>
                  </a:schemeClr>
                </a:solidFill>
              </a:rPr>
              <a:t>注意： 尽管</a:t>
            </a:r>
            <a:r>
              <a:rPr lang="en-US" altLang="zh-CN" sz="2400" b="1" dirty="0" smtClean="0">
                <a:solidFill>
                  <a:schemeClr val="accent3">
                    <a:lumMod val="50000"/>
                  </a:schemeClr>
                </a:solidFill>
              </a:rPr>
              <a:t>CAN</a:t>
            </a:r>
            <a:r>
              <a:rPr lang="zh-CN" altLang="en-US" sz="2400" b="1" dirty="0" smtClean="0">
                <a:solidFill>
                  <a:schemeClr val="accent3">
                    <a:lumMod val="50000"/>
                  </a:schemeClr>
                </a:solidFill>
              </a:rPr>
              <a:t>标准对于</a:t>
            </a:r>
            <a:r>
              <a:rPr lang="en-US" altLang="zh-CN" sz="2400" b="1" dirty="0" smtClean="0">
                <a:solidFill>
                  <a:schemeClr val="accent3">
                    <a:lumMod val="50000"/>
                  </a:schemeClr>
                </a:solidFill>
              </a:rPr>
              <a:t>LLC</a:t>
            </a:r>
            <a:r>
              <a:rPr lang="zh-CN" altLang="en-US" sz="2400" b="1" dirty="0" smtClean="0">
                <a:solidFill>
                  <a:schemeClr val="accent3">
                    <a:lumMod val="50000"/>
                  </a:schemeClr>
                </a:solidFill>
              </a:rPr>
              <a:t>服务的实现以及物理介质的选择非常灵活，但在实现中不能改变</a:t>
            </a:r>
            <a:r>
              <a:rPr lang="en-US" altLang="zh-CN" sz="2400" b="1" dirty="0" smtClean="0">
                <a:solidFill>
                  <a:schemeClr val="accent3">
                    <a:lumMod val="50000"/>
                  </a:schemeClr>
                </a:solidFill>
              </a:rPr>
              <a:t>MAC</a:t>
            </a:r>
            <a:r>
              <a:rPr lang="zh-CN" altLang="en-US" sz="2400" b="1" dirty="0" smtClean="0">
                <a:solidFill>
                  <a:schemeClr val="accent3">
                    <a:lumMod val="50000"/>
                  </a:schemeClr>
                </a:solidFill>
              </a:rPr>
              <a:t>子层。</a:t>
            </a:r>
            <a:endParaRPr lang="en-US" altLang="zh-CN" sz="2400" b="1" dirty="0">
              <a:solidFill>
                <a:schemeClr val="accent3">
                  <a:lumMod val="50000"/>
                </a:schemeClr>
              </a:solidFill>
            </a:endParaRPr>
          </a:p>
        </p:txBody>
      </p:sp>
    </p:spTree>
    <p:extLst>
      <p:ext uri="{BB962C8B-B14F-4D97-AF65-F5344CB8AC3E}">
        <p14:creationId xmlns:p14="http://schemas.microsoft.com/office/powerpoint/2010/main" val="4006614825"/>
      </p:ext>
    </p:extLst>
  </p:cSld>
  <p:clrMapOvr>
    <a:masterClrMapping/>
  </p:clrMapOvr>
  <p:transition spd="slow">
    <p:push di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a:lstStyle/>
          <a:p>
            <a:r>
              <a:rPr lang="en-US" altLang="zh-CN" dirty="0" smtClean="0"/>
              <a:t>3.2 CAN</a:t>
            </a:r>
            <a:r>
              <a:rPr lang="zh-CN" altLang="en-US" dirty="0" smtClean="0"/>
              <a:t>协议基础</a:t>
            </a:r>
          </a:p>
        </p:txBody>
      </p:sp>
      <p:pic>
        <p:nvPicPr>
          <p:cNvPr id="7" name="内容占位符 6"/>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487488" y="896269"/>
            <a:ext cx="6468888" cy="4764979"/>
          </a:xfrm>
        </p:spPr>
      </p:pic>
      <p:sp>
        <p:nvSpPr>
          <p:cNvPr id="8" name="TextBox 7"/>
          <p:cNvSpPr txBox="1"/>
          <p:nvPr/>
        </p:nvSpPr>
        <p:spPr>
          <a:xfrm>
            <a:off x="2339752" y="5937147"/>
            <a:ext cx="4608512" cy="461665"/>
          </a:xfrm>
          <a:prstGeom prst="rect">
            <a:avLst/>
          </a:prstGeom>
          <a:noFill/>
        </p:spPr>
        <p:txBody>
          <a:bodyPr wrap="square" rtlCol="0">
            <a:spAutoFit/>
          </a:bodyPr>
          <a:lstStyle/>
          <a:p>
            <a:pPr algn="ctr"/>
            <a:r>
              <a:rPr lang="en-US" altLang="zh-CN" sz="2400" dirty="0" smtClean="0"/>
              <a:t>CAN </a:t>
            </a:r>
            <a:r>
              <a:rPr lang="zh-CN" altLang="en-US" sz="2400" dirty="0" smtClean="0"/>
              <a:t>协议栈</a:t>
            </a:r>
            <a:endParaRPr lang="zh-CN" altLang="en-US" sz="2400" dirty="0"/>
          </a:p>
        </p:txBody>
      </p:sp>
    </p:spTree>
    <p:extLst>
      <p:ext uri="{BB962C8B-B14F-4D97-AF65-F5344CB8AC3E}">
        <p14:creationId xmlns:p14="http://schemas.microsoft.com/office/powerpoint/2010/main" val="3938081040"/>
      </p:ext>
    </p:extLst>
  </p:cSld>
  <p:clrMapOvr>
    <a:masterClrMapping/>
  </p:clrMapOvr>
  <p:transition spd="slow">
    <p:push dir="u"/>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a:lstStyle/>
          <a:p>
            <a:r>
              <a:rPr lang="en-US" altLang="zh-CN" dirty="0" smtClean="0"/>
              <a:t>3.2 CAN</a:t>
            </a:r>
            <a:r>
              <a:rPr lang="zh-CN" altLang="en-US" dirty="0" smtClean="0"/>
              <a:t>协议基础</a:t>
            </a:r>
          </a:p>
        </p:txBody>
      </p:sp>
      <p:sp>
        <p:nvSpPr>
          <p:cNvPr id="17411" name="内容占位符 2"/>
          <p:cNvSpPr>
            <a:spLocks noGrp="1"/>
          </p:cNvSpPr>
          <p:nvPr>
            <p:ph idx="1"/>
          </p:nvPr>
        </p:nvSpPr>
        <p:spPr/>
        <p:txBody>
          <a:bodyPr/>
          <a:lstStyle/>
          <a:p>
            <a:pPr marL="514350" indent="-514350">
              <a:buAutoNum type="arabicPeriod"/>
            </a:pPr>
            <a:r>
              <a:rPr lang="zh-CN" altLang="en-US" sz="2800" b="1" dirty="0" smtClean="0">
                <a:solidFill>
                  <a:srgbClr val="FF0000"/>
                </a:solidFill>
              </a:rPr>
              <a:t>物理层 </a:t>
            </a:r>
            <a:endParaRPr lang="en-US" altLang="zh-CN" sz="2800" b="1" dirty="0" smtClean="0">
              <a:solidFill>
                <a:srgbClr val="FF0000"/>
              </a:solidFill>
            </a:endParaRPr>
          </a:p>
          <a:p>
            <a:pPr>
              <a:buFont typeface="Wingdings" panose="05000000000000000000" pitchFamily="2" charset="2"/>
              <a:buChar char="p"/>
            </a:pPr>
            <a:r>
              <a:rPr lang="en-US" altLang="zh-CN" sz="2800" b="1" dirty="0" smtClean="0">
                <a:solidFill>
                  <a:srgbClr val="FF0000"/>
                </a:solidFill>
              </a:rPr>
              <a:t> </a:t>
            </a:r>
            <a:r>
              <a:rPr lang="zh-CN" altLang="en-US" sz="2800" b="1" dirty="0" smtClean="0">
                <a:solidFill>
                  <a:srgbClr val="FF0000"/>
                </a:solidFill>
              </a:rPr>
              <a:t>网络拓扑与线缆</a:t>
            </a:r>
            <a:endParaRPr lang="en-US" altLang="zh-CN" sz="2800" b="1" dirty="0" smtClean="0">
              <a:solidFill>
                <a:srgbClr val="FF0000"/>
              </a:solidFill>
            </a:endParaRPr>
          </a:p>
          <a:p>
            <a:pPr>
              <a:buFont typeface="Arial" panose="020B0604020202020204" pitchFamily="34" charset="0"/>
              <a:buChar char="•"/>
            </a:pPr>
            <a:r>
              <a:rPr lang="en-US" altLang="zh-CN" sz="2400" b="1" dirty="0" smtClean="0">
                <a:solidFill>
                  <a:schemeClr val="tx2">
                    <a:lumMod val="75000"/>
                  </a:schemeClr>
                </a:solidFill>
              </a:rPr>
              <a:t>CAN</a:t>
            </a:r>
            <a:r>
              <a:rPr lang="zh-CN" altLang="en-US" sz="2400" b="1" dirty="0" smtClean="0">
                <a:solidFill>
                  <a:schemeClr val="tx2">
                    <a:lumMod val="75000"/>
                  </a:schemeClr>
                </a:solidFill>
              </a:rPr>
              <a:t>总线为总线拓扑结构，两端连接</a:t>
            </a:r>
            <a:r>
              <a:rPr lang="zh-CN" altLang="en-US" sz="2400" b="1" dirty="0" smtClean="0">
                <a:solidFill>
                  <a:srgbClr val="C00000"/>
                </a:solidFill>
              </a:rPr>
              <a:t>终端电阻</a:t>
            </a:r>
            <a:r>
              <a:rPr lang="zh-CN" altLang="en-US" sz="2400" b="1" dirty="0" smtClean="0">
                <a:solidFill>
                  <a:schemeClr val="tx2">
                    <a:lumMod val="75000"/>
                  </a:schemeClr>
                </a:solidFill>
              </a:rPr>
              <a:t>；</a:t>
            </a:r>
            <a:endParaRPr lang="en-US" altLang="zh-CN" sz="2400" b="1" dirty="0" smtClean="0">
              <a:solidFill>
                <a:schemeClr val="tx2">
                  <a:lumMod val="75000"/>
                </a:schemeClr>
              </a:solidFill>
            </a:endParaRPr>
          </a:p>
          <a:p>
            <a:pPr>
              <a:buFont typeface="Arial" panose="020B0604020202020204" pitchFamily="34" charset="0"/>
              <a:buChar char="•"/>
            </a:pPr>
            <a:r>
              <a:rPr lang="zh-CN" altLang="en-US" sz="2400" b="1" dirty="0">
                <a:solidFill>
                  <a:schemeClr val="tx2">
                    <a:lumMod val="75000"/>
                  </a:schemeClr>
                </a:solidFill>
              </a:rPr>
              <a:t>可</a:t>
            </a:r>
            <a:r>
              <a:rPr lang="zh-CN" altLang="en-US" sz="2400" b="1" dirty="0" smtClean="0">
                <a:solidFill>
                  <a:schemeClr val="tx2">
                    <a:lumMod val="75000"/>
                  </a:schemeClr>
                </a:solidFill>
              </a:rPr>
              <a:t>使用的</a:t>
            </a:r>
            <a:r>
              <a:rPr lang="zh-CN" altLang="en-US" sz="2400" b="1" dirty="0" smtClean="0">
                <a:solidFill>
                  <a:srgbClr val="FF0000"/>
                </a:solidFill>
              </a:rPr>
              <a:t>物理传输介质</a:t>
            </a:r>
            <a:r>
              <a:rPr lang="zh-CN" altLang="en-US" sz="2400" b="1" dirty="0" smtClean="0">
                <a:solidFill>
                  <a:schemeClr val="tx2">
                    <a:lumMod val="75000"/>
                  </a:schemeClr>
                </a:solidFill>
              </a:rPr>
              <a:t>包括：</a:t>
            </a:r>
            <a:endParaRPr lang="en-US" altLang="zh-CN" sz="2400" b="1" dirty="0" smtClean="0">
              <a:solidFill>
                <a:schemeClr val="tx2">
                  <a:lumMod val="75000"/>
                </a:schemeClr>
              </a:solidFill>
            </a:endParaRPr>
          </a:p>
          <a:p>
            <a:pPr lvl="1"/>
            <a:r>
              <a:rPr lang="zh-CN" altLang="en-US" sz="2400" b="1" dirty="0" smtClean="0">
                <a:solidFill>
                  <a:srgbClr val="FF0000"/>
                </a:solidFill>
              </a:rPr>
              <a:t>单线</a:t>
            </a:r>
            <a:r>
              <a:rPr lang="zh-CN" altLang="en-US" sz="2400" b="1" dirty="0" smtClean="0">
                <a:solidFill>
                  <a:schemeClr val="tx2">
                    <a:lumMod val="75000"/>
                  </a:schemeClr>
                </a:solidFill>
              </a:rPr>
              <a:t>总线，易受干扰，适用于汽车中提高舒适性的应用（汽车仪表，音响及娱乐设施等）；</a:t>
            </a:r>
            <a:endParaRPr lang="en-US" altLang="zh-CN" sz="2400" b="1" dirty="0" smtClean="0">
              <a:solidFill>
                <a:schemeClr val="tx2">
                  <a:lumMod val="75000"/>
                </a:schemeClr>
              </a:solidFill>
            </a:endParaRPr>
          </a:p>
          <a:p>
            <a:pPr lvl="1"/>
            <a:r>
              <a:rPr lang="zh-CN" altLang="en-US" sz="2400" b="1" dirty="0" smtClean="0">
                <a:solidFill>
                  <a:srgbClr val="FF0000"/>
                </a:solidFill>
              </a:rPr>
              <a:t>双线</a:t>
            </a:r>
            <a:r>
              <a:rPr lang="zh-CN" altLang="en-US" sz="2400" b="1" dirty="0" smtClean="0">
                <a:solidFill>
                  <a:schemeClr val="tx2">
                    <a:lumMod val="75000"/>
                  </a:schemeClr>
                </a:solidFill>
              </a:rPr>
              <a:t>总线，传输差分信号，屏蔽双绞线可进一步防止电磁干扰</a:t>
            </a:r>
            <a:r>
              <a:rPr lang="zh-CN" altLang="en-US" sz="2400" b="1" dirty="0">
                <a:solidFill>
                  <a:schemeClr val="tx2">
                    <a:lumMod val="75000"/>
                  </a:schemeClr>
                </a:solidFill>
              </a:rPr>
              <a:t>；</a:t>
            </a:r>
            <a:endParaRPr lang="en-US" altLang="zh-CN" sz="2400" b="1" dirty="0" smtClean="0">
              <a:solidFill>
                <a:schemeClr val="tx2">
                  <a:lumMod val="75000"/>
                </a:schemeClr>
              </a:solidFill>
            </a:endParaRPr>
          </a:p>
          <a:p>
            <a:pPr lvl="1"/>
            <a:r>
              <a:rPr lang="zh-CN" altLang="en-US" sz="2400" b="1" dirty="0">
                <a:solidFill>
                  <a:srgbClr val="FF0000"/>
                </a:solidFill>
              </a:rPr>
              <a:t>非</a:t>
            </a:r>
            <a:r>
              <a:rPr lang="zh-CN" altLang="en-US" sz="2400" b="1" dirty="0" smtClean="0">
                <a:solidFill>
                  <a:srgbClr val="FF0000"/>
                </a:solidFill>
              </a:rPr>
              <a:t>屏蔽双绞线</a:t>
            </a:r>
            <a:r>
              <a:rPr lang="zh-CN" altLang="en-US" sz="2400" b="1" dirty="0" smtClean="0">
                <a:solidFill>
                  <a:schemeClr val="tx2">
                    <a:lumMod val="75000"/>
                  </a:schemeClr>
                </a:solidFill>
              </a:rPr>
              <a:t>可用于点对点通信（重型汽车中牵引车与拖车之间的通信）</a:t>
            </a:r>
            <a:endParaRPr lang="en-US" altLang="zh-CN" sz="2400" b="1" dirty="0" smtClean="0">
              <a:solidFill>
                <a:schemeClr val="tx2">
                  <a:lumMod val="75000"/>
                </a:schemeClr>
              </a:solidFill>
            </a:endParaRPr>
          </a:p>
          <a:p>
            <a:pPr lvl="1"/>
            <a:r>
              <a:rPr lang="zh-CN" altLang="en-US" sz="2400" b="1" dirty="0" smtClean="0">
                <a:solidFill>
                  <a:srgbClr val="FF0000"/>
                </a:solidFill>
              </a:rPr>
              <a:t>光传输介质（光纤）</a:t>
            </a:r>
            <a:r>
              <a:rPr lang="zh-CN" altLang="en-US" sz="2400" b="1" dirty="0" smtClean="0">
                <a:solidFill>
                  <a:schemeClr val="tx2">
                    <a:lumMod val="75000"/>
                  </a:schemeClr>
                </a:solidFill>
              </a:rPr>
              <a:t>，不会受电磁干扰，可用于危险</a:t>
            </a:r>
            <a:r>
              <a:rPr lang="zh-CN" altLang="en-US" sz="2400" b="1" dirty="0">
                <a:solidFill>
                  <a:schemeClr val="tx2">
                    <a:lumMod val="75000"/>
                  </a:schemeClr>
                </a:solidFill>
              </a:rPr>
              <a:t>环境</a:t>
            </a:r>
            <a:r>
              <a:rPr lang="zh-CN" altLang="en-US" sz="2400" b="1" dirty="0" smtClean="0">
                <a:solidFill>
                  <a:schemeClr val="tx2">
                    <a:lumMod val="75000"/>
                  </a:schemeClr>
                </a:solidFill>
              </a:rPr>
              <a:t>，可以</a:t>
            </a:r>
            <a:r>
              <a:rPr lang="zh-CN" altLang="en-US" sz="2400" b="1" dirty="0">
                <a:solidFill>
                  <a:schemeClr val="tx2">
                    <a:lumMod val="75000"/>
                  </a:schemeClr>
                </a:solidFill>
              </a:rPr>
              <a:t>使用</a:t>
            </a:r>
            <a:r>
              <a:rPr lang="zh-CN" altLang="en-US" sz="2400" b="1" dirty="0" smtClean="0">
                <a:solidFill>
                  <a:schemeClr val="tx2">
                    <a:lumMod val="75000"/>
                  </a:schemeClr>
                </a:solidFill>
              </a:rPr>
              <a:t>中继器，通过</a:t>
            </a:r>
            <a:r>
              <a:rPr lang="zh-CN" altLang="en-US" sz="2400" b="1" dirty="0">
                <a:solidFill>
                  <a:schemeClr val="tx2">
                    <a:lumMod val="75000"/>
                  </a:schemeClr>
                </a:solidFill>
              </a:rPr>
              <a:t>光纤</a:t>
            </a:r>
            <a:r>
              <a:rPr lang="zh-CN" altLang="en-US" sz="2400" b="1" dirty="0" smtClean="0">
                <a:solidFill>
                  <a:schemeClr val="tx2">
                    <a:lumMod val="75000"/>
                  </a:schemeClr>
                </a:solidFill>
              </a:rPr>
              <a:t>连接</a:t>
            </a:r>
            <a:r>
              <a:rPr lang="zh-CN" altLang="en-US" sz="2400" b="1" dirty="0">
                <a:solidFill>
                  <a:schemeClr val="tx2">
                    <a:lumMod val="75000"/>
                  </a:schemeClr>
                </a:solidFill>
              </a:rPr>
              <a:t>不同的</a:t>
            </a:r>
            <a:r>
              <a:rPr lang="en-US" altLang="zh-CN" sz="2400" b="1" dirty="0">
                <a:solidFill>
                  <a:schemeClr val="tx2">
                    <a:lumMod val="75000"/>
                  </a:schemeClr>
                </a:solidFill>
              </a:rPr>
              <a:t>CAN</a:t>
            </a:r>
            <a:r>
              <a:rPr lang="zh-CN" altLang="en-US" sz="2400" b="1" dirty="0">
                <a:solidFill>
                  <a:schemeClr val="tx2">
                    <a:lumMod val="75000"/>
                  </a:schemeClr>
                </a:solidFill>
              </a:rPr>
              <a:t>子</a:t>
            </a:r>
            <a:r>
              <a:rPr lang="zh-CN" altLang="en-US" sz="2400" b="1" dirty="0" smtClean="0">
                <a:solidFill>
                  <a:schemeClr val="tx2">
                    <a:lumMod val="75000"/>
                  </a:schemeClr>
                </a:solidFill>
              </a:rPr>
              <a:t>网络（扩大覆盖范围）；</a:t>
            </a:r>
            <a:endParaRPr lang="en-US" altLang="zh-CN" sz="2400" b="1" dirty="0">
              <a:solidFill>
                <a:schemeClr val="tx2">
                  <a:lumMod val="75000"/>
                </a:schemeClr>
              </a:solidFill>
            </a:endParaRPr>
          </a:p>
          <a:p>
            <a:pPr marL="0" indent="0">
              <a:buNone/>
            </a:pPr>
            <a:endParaRPr lang="en-US" altLang="zh-CN" sz="2400" b="1" dirty="0">
              <a:solidFill>
                <a:schemeClr val="tx2">
                  <a:lumMod val="75000"/>
                </a:schemeClr>
              </a:solidFill>
            </a:endParaRPr>
          </a:p>
          <a:p>
            <a:pPr lvl="1">
              <a:buFont typeface="Arial" panose="020B0604020202020204" pitchFamily="34" charset="0"/>
              <a:buChar char="•"/>
            </a:pPr>
            <a:endParaRPr lang="en-US" altLang="zh-CN" sz="2400" b="1" dirty="0" smtClean="0">
              <a:solidFill>
                <a:schemeClr val="tx2">
                  <a:lumMod val="75000"/>
                </a:schemeClr>
              </a:solidFill>
            </a:endParaRPr>
          </a:p>
        </p:txBody>
      </p:sp>
    </p:spTree>
    <p:extLst>
      <p:ext uri="{BB962C8B-B14F-4D97-AF65-F5344CB8AC3E}">
        <p14:creationId xmlns:p14="http://schemas.microsoft.com/office/powerpoint/2010/main" val="3387360260"/>
      </p:ext>
    </p:extLst>
  </p:cSld>
  <p:clrMapOvr>
    <a:masterClrMapping/>
  </p:clrMapOvr>
  <p:transition spd="slow">
    <p:push dir="u"/>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a:lstStyle/>
          <a:p>
            <a:r>
              <a:rPr lang="en-US" altLang="zh-CN" dirty="0" smtClean="0"/>
              <a:t>3.2 CAN</a:t>
            </a:r>
            <a:r>
              <a:rPr lang="zh-CN" altLang="en-US" dirty="0" smtClean="0"/>
              <a:t>协议基础</a:t>
            </a:r>
          </a:p>
        </p:txBody>
      </p:sp>
      <p:sp>
        <p:nvSpPr>
          <p:cNvPr id="17411" name="内容占位符 2"/>
          <p:cNvSpPr>
            <a:spLocks noGrp="1"/>
          </p:cNvSpPr>
          <p:nvPr>
            <p:ph idx="1"/>
          </p:nvPr>
        </p:nvSpPr>
        <p:spPr/>
        <p:txBody>
          <a:bodyPr/>
          <a:lstStyle/>
          <a:p>
            <a:pPr>
              <a:buFont typeface="Arial" panose="020B0604020202020204" pitchFamily="34" charset="0"/>
              <a:buChar char="•"/>
            </a:pPr>
            <a:r>
              <a:rPr lang="en-US" altLang="zh-CN" sz="2400" b="1" dirty="0" smtClean="0">
                <a:solidFill>
                  <a:schemeClr val="tx2">
                    <a:lumMod val="75000"/>
                  </a:schemeClr>
                </a:solidFill>
              </a:rPr>
              <a:t>CAN</a:t>
            </a:r>
            <a:r>
              <a:rPr lang="zh-CN" altLang="en-US" sz="2400" b="1" dirty="0" smtClean="0">
                <a:solidFill>
                  <a:schemeClr val="tx2">
                    <a:lumMod val="75000"/>
                  </a:schemeClr>
                </a:solidFill>
              </a:rPr>
              <a:t>标准中，</a:t>
            </a:r>
            <a:r>
              <a:rPr lang="zh-CN" altLang="en-US" sz="2400" b="1" dirty="0" smtClean="0">
                <a:solidFill>
                  <a:srgbClr val="FF0000"/>
                </a:solidFill>
              </a:rPr>
              <a:t>最大允许比特率</a:t>
            </a:r>
            <a:r>
              <a:rPr lang="zh-CN" altLang="en-US" sz="2400" b="1" dirty="0" smtClean="0">
                <a:solidFill>
                  <a:schemeClr val="tx2">
                    <a:lumMod val="75000"/>
                  </a:schemeClr>
                </a:solidFill>
              </a:rPr>
              <a:t>为</a:t>
            </a:r>
            <a:r>
              <a:rPr lang="en-US" altLang="zh-CN" sz="2400" b="1" dirty="0" smtClean="0">
                <a:solidFill>
                  <a:schemeClr val="tx2">
                    <a:lumMod val="75000"/>
                  </a:schemeClr>
                </a:solidFill>
              </a:rPr>
              <a:t>1Mb/s</a:t>
            </a:r>
            <a:r>
              <a:rPr lang="zh-CN" altLang="en-US" sz="2400" b="1" dirty="0" smtClean="0">
                <a:solidFill>
                  <a:schemeClr val="tx2">
                    <a:lumMod val="75000"/>
                  </a:schemeClr>
                </a:solidFill>
              </a:rPr>
              <a:t>（通常采用的比特率范围</a:t>
            </a:r>
            <a:r>
              <a:rPr lang="en-US" altLang="zh-CN" sz="2400" b="1" dirty="0" smtClean="0">
                <a:solidFill>
                  <a:schemeClr val="tx2">
                    <a:lumMod val="75000"/>
                  </a:schemeClr>
                </a:solidFill>
              </a:rPr>
              <a:t>50k~1Mb/s</a:t>
            </a:r>
            <a:r>
              <a:rPr lang="zh-CN" altLang="en-US" sz="2400" b="1" dirty="0" smtClean="0">
                <a:solidFill>
                  <a:schemeClr val="tx2">
                    <a:lumMod val="75000"/>
                  </a:schemeClr>
                </a:solidFill>
              </a:rPr>
              <a:t>）；</a:t>
            </a:r>
            <a:endParaRPr lang="en-US" altLang="zh-CN" sz="2400" b="1" dirty="0" smtClean="0">
              <a:solidFill>
                <a:schemeClr val="tx2">
                  <a:lumMod val="75000"/>
                </a:schemeClr>
              </a:solidFill>
            </a:endParaRPr>
          </a:p>
          <a:p>
            <a:pPr>
              <a:buFont typeface="Arial" panose="020B0604020202020204" pitchFamily="34" charset="0"/>
              <a:buChar char="•"/>
            </a:pPr>
            <a:r>
              <a:rPr lang="zh-CN" altLang="en-US" sz="2400" b="1" dirty="0" smtClean="0">
                <a:solidFill>
                  <a:schemeClr val="tx2">
                    <a:lumMod val="75000"/>
                  </a:schemeClr>
                </a:solidFill>
              </a:rPr>
              <a:t>网络</a:t>
            </a:r>
            <a:r>
              <a:rPr lang="zh-CN" altLang="en-US" sz="2400" b="1" dirty="0">
                <a:solidFill>
                  <a:schemeClr val="tx2">
                    <a:lumMod val="75000"/>
                  </a:schemeClr>
                </a:solidFill>
              </a:rPr>
              <a:t>速度不高时，比特率与总线长度的乘积近似为常数（</a:t>
            </a:r>
            <a:r>
              <a:rPr lang="en-US" altLang="zh-CN" sz="2400" dirty="0"/>
              <a:t>500kb/s—100m</a:t>
            </a:r>
            <a:r>
              <a:rPr lang="zh-CN" altLang="en-US" sz="2400" dirty="0"/>
              <a:t>总线，</a:t>
            </a:r>
            <a:r>
              <a:rPr lang="en-US" altLang="zh-CN" sz="2400" dirty="0"/>
              <a:t>125kb/s – 500m</a:t>
            </a:r>
            <a:r>
              <a:rPr lang="zh-CN" altLang="en-US" sz="2400" dirty="0"/>
              <a:t>总线</a:t>
            </a:r>
            <a:r>
              <a:rPr lang="zh-CN" altLang="en-US" sz="2400" b="1" dirty="0">
                <a:solidFill>
                  <a:schemeClr val="tx2">
                    <a:lumMod val="75000"/>
                  </a:schemeClr>
                </a:solidFill>
              </a:rPr>
              <a:t>）</a:t>
            </a:r>
            <a:r>
              <a:rPr lang="zh-CN" altLang="en-US" sz="2400" b="1" dirty="0" smtClean="0">
                <a:solidFill>
                  <a:schemeClr val="tx2">
                    <a:lumMod val="75000"/>
                  </a:schemeClr>
                </a:solidFill>
              </a:rPr>
              <a:t>；</a:t>
            </a:r>
            <a:endParaRPr lang="en-US" altLang="zh-CN" sz="2400" b="1" dirty="0" smtClean="0">
              <a:solidFill>
                <a:schemeClr val="tx2">
                  <a:lumMod val="75000"/>
                </a:schemeClr>
              </a:solidFill>
            </a:endParaRPr>
          </a:p>
          <a:p>
            <a:pPr>
              <a:buFont typeface="Arial" panose="020B0604020202020204" pitchFamily="34" charset="0"/>
              <a:buChar char="•"/>
            </a:pPr>
            <a:r>
              <a:rPr lang="zh-CN" altLang="en-US" sz="2400" b="1" dirty="0" smtClean="0">
                <a:solidFill>
                  <a:schemeClr val="tx2">
                    <a:lumMod val="75000"/>
                  </a:schemeClr>
                </a:solidFill>
              </a:rPr>
              <a:t>中继器可以用于减小信号衰减，进而提高网络扩展性；</a:t>
            </a:r>
            <a:endParaRPr lang="en-US" altLang="zh-CN" sz="2400" b="1" dirty="0" smtClean="0">
              <a:solidFill>
                <a:schemeClr val="tx2">
                  <a:lumMod val="75000"/>
                </a:schemeClr>
              </a:solidFill>
            </a:endParaRPr>
          </a:p>
          <a:p>
            <a:pPr>
              <a:buFont typeface="Arial" panose="020B0604020202020204" pitchFamily="34" charset="0"/>
              <a:buChar char="•"/>
            </a:pPr>
            <a:r>
              <a:rPr lang="en-US" altLang="zh-CN" sz="2400" b="1" dirty="0" smtClean="0">
                <a:solidFill>
                  <a:schemeClr val="tx2">
                    <a:lumMod val="75000"/>
                  </a:schemeClr>
                </a:solidFill>
              </a:rPr>
              <a:t>CAN</a:t>
            </a:r>
            <a:r>
              <a:rPr lang="zh-CN" altLang="en-US" sz="2400" b="1" dirty="0" smtClean="0">
                <a:solidFill>
                  <a:schemeClr val="tx2">
                    <a:lumMod val="75000"/>
                  </a:schemeClr>
                </a:solidFill>
              </a:rPr>
              <a:t>标准中没有指定接插件，但以</a:t>
            </a:r>
            <a:r>
              <a:rPr lang="en-US" altLang="zh-CN" sz="2400" b="1" dirty="0" smtClean="0">
                <a:solidFill>
                  <a:schemeClr val="tx2">
                    <a:lumMod val="75000"/>
                  </a:schemeClr>
                </a:solidFill>
              </a:rPr>
              <a:t>CAN</a:t>
            </a:r>
            <a:r>
              <a:rPr lang="zh-CN" altLang="en-US" sz="2400" b="1" dirty="0" smtClean="0">
                <a:solidFill>
                  <a:schemeClr val="tx2">
                    <a:lumMod val="75000"/>
                  </a:schemeClr>
                </a:solidFill>
              </a:rPr>
              <a:t>为基础的某些高级协议则指定了接插件与引脚定义（如</a:t>
            </a:r>
            <a:r>
              <a:rPr lang="en-US" altLang="zh-CN" sz="2400" b="1" dirty="0" err="1" smtClean="0">
                <a:solidFill>
                  <a:schemeClr val="tx2">
                    <a:lumMod val="75000"/>
                  </a:schemeClr>
                </a:solidFill>
              </a:rPr>
              <a:t>CiA</a:t>
            </a:r>
            <a:r>
              <a:rPr lang="zh-CN" altLang="en-US" sz="2400" b="1" dirty="0" smtClean="0">
                <a:solidFill>
                  <a:schemeClr val="tx2">
                    <a:lumMod val="75000"/>
                  </a:schemeClr>
                </a:solidFill>
              </a:rPr>
              <a:t>使用</a:t>
            </a:r>
            <a:r>
              <a:rPr lang="en-US" altLang="zh-CN" sz="2400" b="1" dirty="0" smtClean="0">
                <a:solidFill>
                  <a:schemeClr val="tx2">
                    <a:lumMod val="75000"/>
                  </a:schemeClr>
                </a:solidFill>
              </a:rPr>
              <a:t>9</a:t>
            </a:r>
            <a:r>
              <a:rPr lang="zh-CN" altLang="en-US" sz="2400" b="1" dirty="0" smtClean="0">
                <a:solidFill>
                  <a:schemeClr val="tx2">
                    <a:lumMod val="75000"/>
                  </a:schemeClr>
                </a:solidFill>
              </a:rPr>
              <a:t>针</a:t>
            </a:r>
            <a:r>
              <a:rPr lang="en-US" altLang="zh-CN" sz="2400" b="1" dirty="0" smtClean="0">
                <a:solidFill>
                  <a:schemeClr val="tx2">
                    <a:lumMod val="75000"/>
                  </a:schemeClr>
                </a:solidFill>
              </a:rPr>
              <a:t>D-SUB</a:t>
            </a:r>
            <a:r>
              <a:rPr lang="zh-CN" altLang="en-US" sz="2400" b="1" dirty="0" smtClean="0">
                <a:solidFill>
                  <a:schemeClr val="tx2">
                    <a:lumMod val="75000"/>
                  </a:schemeClr>
                </a:solidFill>
              </a:rPr>
              <a:t>接插件，</a:t>
            </a:r>
            <a:r>
              <a:rPr lang="en-US" altLang="zh-CN" sz="2400" b="1" dirty="0" err="1" smtClean="0">
                <a:solidFill>
                  <a:schemeClr val="tx2">
                    <a:lumMod val="75000"/>
                  </a:schemeClr>
                </a:solidFill>
              </a:rPr>
              <a:t>DeviceNet</a:t>
            </a:r>
            <a:r>
              <a:rPr lang="zh-CN" altLang="en-US" sz="2400" b="1" dirty="0" smtClean="0">
                <a:solidFill>
                  <a:schemeClr val="tx2">
                    <a:lumMod val="75000"/>
                  </a:schemeClr>
                </a:solidFill>
              </a:rPr>
              <a:t>与</a:t>
            </a:r>
            <a:r>
              <a:rPr lang="en-US" altLang="zh-CN" sz="2400" b="1" dirty="0" err="1" smtClean="0">
                <a:solidFill>
                  <a:schemeClr val="tx2">
                    <a:lumMod val="75000"/>
                  </a:schemeClr>
                </a:solidFill>
              </a:rPr>
              <a:t>CANopen</a:t>
            </a:r>
            <a:r>
              <a:rPr lang="zh-CN" altLang="en-US" sz="2400" b="1" dirty="0" smtClean="0">
                <a:solidFill>
                  <a:schemeClr val="tx2">
                    <a:lumMod val="75000"/>
                  </a:schemeClr>
                </a:solidFill>
              </a:rPr>
              <a:t>建议使用</a:t>
            </a:r>
            <a:r>
              <a:rPr lang="en-US" altLang="zh-CN" sz="2400" b="1" dirty="0" smtClean="0">
                <a:solidFill>
                  <a:schemeClr val="tx2">
                    <a:lumMod val="75000"/>
                  </a:schemeClr>
                </a:solidFill>
              </a:rPr>
              <a:t>5</a:t>
            </a:r>
            <a:r>
              <a:rPr lang="zh-CN" altLang="en-US" sz="2400" b="1" dirty="0" smtClean="0">
                <a:solidFill>
                  <a:schemeClr val="tx2">
                    <a:lumMod val="75000"/>
                  </a:schemeClr>
                </a:solidFill>
              </a:rPr>
              <a:t>针等。此外，这些协议还对总线电缆、标准位速率等给出建议）；</a:t>
            </a:r>
            <a:endParaRPr lang="en-US" altLang="zh-CN" sz="2400" b="1" dirty="0" smtClean="0">
              <a:solidFill>
                <a:schemeClr val="tx2">
                  <a:lumMod val="75000"/>
                </a:schemeClr>
              </a:solidFill>
            </a:endParaRPr>
          </a:p>
          <a:p>
            <a:pPr lvl="1">
              <a:buFont typeface="Arial" panose="020B0604020202020204" pitchFamily="34" charset="0"/>
              <a:buChar char="•"/>
            </a:pPr>
            <a:endParaRPr lang="en-US" altLang="zh-CN" sz="2400" b="1" dirty="0" smtClean="0">
              <a:solidFill>
                <a:schemeClr val="tx2">
                  <a:lumMod val="75000"/>
                </a:schemeClr>
              </a:solidFill>
            </a:endParaRPr>
          </a:p>
        </p:txBody>
      </p:sp>
    </p:spTree>
    <p:extLst>
      <p:ext uri="{BB962C8B-B14F-4D97-AF65-F5344CB8AC3E}">
        <p14:creationId xmlns:p14="http://schemas.microsoft.com/office/powerpoint/2010/main" val="3067891357"/>
      </p:ext>
    </p:extLst>
  </p:cSld>
  <p:clrMapOvr>
    <a:masterClrMapping/>
  </p:clrMapOvr>
  <p:transition spd="slow">
    <p:push dir="u"/>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a:lstStyle/>
          <a:p>
            <a:r>
              <a:rPr lang="en-US" altLang="zh-CN" dirty="0" smtClean="0"/>
              <a:t>3.2 CAN</a:t>
            </a:r>
            <a:r>
              <a:rPr lang="zh-CN" altLang="en-US" dirty="0" smtClean="0"/>
              <a:t>协议基础</a:t>
            </a:r>
          </a:p>
        </p:txBody>
      </p:sp>
      <p:sp>
        <p:nvSpPr>
          <p:cNvPr id="17411" name="内容占位符 2"/>
          <p:cNvSpPr>
            <a:spLocks noGrp="1"/>
          </p:cNvSpPr>
          <p:nvPr>
            <p:ph idx="1"/>
          </p:nvPr>
        </p:nvSpPr>
        <p:spPr/>
        <p:txBody>
          <a:bodyPr/>
          <a:lstStyle/>
          <a:p>
            <a:pPr>
              <a:buFont typeface="Wingdings" panose="05000000000000000000" pitchFamily="2" charset="2"/>
              <a:buChar char="p"/>
            </a:pPr>
            <a:r>
              <a:rPr lang="zh-CN" altLang="en-US" sz="2800" b="1" dirty="0" smtClean="0">
                <a:solidFill>
                  <a:srgbClr val="FF0000"/>
                </a:solidFill>
              </a:rPr>
              <a:t>数据位</a:t>
            </a:r>
            <a:r>
              <a:rPr lang="zh-CN" altLang="en-US" sz="2800" b="1" dirty="0">
                <a:solidFill>
                  <a:srgbClr val="FF0000"/>
                </a:solidFill>
              </a:rPr>
              <a:t>编码</a:t>
            </a:r>
            <a:endParaRPr lang="en-US" altLang="zh-CN" sz="2800" b="1" dirty="0">
              <a:solidFill>
                <a:srgbClr val="FF0000"/>
              </a:solidFill>
            </a:endParaRPr>
          </a:p>
          <a:p>
            <a:pPr>
              <a:lnSpc>
                <a:spcPct val="125000"/>
              </a:lnSpc>
              <a:buFont typeface="Arial" panose="020B0604020202020204" pitchFamily="34" charset="0"/>
              <a:buChar char="•"/>
            </a:pPr>
            <a:r>
              <a:rPr lang="zh-CN" altLang="en-US" sz="2400" b="1" dirty="0">
                <a:solidFill>
                  <a:schemeClr val="tx2">
                    <a:lumMod val="75000"/>
                  </a:schemeClr>
                </a:solidFill>
              </a:rPr>
              <a:t>总线上的信号电平有两种，</a:t>
            </a:r>
            <a:r>
              <a:rPr lang="zh-CN" altLang="en-US" sz="2400" b="1" dirty="0" smtClean="0">
                <a:solidFill>
                  <a:srgbClr val="FF0000"/>
                </a:solidFill>
              </a:rPr>
              <a:t>显性位</a:t>
            </a:r>
            <a:r>
              <a:rPr lang="zh-CN" altLang="en-US" sz="2400" b="1" dirty="0" smtClean="0">
                <a:solidFill>
                  <a:schemeClr val="tx2">
                    <a:lumMod val="75000"/>
                  </a:schemeClr>
                </a:solidFill>
              </a:rPr>
              <a:t>与</a:t>
            </a:r>
            <a:r>
              <a:rPr lang="zh-CN" altLang="en-US" sz="2400" b="1" dirty="0" smtClean="0">
                <a:solidFill>
                  <a:srgbClr val="FF0000"/>
                </a:solidFill>
              </a:rPr>
              <a:t>隐性位</a:t>
            </a:r>
            <a:r>
              <a:rPr lang="zh-CN" altLang="en-US" sz="2400" b="1" dirty="0" smtClean="0">
                <a:solidFill>
                  <a:schemeClr val="tx2">
                    <a:lumMod val="75000"/>
                  </a:schemeClr>
                </a:solidFill>
              </a:rPr>
              <a:t>；</a:t>
            </a:r>
            <a:r>
              <a:rPr lang="zh-CN" altLang="en-US" sz="2400" b="1" dirty="0">
                <a:solidFill>
                  <a:schemeClr val="tx2">
                    <a:lumMod val="75000"/>
                  </a:schemeClr>
                </a:solidFill>
              </a:rPr>
              <a:t>若总线上至少有</a:t>
            </a:r>
            <a:r>
              <a:rPr lang="en-US" altLang="zh-CN" sz="2400" b="1" dirty="0">
                <a:solidFill>
                  <a:schemeClr val="tx2">
                    <a:lumMod val="75000"/>
                  </a:schemeClr>
                </a:solidFill>
              </a:rPr>
              <a:t>1</a:t>
            </a:r>
            <a:r>
              <a:rPr lang="zh-CN" altLang="en-US" sz="2400" b="1" dirty="0">
                <a:solidFill>
                  <a:schemeClr val="tx2">
                    <a:lumMod val="75000"/>
                  </a:schemeClr>
                </a:solidFill>
              </a:rPr>
              <a:t>个节点输出为“显性”，则</a:t>
            </a:r>
            <a:r>
              <a:rPr lang="zh-CN" altLang="en-US" sz="2400" b="1" dirty="0" smtClean="0">
                <a:solidFill>
                  <a:schemeClr val="tx2">
                    <a:lumMod val="75000"/>
                  </a:schemeClr>
                </a:solidFill>
              </a:rPr>
              <a:t>总线即为</a:t>
            </a:r>
            <a:r>
              <a:rPr lang="zh-CN" altLang="en-US" sz="2400" b="1" dirty="0">
                <a:solidFill>
                  <a:schemeClr val="tx2">
                    <a:lumMod val="75000"/>
                  </a:schemeClr>
                </a:solidFill>
              </a:rPr>
              <a:t>显性；反之，若总线上所有节点输出为“隐性</a:t>
            </a:r>
            <a:r>
              <a:rPr lang="en-US" altLang="zh-CN" sz="2400" b="1" dirty="0">
                <a:solidFill>
                  <a:schemeClr val="tx2">
                    <a:lumMod val="75000"/>
                  </a:schemeClr>
                </a:solidFill>
              </a:rPr>
              <a:t>”</a:t>
            </a:r>
            <a:r>
              <a:rPr lang="zh-CN" altLang="en-US" sz="2400" b="1" dirty="0">
                <a:solidFill>
                  <a:schemeClr val="tx2">
                    <a:lumMod val="75000"/>
                  </a:schemeClr>
                </a:solidFill>
              </a:rPr>
              <a:t>，则总线输出为隐性</a:t>
            </a:r>
            <a:r>
              <a:rPr lang="zh-CN" altLang="en-US" sz="2400" b="1" dirty="0" smtClean="0">
                <a:solidFill>
                  <a:schemeClr val="tx2">
                    <a:lumMod val="75000"/>
                  </a:schemeClr>
                </a:solidFill>
              </a:rPr>
              <a:t>；</a:t>
            </a:r>
            <a:endParaRPr lang="en-US" altLang="zh-CN" sz="2400" b="1" dirty="0" smtClean="0">
              <a:solidFill>
                <a:schemeClr val="tx2">
                  <a:lumMod val="75000"/>
                </a:schemeClr>
              </a:solidFill>
            </a:endParaRPr>
          </a:p>
          <a:p>
            <a:pPr>
              <a:lnSpc>
                <a:spcPct val="125000"/>
              </a:lnSpc>
              <a:buFont typeface="Arial" panose="020B0604020202020204" pitchFamily="34" charset="0"/>
              <a:buChar char="•"/>
            </a:pPr>
            <a:r>
              <a:rPr lang="zh-CN" altLang="en-US" sz="2400" b="1" dirty="0" smtClean="0">
                <a:solidFill>
                  <a:srgbClr val="FF0000"/>
                </a:solidFill>
              </a:rPr>
              <a:t>显性</a:t>
            </a:r>
            <a:r>
              <a:rPr lang="zh-CN" altLang="en-US" sz="2400" b="1" dirty="0" smtClean="0">
                <a:solidFill>
                  <a:schemeClr val="tx2">
                    <a:lumMod val="75000"/>
                  </a:schemeClr>
                </a:solidFill>
              </a:rPr>
              <a:t>电平对应</a:t>
            </a:r>
            <a:r>
              <a:rPr lang="zh-CN" altLang="en-US" sz="2400" b="1" dirty="0" smtClean="0">
                <a:solidFill>
                  <a:srgbClr val="FF0000"/>
                </a:solidFill>
              </a:rPr>
              <a:t>逻辑值</a:t>
            </a:r>
            <a:r>
              <a:rPr lang="en-US" altLang="zh-CN" sz="2400" b="1" dirty="0" smtClean="0">
                <a:solidFill>
                  <a:srgbClr val="FF0000"/>
                </a:solidFill>
              </a:rPr>
              <a:t>0</a:t>
            </a:r>
            <a:r>
              <a:rPr lang="zh-CN" altLang="en-US" sz="2400" b="1" dirty="0" smtClean="0">
                <a:solidFill>
                  <a:schemeClr val="tx2">
                    <a:lumMod val="75000"/>
                  </a:schemeClr>
                </a:solidFill>
              </a:rPr>
              <a:t>，</a:t>
            </a:r>
            <a:r>
              <a:rPr lang="zh-CN" altLang="en-US" sz="2400" b="1" dirty="0" smtClean="0">
                <a:solidFill>
                  <a:srgbClr val="FF0000"/>
                </a:solidFill>
              </a:rPr>
              <a:t>隐性</a:t>
            </a:r>
            <a:r>
              <a:rPr lang="zh-CN" altLang="en-US" sz="2400" b="1" dirty="0" smtClean="0">
                <a:solidFill>
                  <a:schemeClr val="tx2">
                    <a:lumMod val="75000"/>
                  </a:schemeClr>
                </a:solidFill>
              </a:rPr>
              <a:t>电平对应</a:t>
            </a:r>
            <a:r>
              <a:rPr lang="zh-CN" altLang="en-US" sz="2400" b="1" dirty="0" smtClean="0">
                <a:solidFill>
                  <a:srgbClr val="FF0000"/>
                </a:solidFill>
              </a:rPr>
              <a:t>逻辑值</a:t>
            </a:r>
            <a:r>
              <a:rPr lang="en-US" altLang="zh-CN" sz="2400" b="1" dirty="0" smtClean="0">
                <a:solidFill>
                  <a:srgbClr val="FF0000"/>
                </a:solidFill>
              </a:rPr>
              <a:t>1</a:t>
            </a:r>
            <a:r>
              <a:rPr lang="zh-CN" altLang="en-US" sz="2400" b="1" dirty="0" smtClean="0">
                <a:solidFill>
                  <a:schemeClr val="tx2">
                    <a:lumMod val="75000"/>
                  </a:schemeClr>
                </a:solidFill>
              </a:rPr>
              <a:t>；</a:t>
            </a:r>
            <a:endParaRPr lang="en-US" altLang="zh-CN" sz="2400" b="1" dirty="0" smtClean="0">
              <a:solidFill>
                <a:schemeClr val="tx2">
                  <a:lumMod val="75000"/>
                </a:schemeClr>
              </a:solidFill>
            </a:endParaRPr>
          </a:p>
          <a:p>
            <a:pPr>
              <a:lnSpc>
                <a:spcPct val="125000"/>
              </a:lnSpc>
              <a:buFont typeface="Arial" panose="020B0604020202020204" pitchFamily="34" charset="0"/>
              <a:buChar char="•"/>
            </a:pPr>
            <a:r>
              <a:rPr lang="en-US" altLang="zh-CN" sz="2400" b="1" dirty="0" smtClean="0">
                <a:solidFill>
                  <a:schemeClr val="tx2">
                    <a:lumMod val="75000"/>
                  </a:schemeClr>
                </a:solidFill>
              </a:rPr>
              <a:t>CAN</a:t>
            </a:r>
            <a:r>
              <a:rPr lang="zh-CN" altLang="en-US" sz="2400" b="1" dirty="0" smtClean="0">
                <a:solidFill>
                  <a:schemeClr val="tx2">
                    <a:lumMod val="75000"/>
                  </a:schemeClr>
                </a:solidFill>
              </a:rPr>
              <a:t>使用</a:t>
            </a:r>
            <a:r>
              <a:rPr lang="zh-CN" altLang="en-US" sz="2400" b="1" dirty="0" smtClean="0">
                <a:solidFill>
                  <a:srgbClr val="FF0000"/>
                </a:solidFill>
              </a:rPr>
              <a:t>非归零编码</a:t>
            </a:r>
            <a:r>
              <a:rPr lang="zh-CN" altLang="en-US" sz="2400" b="1" dirty="0" smtClean="0">
                <a:solidFill>
                  <a:schemeClr val="tx2">
                    <a:lumMod val="75000"/>
                  </a:schemeClr>
                </a:solidFill>
              </a:rPr>
              <a:t>，节点间的位同步使用</a:t>
            </a:r>
            <a:r>
              <a:rPr lang="zh-CN" altLang="en-US" sz="2400" b="1" dirty="0" smtClean="0">
                <a:solidFill>
                  <a:srgbClr val="FF0000"/>
                </a:solidFill>
              </a:rPr>
              <a:t>数字锁相环技术</a:t>
            </a:r>
            <a:r>
              <a:rPr lang="zh-CN" altLang="en-US" sz="2400" b="1" dirty="0" smtClean="0">
                <a:solidFill>
                  <a:schemeClr val="tx2">
                    <a:lumMod val="75000"/>
                  </a:schemeClr>
                </a:solidFill>
              </a:rPr>
              <a:t>；</a:t>
            </a:r>
            <a:endParaRPr lang="en-US" altLang="zh-CN" sz="2400" b="1" dirty="0">
              <a:solidFill>
                <a:schemeClr val="tx2">
                  <a:lumMod val="75000"/>
                </a:schemeClr>
              </a:solidFill>
            </a:endParaRPr>
          </a:p>
          <a:p>
            <a:pPr>
              <a:buFont typeface="Arial" panose="020B0604020202020204" pitchFamily="34" charset="0"/>
              <a:buChar char="•"/>
            </a:pPr>
            <a:endParaRPr lang="en-US" altLang="zh-CN" sz="2400" b="1" dirty="0">
              <a:solidFill>
                <a:schemeClr val="tx2">
                  <a:lumMod val="75000"/>
                </a:schemeClr>
              </a:solidFill>
            </a:endParaRPr>
          </a:p>
          <a:p>
            <a:pPr lvl="1">
              <a:buFont typeface="Arial" panose="020B0604020202020204" pitchFamily="34" charset="0"/>
              <a:buChar char="•"/>
            </a:pPr>
            <a:endParaRPr lang="en-US" altLang="zh-CN" sz="2400" b="1" dirty="0" smtClean="0">
              <a:solidFill>
                <a:schemeClr val="tx2">
                  <a:lumMod val="75000"/>
                </a:schemeClr>
              </a:solidFill>
            </a:endParaRPr>
          </a:p>
        </p:txBody>
      </p:sp>
    </p:spTree>
    <p:extLst>
      <p:ext uri="{BB962C8B-B14F-4D97-AF65-F5344CB8AC3E}">
        <p14:creationId xmlns:p14="http://schemas.microsoft.com/office/powerpoint/2010/main" val="2769989180"/>
      </p:ext>
    </p:extLst>
  </p:cSld>
  <p:clrMapOvr>
    <a:masterClrMapping/>
  </p:clrMapOvr>
  <p:transition spd="slow">
    <p:push dir="u"/>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r>
              <a:rPr lang="en-US" altLang="zh-CN" dirty="0" smtClean="0"/>
              <a:t>3.2 CAN</a:t>
            </a:r>
            <a:r>
              <a:rPr lang="zh-CN" altLang="en-US" dirty="0" smtClean="0"/>
              <a:t>协议基础</a:t>
            </a:r>
          </a:p>
        </p:txBody>
      </p:sp>
      <p:sp>
        <p:nvSpPr>
          <p:cNvPr id="3" name="内容占位符 2"/>
          <p:cNvSpPr>
            <a:spLocks noGrp="1"/>
          </p:cNvSpPr>
          <p:nvPr>
            <p:ph idx="1"/>
          </p:nvPr>
        </p:nvSpPr>
        <p:spPr/>
        <p:txBody>
          <a:bodyPr/>
          <a:lstStyle/>
          <a:p>
            <a:pPr marL="0" indent="0">
              <a:buFont typeface="Wingdings" pitchFamily="2" charset="2"/>
              <a:buNone/>
              <a:defRPr/>
            </a:pPr>
            <a:r>
              <a:rPr lang="en-US" altLang="zh-CN" b="1" dirty="0" smtClean="0">
                <a:solidFill>
                  <a:srgbClr val="FF0000"/>
                </a:solidFill>
              </a:rPr>
              <a:t>2. CAN</a:t>
            </a:r>
            <a:r>
              <a:rPr lang="zh-CN" altLang="en-US" b="1" dirty="0">
                <a:solidFill>
                  <a:srgbClr val="FF0000"/>
                </a:solidFill>
              </a:rPr>
              <a:t>报文帧</a:t>
            </a:r>
            <a:r>
              <a:rPr lang="zh-CN" altLang="en-US" b="1" dirty="0" smtClean="0">
                <a:solidFill>
                  <a:srgbClr val="FF0000"/>
                </a:solidFill>
              </a:rPr>
              <a:t>的格式</a:t>
            </a:r>
            <a:endParaRPr lang="en-US" altLang="zh-CN" b="1" dirty="0" smtClean="0">
              <a:solidFill>
                <a:srgbClr val="FF0000"/>
              </a:solidFill>
            </a:endParaRPr>
          </a:p>
          <a:p>
            <a:pPr>
              <a:buFont typeface="Arial" panose="020B0604020202020204" pitchFamily="34" charset="0"/>
              <a:buChar char="•"/>
              <a:defRPr/>
            </a:pPr>
            <a:r>
              <a:rPr lang="en-US" altLang="zh-CN" sz="2400" b="1" dirty="0" smtClean="0">
                <a:solidFill>
                  <a:schemeClr val="accent3">
                    <a:lumMod val="50000"/>
                  </a:schemeClr>
                </a:solidFill>
              </a:rPr>
              <a:t>CAN</a:t>
            </a:r>
            <a:r>
              <a:rPr lang="zh-CN" altLang="en-US" sz="2400" b="1" dirty="0" smtClean="0">
                <a:solidFill>
                  <a:schemeClr val="accent3">
                    <a:lumMod val="50000"/>
                  </a:schemeClr>
                </a:solidFill>
              </a:rPr>
              <a:t>协议中定义了</a:t>
            </a:r>
            <a:r>
              <a:rPr lang="zh-CN" altLang="en-US" sz="2400" b="1" dirty="0" smtClean="0">
                <a:solidFill>
                  <a:srgbClr val="FF0000"/>
                </a:solidFill>
              </a:rPr>
              <a:t>四</a:t>
            </a:r>
            <a:r>
              <a:rPr lang="zh-CN" altLang="en-US" sz="2400" b="1" dirty="0">
                <a:solidFill>
                  <a:srgbClr val="FF0000"/>
                </a:solidFill>
              </a:rPr>
              <a:t>种</a:t>
            </a:r>
            <a:r>
              <a:rPr lang="zh-CN" altLang="en-US" sz="2400" b="1" dirty="0" smtClean="0">
                <a:solidFill>
                  <a:srgbClr val="FF0000"/>
                </a:solidFill>
              </a:rPr>
              <a:t>类型</a:t>
            </a:r>
            <a:r>
              <a:rPr lang="zh-CN" altLang="en-US" sz="2400" b="1" dirty="0" smtClean="0">
                <a:latin typeface="楷体_GB2312" pitchFamily="49" charset="-122"/>
              </a:rPr>
              <a:t>报文</a:t>
            </a:r>
            <a:r>
              <a:rPr lang="zh-CN" altLang="en-US" sz="2400" b="1" dirty="0">
                <a:latin typeface="楷体_GB2312" pitchFamily="49" charset="-122"/>
              </a:rPr>
              <a:t>帧</a:t>
            </a:r>
            <a:r>
              <a:rPr lang="en-US" altLang="zh-CN" sz="2400" b="1" dirty="0" smtClean="0">
                <a:latin typeface="楷体_GB2312" pitchFamily="49" charset="-122"/>
              </a:rPr>
              <a:t>:</a:t>
            </a:r>
            <a:r>
              <a:rPr lang="zh-CN" altLang="zh-CN" sz="2400" b="1" dirty="0" smtClean="0">
                <a:solidFill>
                  <a:srgbClr val="C00000"/>
                </a:solidFill>
                <a:latin typeface="楷体_GB2312" pitchFamily="49" charset="-122"/>
              </a:rPr>
              <a:t>数据帧</a:t>
            </a:r>
            <a:r>
              <a:rPr lang="zh-CN" altLang="en-US" sz="2400" b="1" dirty="0" smtClean="0">
                <a:latin typeface="楷体_GB2312" pitchFamily="49" charset="-122"/>
              </a:rPr>
              <a:t>、</a:t>
            </a:r>
            <a:r>
              <a:rPr lang="zh-CN" altLang="zh-CN" sz="2400" b="1" dirty="0" smtClean="0">
                <a:solidFill>
                  <a:srgbClr val="C00000"/>
                </a:solidFill>
                <a:latin typeface="楷体_GB2312" pitchFamily="49" charset="-122"/>
              </a:rPr>
              <a:t>远程帧</a:t>
            </a:r>
            <a:r>
              <a:rPr lang="zh-CN" altLang="en-US" sz="2400" b="1" dirty="0" smtClean="0">
                <a:solidFill>
                  <a:srgbClr val="C00000"/>
                </a:solidFill>
                <a:latin typeface="楷体_GB2312" pitchFamily="49" charset="-122"/>
              </a:rPr>
              <a:t>、</a:t>
            </a:r>
            <a:r>
              <a:rPr lang="zh-CN" altLang="zh-CN" sz="2400" b="1" dirty="0" smtClean="0">
                <a:solidFill>
                  <a:srgbClr val="C00000"/>
                </a:solidFill>
                <a:latin typeface="楷体_GB2312" pitchFamily="49" charset="-122"/>
              </a:rPr>
              <a:t>错误帧</a:t>
            </a:r>
            <a:r>
              <a:rPr lang="zh-CN" altLang="en-US" sz="2400" b="1" dirty="0" smtClean="0">
                <a:solidFill>
                  <a:srgbClr val="C00000"/>
                </a:solidFill>
                <a:latin typeface="楷体_GB2312" pitchFamily="49" charset="-122"/>
              </a:rPr>
              <a:t>、</a:t>
            </a:r>
            <a:r>
              <a:rPr lang="zh-CN" altLang="zh-CN" sz="2400" b="1" dirty="0" smtClean="0">
                <a:solidFill>
                  <a:srgbClr val="C00000"/>
                </a:solidFill>
                <a:latin typeface="楷体_GB2312" pitchFamily="49" charset="-122"/>
              </a:rPr>
              <a:t>超载帧</a:t>
            </a:r>
            <a:r>
              <a:rPr lang="zh-CN" altLang="en-US" sz="2400" b="1" dirty="0" smtClean="0">
                <a:solidFill>
                  <a:srgbClr val="C00000"/>
                </a:solidFill>
                <a:latin typeface="楷体_GB2312" pitchFamily="49" charset="-122"/>
              </a:rPr>
              <a:t>；</a:t>
            </a:r>
            <a:endParaRPr lang="en-US" altLang="zh-CN" sz="2400" b="1" dirty="0" smtClean="0">
              <a:solidFill>
                <a:srgbClr val="C00000"/>
              </a:solidFill>
              <a:latin typeface="楷体_GB2312" pitchFamily="49" charset="-122"/>
            </a:endParaRPr>
          </a:p>
          <a:p>
            <a:pPr>
              <a:buFont typeface="Arial" panose="020B0604020202020204" pitchFamily="34" charset="0"/>
              <a:buChar char="•"/>
              <a:defRPr/>
            </a:pPr>
            <a:r>
              <a:rPr lang="zh-CN" altLang="zh-CN" sz="2400" b="1" dirty="0" smtClean="0">
                <a:solidFill>
                  <a:srgbClr val="C00000"/>
                </a:solidFill>
                <a:latin typeface="楷体_GB2312" pitchFamily="49" charset="-122"/>
              </a:rPr>
              <a:t>数据帧</a:t>
            </a:r>
            <a:r>
              <a:rPr lang="zh-CN" altLang="en-US" sz="2400" b="1" dirty="0" smtClean="0">
                <a:latin typeface="楷体_GB2312" pitchFamily="49" charset="-122"/>
              </a:rPr>
              <a:t>与</a:t>
            </a:r>
            <a:r>
              <a:rPr lang="zh-CN" altLang="zh-CN" sz="2400" b="1" dirty="0" smtClean="0">
                <a:solidFill>
                  <a:srgbClr val="C00000"/>
                </a:solidFill>
                <a:latin typeface="楷体_GB2312" pitchFamily="49" charset="-122"/>
              </a:rPr>
              <a:t>远程帧</a:t>
            </a:r>
            <a:r>
              <a:rPr lang="zh-CN" altLang="en-US" sz="2400" b="1" dirty="0" smtClean="0"/>
              <a:t>类似，依据</a:t>
            </a:r>
            <a:r>
              <a:rPr lang="zh-CN" altLang="en-US" sz="2400" b="1" dirty="0" smtClean="0">
                <a:solidFill>
                  <a:srgbClr val="C00000"/>
                </a:solidFill>
              </a:rPr>
              <a:t>标识符长度</a:t>
            </a:r>
            <a:r>
              <a:rPr lang="zh-CN" altLang="en-US" sz="2400" b="1" dirty="0" smtClean="0"/>
              <a:t>分为</a:t>
            </a:r>
            <a:r>
              <a:rPr lang="zh-CN" altLang="en-US" sz="2400" b="1" dirty="0" smtClean="0">
                <a:solidFill>
                  <a:srgbClr val="C00000"/>
                </a:solidFill>
              </a:rPr>
              <a:t>标准</a:t>
            </a:r>
            <a:r>
              <a:rPr lang="zh-CN" altLang="en-US" sz="2400" b="1" dirty="0" smtClean="0">
                <a:solidFill>
                  <a:schemeClr val="accent3">
                    <a:lumMod val="50000"/>
                  </a:schemeClr>
                </a:solidFill>
              </a:rPr>
              <a:t>与</a:t>
            </a:r>
            <a:r>
              <a:rPr lang="zh-CN" altLang="en-US" sz="2400" b="1" dirty="0" smtClean="0">
                <a:solidFill>
                  <a:srgbClr val="C00000"/>
                </a:solidFill>
              </a:rPr>
              <a:t>扩展格式；</a:t>
            </a:r>
            <a:endParaRPr lang="en-US" altLang="zh-CN" sz="2400" b="1" dirty="0" smtClean="0">
              <a:solidFill>
                <a:srgbClr val="C00000"/>
              </a:solidFill>
            </a:endParaRPr>
          </a:p>
          <a:p>
            <a:pPr lvl="1">
              <a:buFont typeface="Wingdings" panose="05000000000000000000" pitchFamily="2" charset="2"/>
              <a:buChar char="p"/>
              <a:defRPr/>
            </a:pPr>
            <a:r>
              <a:rPr lang="zh-CN" altLang="en-US" sz="2400" b="1" dirty="0" smtClean="0">
                <a:solidFill>
                  <a:schemeClr val="tx2">
                    <a:lumMod val="50000"/>
                  </a:schemeClr>
                </a:solidFill>
              </a:rPr>
              <a:t>实际</a:t>
            </a:r>
            <a:r>
              <a:rPr lang="zh-CN" altLang="en-US" sz="2400" b="1" dirty="0">
                <a:solidFill>
                  <a:schemeClr val="tx2">
                    <a:lumMod val="50000"/>
                  </a:schemeClr>
                </a:solidFill>
              </a:rPr>
              <a:t>应用</a:t>
            </a:r>
            <a:r>
              <a:rPr lang="zh-CN" altLang="en-US" sz="2400" b="1" dirty="0" smtClean="0">
                <a:solidFill>
                  <a:schemeClr val="tx2">
                    <a:lumMod val="50000"/>
                  </a:schemeClr>
                </a:solidFill>
              </a:rPr>
              <a:t>中，使用标准格式的</a:t>
            </a:r>
            <a:r>
              <a:rPr lang="en-US" altLang="zh-CN" sz="2400" b="1" dirty="0" smtClean="0">
                <a:solidFill>
                  <a:schemeClr val="tx2">
                    <a:lumMod val="50000"/>
                  </a:schemeClr>
                </a:solidFill>
              </a:rPr>
              <a:t>CAN</a:t>
            </a:r>
            <a:r>
              <a:rPr lang="zh-CN" altLang="en-US" sz="2400" b="1" dirty="0" smtClean="0">
                <a:solidFill>
                  <a:schemeClr val="tx2">
                    <a:lumMod val="50000"/>
                  </a:schemeClr>
                </a:solidFill>
              </a:rPr>
              <a:t>报文帧相较扩展格式具有更高的传输效率，大部分</a:t>
            </a:r>
            <a:r>
              <a:rPr lang="en-US" altLang="zh-CN" sz="2400" b="1" dirty="0" smtClean="0">
                <a:solidFill>
                  <a:schemeClr val="tx2">
                    <a:lumMod val="50000"/>
                  </a:schemeClr>
                </a:solidFill>
              </a:rPr>
              <a:t>CAN</a:t>
            </a:r>
            <a:r>
              <a:rPr lang="zh-CN" altLang="en-US" sz="2400" b="1" dirty="0" smtClean="0">
                <a:solidFill>
                  <a:schemeClr val="tx2">
                    <a:lumMod val="50000"/>
                  </a:schemeClr>
                </a:solidFill>
              </a:rPr>
              <a:t>系统，以及基于</a:t>
            </a:r>
            <a:r>
              <a:rPr lang="en-US" altLang="zh-CN" sz="2400" b="1" dirty="0" smtClean="0">
                <a:solidFill>
                  <a:schemeClr val="tx2">
                    <a:lumMod val="50000"/>
                  </a:schemeClr>
                </a:solidFill>
              </a:rPr>
              <a:t>CAN</a:t>
            </a:r>
            <a:r>
              <a:rPr lang="zh-CN" altLang="en-US" sz="2400" b="1" dirty="0" smtClean="0">
                <a:solidFill>
                  <a:schemeClr val="tx2">
                    <a:lumMod val="50000"/>
                  </a:schemeClr>
                </a:solidFill>
              </a:rPr>
              <a:t>的高层协议（</a:t>
            </a:r>
            <a:r>
              <a:rPr lang="en-US" altLang="zh-CN" sz="2400" b="1" dirty="0" err="1" smtClean="0">
                <a:solidFill>
                  <a:schemeClr val="tx2">
                    <a:lumMod val="50000"/>
                  </a:schemeClr>
                </a:solidFill>
              </a:rPr>
              <a:t>CANopen</a:t>
            </a:r>
            <a:r>
              <a:rPr lang="zh-CN" altLang="en-US" sz="2400" b="1" dirty="0" smtClean="0">
                <a:solidFill>
                  <a:schemeClr val="tx2">
                    <a:lumMod val="50000"/>
                  </a:schemeClr>
                </a:solidFill>
              </a:rPr>
              <a:t>，</a:t>
            </a:r>
            <a:r>
              <a:rPr lang="en-US" altLang="zh-CN" sz="2400" b="1" dirty="0" err="1" smtClean="0">
                <a:solidFill>
                  <a:schemeClr val="tx2">
                    <a:lumMod val="50000"/>
                  </a:schemeClr>
                </a:solidFill>
              </a:rPr>
              <a:t>DeviceNet</a:t>
            </a:r>
            <a:r>
              <a:rPr lang="zh-CN" altLang="en-US" sz="2400" b="1" dirty="0" smtClean="0">
                <a:solidFill>
                  <a:schemeClr val="tx2">
                    <a:lumMod val="50000"/>
                  </a:schemeClr>
                </a:solidFill>
              </a:rPr>
              <a:t>）都使用标准格式。</a:t>
            </a:r>
            <a:endParaRPr lang="en-US" altLang="zh-CN" sz="2400" b="1" dirty="0">
              <a:solidFill>
                <a:schemeClr val="tx2">
                  <a:lumMod val="50000"/>
                </a:schemeClr>
              </a:solidFill>
            </a:endParaRPr>
          </a:p>
          <a:p>
            <a:pPr marL="457200" lvl="1" indent="0">
              <a:buNone/>
              <a:defRPr/>
            </a:pPr>
            <a:endParaRPr lang="en-US" altLang="zh-CN" sz="2000" b="1" dirty="0" smtClean="0">
              <a:solidFill>
                <a:schemeClr val="tx2">
                  <a:lumMod val="50000"/>
                </a:schemeClr>
              </a:solidFill>
            </a:endParaRPr>
          </a:p>
          <a:p>
            <a:pPr>
              <a:buFont typeface="Arial" panose="020B0604020202020204" pitchFamily="34" charset="0"/>
              <a:buChar char="•"/>
              <a:defRPr/>
            </a:pPr>
            <a:r>
              <a:rPr lang="zh-CN" altLang="en-US" sz="2400" b="1" dirty="0">
                <a:solidFill>
                  <a:srgbClr val="C00000"/>
                </a:solidFill>
              </a:rPr>
              <a:t>错误</a:t>
            </a:r>
            <a:r>
              <a:rPr lang="zh-CN" altLang="en-US" sz="2400" b="1" dirty="0" smtClean="0">
                <a:solidFill>
                  <a:srgbClr val="C00000"/>
                </a:solidFill>
              </a:rPr>
              <a:t>帧</a:t>
            </a:r>
            <a:r>
              <a:rPr lang="zh-CN" altLang="en-US" sz="2400" b="1" dirty="0" smtClean="0"/>
              <a:t>与</a:t>
            </a:r>
            <a:r>
              <a:rPr lang="zh-CN" altLang="en-US" sz="2400" b="1" dirty="0" smtClean="0">
                <a:solidFill>
                  <a:srgbClr val="C00000"/>
                </a:solidFill>
              </a:rPr>
              <a:t>超载帧</a:t>
            </a:r>
            <a:r>
              <a:rPr lang="zh-CN" altLang="en-US" sz="2400" b="1" dirty="0" smtClean="0"/>
              <a:t>类似，不用于传输信息，在某些特定条件下由</a:t>
            </a:r>
            <a:r>
              <a:rPr lang="en-US" altLang="zh-CN" sz="2400" b="1" dirty="0" smtClean="0"/>
              <a:t>CAN</a:t>
            </a:r>
            <a:r>
              <a:rPr lang="zh-CN" altLang="en-US" sz="2400" b="1" dirty="0" smtClean="0"/>
              <a:t>控制器自动发送。</a:t>
            </a:r>
            <a:endParaRPr lang="en-US" altLang="zh-CN" sz="2400" b="1" dirty="0" smtClean="0"/>
          </a:p>
          <a:p>
            <a:pPr lvl="1">
              <a:buFont typeface="Wingdings" panose="05000000000000000000" pitchFamily="2" charset="2"/>
              <a:buChar char="p"/>
              <a:defRPr/>
            </a:pPr>
            <a:r>
              <a:rPr lang="zh-CN" altLang="en-US" sz="2400" b="1" dirty="0">
                <a:solidFill>
                  <a:schemeClr val="tx2">
                    <a:lumMod val="50000"/>
                  </a:schemeClr>
                </a:solidFill>
              </a:rPr>
              <a:t>错误帧用于通知错误，超载帧用于在数据（远程）帧之间提供更多的延迟。</a:t>
            </a:r>
            <a:endParaRPr lang="en-US" altLang="zh-CN" sz="2400" b="1" dirty="0">
              <a:solidFill>
                <a:schemeClr val="tx2">
                  <a:lumMod val="50000"/>
                </a:schemeClr>
              </a:solidFill>
            </a:endParaRPr>
          </a:p>
          <a:p>
            <a:pPr marL="0" indent="0">
              <a:buNone/>
              <a:defRPr/>
            </a:pPr>
            <a:endParaRPr lang="en-US" altLang="zh-CN" sz="2800" dirty="0" smtClean="0"/>
          </a:p>
        </p:txBody>
      </p:sp>
    </p:spTree>
  </p:cSld>
  <p:clrMapOvr>
    <a:masterClrMapping/>
  </p:clrMapOvr>
  <p:transition spd="slow">
    <p:push dir="u"/>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p:txBody>
          <a:bodyPr/>
          <a:lstStyle/>
          <a:p>
            <a:r>
              <a:rPr lang="en-US" altLang="zh-CN" dirty="0"/>
              <a:t>3.2 CAN</a:t>
            </a:r>
            <a:r>
              <a:rPr lang="zh-CN" altLang="en-US" dirty="0"/>
              <a:t>协议基础</a:t>
            </a:r>
            <a:endParaRPr lang="zh-CN" altLang="en-US" dirty="0" smtClean="0"/>
          </a:p>
        </p:txBody>
      </p:sp>
      <p:sp>
        <p:nvSpPr>
          <p:cNvPr id="3" name="内容占位符 2"/>
          <p:cNvSpPr>
            <a:spLocks noGrp="1"/>
          </p:cNvSpPr>
          <p:nvPr>
            <p:ph idx="1"/>
          </p:nvPr>
        </p:nvSpPr>
        <p:spPr/>
        <p:txBody>
          <a:bodyPr/>
          <a:lstStyle/>
          <a:p>
            <a:pPr>
              <a:defRPr/>
            </a:pPr>
            <a:r>
              <a:rPr lang="zh-CN" altLang="en-US" b="1" dirty="0" smtClean="0">
                <a:solidFill>
                  <a:srgbClr val="FF0000"/>
                </a:solidFill>
              </a:rPr>
              <a:t>数据帧：</a:t>
            </a:r>
            <a:r>
              <a:rPr lang="zh-CN" altLang="en-US" dirty="0" smtClean="0"/>
              <a:t>由</a:t>
            </a:r>
            <a:r>
              <a:rPr lang="en-US" altLang="zh-CN" dirty="0" smtClean="0"/>
              <a:t>7</a:t>
            </a:r>
            <a:r>
              <a:rPr lang="zh-CN" altLang="en-US" dirty="0" smtClean="0"/>
              <a:t>个不同的位场（</a:t>
            </a:r>
            <a:r>
              <a:rPr lang="en-US" altLang="zh-CN" dirty="0" smtClean="0"/>
              <a:t>Bit Frame</a:t>
            </a:r>
            <a:r>
              <a:rPr lang="zh-CN" altLang="en-US" dirty="0" smtClean="0"/>
              <a:t>）组成</a:t>
            </a:r>
            <a:endParaRPr lang="en-US" altLang="zh-CN" dirty="0" smtClean="0"/>
          </a:p>
          <a:p>
            <a:pPr marL="938213" lvl="1" indent="-457200">
              <a:lnSpc>
                <a:spcPct val="120000"/>
              </a:lnSpc>
              <a:buClr>
                <a:schemeClr val="tx1"/>
              </a:buClr>
              <a:defRPr/>
            </a:pPr>
            <a:r>
              <a:rPr lang="zh-CN" altLang="zh-CN" sz="2400" b="1" dirty="0">
                <a:solidFill>
                  <a:srgbClr val="C00000"/>
                </a:solidFill>
                <a:latin typeface="楷体_GB2312" pitchFamily="49" charset="-122"/>
              </a:rPr>
              <a:t>帧起始</a:t>
            </a:r>
            <a:r>
              <a:rPr lang="zh-CN" altLang="zh-CN" sz="2400" b="1" dirty="0">
                <a:latin typeface="楷体_GB2312" pitchFamily="49" charset="-122"/>
              </a:rPr>
              <a:t>(</a:t>
            </a:r>
            <a:r>
              <a:rPr lang="zh-CN" altLang="zh-CN" sz="2400" b="1" dirty="0">
                <a:latin typeface="+mj-lt"/>
              </a:rPr>
              <a:t>Start of Frame</a:t>
            </a:r>
            <a:r>
              <a:rPr lang="zh-CN" altLang="zh-CN" sz="2400" b="1" dirty="0">
                <a:latin typeface="楷体_GB2312" pitchFamily="49" charset="-122"/>
              </a:rPr>
              <a:t>) </a:t>
            </a:r>
          </a:p>
          <a:p>
            <a:pPr marL="938213" lvl="1" indent="-457200">
              <a:lnSpc>
                <a:spcPct val="120000"/>
              </a:lnSpc>
              <a:buClr>
                <a:schemeClr val="tx1"/>
              </a:buClr>
              <a:defRPr/>
            </a:pPr>
            <a:r>
              <a:rPr lang="zh-CN" altLang="zh-CN" sz="2400" b="1" dirty="0">
                <a:solidFill>
                  <a:srgbClr val="C00000"/>
                </a:solidFill>
                <a:latin typeface="楷体_GB2312" pitchFamily="49" charset="-122"/>
              </a:rPr>
              <a:t>仲裁场</a:t>
            </a:r>
            <a:r>
              <a:rPr lang="zh-CN" altLang="zh-CN" sz="2400" b="1" dirty="0">
                <a:latin typeface="楷体_GB2312" pitchFamily="49" charset="-122"/>
              </a:rPr>
              <a:t>(</a:t>
            </a:r>
            <a:r>
              <a:rPr lang="zh-CN" altLang="zh-CN" sz="2400" b="1" dirty="0">
                <a:latin typeface="+mj-lt"/>
              </a:rPr>
              <a:t>Arbitration Field</a:t>
            </a:r>
            <a:r>
              <a:rPr lang="zh-CN" altLang="zh-CN" sz="2400" b="1" dirty="0">
                <a:latin typeface="楷体_GB2312" pitchFamily="49" charset="-122"/>
              </a:rPr>
              <a:t>) </a:t>
            </a:r>
          </a:p>
          <a:p>
            <a:pPr marL="938213" lvl="1" indent="-457200">
              <a:lnSpc>
                <a:spcPct val="120000"/>
              </a:lnSpc>
              <a:buClr>
                <a:schemeClr val="tx1"/>
              </a:buClr>
              <a:defRPr/>
            </a:pPr>
            <a:r>
              <a:rPr lang="zh-CN" altLang="zh-CN" sz="2400" b="1" dirty="0">
                <a:solidFill>
                  <a:srgbClr val="C00000"/>
                </a:solidFill>
                <a:latin typeface="楷体_GB2312" pitchFamily="49" charset="-122"/>
              </a:rPr>
              <a:t>控制场</a:t>
            </a:r>
            <a:r>
              <a:rPr lang="zh-CN" altLang="zh-CN" sz="2400" b="1" dirty="0">
                <a:latin typeface="楷体_GB2312" pitchFamily="49" charset="-122"/>
              </a:rPr>
              <a:t>(</a:t>
            </a:r>
            <a:r>
              <a:rPr lang="zh-CN" altLang="zh-CN" sz="2400" b="1" dirty="0">
                <a:latin typeface="+mj-lt"/>
              </a:rPr>
              <a:t>Control Field</a:t>
            </a:r>
            <a:r>
              <a:rPr lang="zh-CN" altLang="zh-CN" sz="2400" b="1" dirty="0">
                <a:latin typeface="楷体_GB2312" pitchFamily="49" charset="-122"/>
              </a:rPr>
              <a:t>) </a:t>
            </a:r>
          </a:p>
          <a:p>
            <a:pPr marL="938213" lvl="1" indent="-457200">
              <a:lnSpc>
                <a:spcPct val="120000"/>
              </a:lnSpc>
              <a:buClr>
                <a:schemeClr val="tx1"/>
              </a:buClr>
              <a:defRPr/>
            </a:pPr>
            <a:r>
              <a:rPr lang="zh-CN" altLang="zh-CN" sz="2400" b="1" dirty="0">
                <a:solidFill>
                  <a:srgbClr val="C00000"/>
                </a:solidFill>
                <a:latin typeface="楷体_GB2312" pitchFamily="49" charset="-122"/>
              </a:rPr>
              <a:t>数据场</a:t>
            </a:r>
            <a:r>
              <a:rPr lang="zh-CN" altLang="zh-CN" sz="2400" b="1" dirty="0">
                <a:latin typeface="楷体_GB2312" pitchFamily="49" charset="-122"/>
              </a:rPr>
              <a:t>(</a:t>
            </a:r>
            <a:r>
              <a:rPr lang="zh-CN" altLang="zh-CN" sz="2400" b="1" dirty="0">
                <a:latin typeface="+mj-lt"/>
              </a:rPr>
              <a:t>Data Field</a:t>
            </a:r>
            <a:r>
              <a:rPr lang="zh-CN" altLang="zh-CN" sz="2400" b="1" dirty="0">
                <a:latin typeface="楷体_GB2312" pitchFamily="49" charset="-122"/>
              </a:rPr>
              <a:t>)（长度可为0）</a:t>
            </a:r>
          </a:p>
          <a:p>
            <a:pPr marL="938213" lvl="1" indent="-457200">
              <a:lnSpc>
                <a:spcPct val="120000"/>
              </a:lnSpc>
              <a:buClr>
                <a:schemeClr val="tx1"/>
              </a:buClr>
              <a:defRPr/>
            </a:pPr>
            <a:r>
              <a:rPr lang="zh-CN" altLang="zh-CN" sz="2400" b="1" dirty="0" smtClean="0">
                <a:solidFill>
                  <a:srgbClr val="C00000"/>
                </a:solidFill>
                <a:latin typeface="楷体_GB2312" pitchFamily="49" charset="-122"/>
              </a:rPr>
              <a:t>CRC</a:t>
            </a:r>
            <a:r>
              <a:rPr lang="zh-CN" altLang="en-US" sz="2400" b="1" dirty="0" smtClean="0">
                <a:solidFill>
                  <a:srgbClr val="C00000"/>
                </a:solidFill>
                <a:latin typeface="楷体_GB2312" pitchFamily="49" charset="-122"/>
              </a:rPr>
              <a:t>（校验）</a:t>
            </a:r>
            <a:r>
              <a:rPr lang="zh-CN" altLang="zh-CN" sz="2400" b="1" dirty="0" smtClean="0">
                <a:solidFill>
                  <a:srgbClr val="C00000"/>
                </a:solidFill>
                <a:latin typeface="楷体_GB2312" pitchFamily="49" charset="-122"/>
              </a:rPr>
              <a:t>场</a:t>
            </a:r>
            <a:r>
              <a:rPr lang="zh-CN" altLang="zh-CN" sz="2400" b="1" dirty="0">
                <a:latin typeface="楷体_GB2312" pitchFamily="49" charset="-122"/>
              </a:rPr>
              <a:t>(</a:t>
            </a:r>
            <a:r>
              <a:rPr lang="zh-CN" altLang="zh-CN" sz="2400" b="1" dirty="0">
                <a:latin typeface="+mj-lt"/>
              </a:rPr>
              <a:t>CRC Field</a:t>
            </a:r>
            <a:r>
              <a:rPr lang="zh-CN" altLang="zh-CN" sz="2400" b="1" dirty="0">
                <a:latin typeface="楷体_GB2312" pitchFamily="49" charset="-122"/>
              </a:rPr>
              <a:t>) </a:t>
            </a:r>
          </a:p>
          <a:p>
            <a:pPr marL="938213" lvl="1" indent="-457200">
              <a:lnSpc>
                <a:spcPct val="120000"/>
              </a:lnSpc>
              <a:buClr>
                <a:schemeClr val="tx1"/>
              </a:buClr>
              <a:defRPr/>
            </a:pPr>
            <a:r>
              <a:rPr lang="zh-CN" altLang="zh-CN" sz="2400" b="1" dirty="0">
                <a:solidFill>
                  <a:srgbClr val="C00000"/>
                </a:solidFill>
                <a:latin typeface="楷体_GB2312" pitchFamily="49" charset="-122"/>
              </a:rPr>
              <a:t>应答场</a:t>
            </a:r>
            <a:r>
              <a:rPr lang="zh-CN" altLang="zh-CN" sz="2400" b="1" dirty="0">
                <a:latin typeface="楷体_GB2312" pitchFamily="49" charset="-122"/>
              </a:rPr>
              <a:t>(</a:t>
            </a:r>
            <a:r>
              <a:rPr lang="zh-CN" altLang="zh-CN" sz="2400" b="1" dirty="0">
                <a:latin typeface="+mj-lt"/>
              </a:rPr>
              <a:t>ACK Field</a:t>
            </a:r>
            <a:r>
              <a:rPr lang="zh-CN" altLang="zh-CN" sz="2400" b="1" dirty="0">
                <a:latin typeface="楷体_GB2312" pitchFamily="49" charset="-122"/>
              </a:rPr>
              <a:t>)</a:t>
            </a:r>
          </a:p>
          <a:p>
            <a:pPr marL="938213" lvl="1" indent="-457200">
              <a:lnSpc>
                <a:spcPct val="120000"/>
              </a:lnSpc>
              <a:buClr>
                <a:schemeClr val="tx1"/>
              </a:buClr>
              <a:defRPr/>
            </a:pPr>
            <a:r>
              <a:rPr lang="zh-CN" altLang="zh-CN" sz="2400" b="1" dirty="0" smtClean="0">
                <a:solidFill>
                  <a:srgbClr val="C00000"/>
                </a:solidFill>
                <a:latin typeface="楷体_GB2312" pitchFamily="49" charset="-122"/>
              </a:rPr>
              <a:t>帧</a:t>
            </a:r>
            <a:r>
              <a:rPr lang="zh-CN" altLang="en-US" sz="2400" b="1" dirty="0">
                <a:solidFill>
                  <a:srgbClr val="C00000"/>
                </a:solidFill>
                <a:latin typeface="楷体_GB2312" pitchFamily="49" charset="-122"/>
              </a:rPr>
              <a:t>尾</a:t>
            </a:r>
            <a:r>
              <a:rPr lang="zh-CN" altLang="zh-CN" sz="2400" b="1" dirty="0" smtClean="0">
                <a:latin typeface="+mj-lt"/>
              </a:rPr>
              <a:t>(</a:t>
            </a:r>
            <a:r>
              <a:rPr lang="zh-CN" altLang="zh-CN" sz="2400" b="1" dirty="0">
                <a:latin typeface="+mj-lt"/>
              </a:rPr>
              <a:t>End of Field) </a:t>
            </a:r>
          </a:p>
          <a:p>
            <a:pPr lvl="1">
              <a:defRPr/>
            </a:pPr>
            <a:endParaRPr lang="en-US" altLang="zh-CN" dirty="0" smtClean="0"/>
          </a:p>
          <a:p>
            <a:pPr lvl="1">
              <a:defRPr/>
            </a:pPr>
            <a:endParaRPr lang="zh-CN" altLang="en-US" dirty="0"/>
          </a:p>
        </p:txBody>
      </p:sp>
    </p:spTree>
  </p:cSld>
  <p:clrMapOvr>
    <a:masterClrMapping/>
  </p:clrMapOvr>
  <p:transition spd="slow">
    <p:push dir="u"/>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p:txBody>
          <a:bodyPr/>
          <a:lstStyle/>
          <a:p>
            <a:r>
              <a:rPr lang="en-US" altLang="zh-CN" dirty="0" smtClean="0"/>
              <a:t>3.2 </a:t>
            </a:r>
            <a:r>
              <a:rPr lang="en-US" altLang="zh-CN" dirty="0"/>
              <a:t>CAN</a:t>
            </a:r>
            <a:r>
              <a:rPr lang="zh-CN" altLang="en-US" dirty="0"/>
              <a:t>协议基础</a:t>
            </a:r>
            <a:endParaRPr lang="zh-CN" altLang="en-US" dirty="0" smtClean="0"/>
          </a:p>
        </p:txBody>
      </p:sp>
      <p:sp>
        <p:nvSpPr>
          <p:cNvPr id="29699" name="内容占位符 2"/>
          <p:cNvSpPr>
            <a:spLocks noGrp="1"/>
          </p:cNvSpPr>
          <p:nvPr>
            <p:ph idx="1"/>
          </p:nvPr>
        </p:nvSpPr>
        <p:spPr>
          <a:xfrm>
            <a:off x="107950" y="908050"/>
            <a:ext cx="8928100" cy="792163"/>
          </a:xfrm>
        </p:spPr>
        <p:txBody>
          <a:bodyPr/>
          <a:lstStyle/>
          <a:p>
            <a:r>
              <a:rPr lang="zh-CN" altLang="en-US" smtClean="0"/>
              <a:t>数据帧结构如下图所示</a:t>
            </a:r>
          </a:p>
        </p:txBody>
      </p:sp>
      <p:pic>
        <p:nvPicPr>
          <p:cNvPr id="297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692" y="1773238"/>
            <a:ext cx="8713788" cy="1401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1" name="内容占位符 2"/>
          <p:cNvSpPr txBox="1">
            <a:spLocks/>
          </p:cNvSpPr>
          <p:nvPr/>
        </p:nvSpPr>
        <p:spPr bwMode="auto">
          <a:xfrm>
            <a:off x="184150" y="3789363"/>
            <a:ext cx="8928100" cy="237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Wingdings" pitchFamily="2" charset="2"/>
              <a:buChar char="Ø"/>
              <a:defRPr sz="3200">
                <a:solidFill>
                  <a:srgbClr val="4F6228"/>
                </a:solidFill>
                <a:latin typeface="Calibri" pitchFamily="34" charset="0"/>
                <a:ea typeface="楷体_GB2312" pitchFamily="49" charset="-122"/>
              </a:defRPr>
            </a:lvl1pPr>
            <a:lvl2pPr marL="742950" indent="-285750" eaLnBrk="0" hangingPunct="0">
              <a:spcBef>
                <a:spcPct val="20000"/>
              </a:spcBef>
              <a:buFont typeface="Wingdings" pitchFamily="2" charset="2"/>
              <a:buChar char="ü"/>
              <a:defRPr sz="2800">
                <a:solidFill>
                  <a:srgbClr val="4F6228"/>
                </a:solidFill>
                <a:latin typeface="Calibri" pitchFamily="34" charset="0"/>
                <a:ea typeface="楷体_GB2312" pitchFamily="49" charset="-122"/>
              </a:defRPr>
            </a:lvl2pPr>
            <a:lvl3pPr marL="1143000" indent="-228600" eaLnBrk="0" hangingPunct="0">
              <a:spcBef>
                <a:spcPct val="20000"/>
              </a:spcBef>
              <a:buFont typeface="Arial" charset="0"/>
              <a:buChar char="•"/>
              <a:defRPr sz="2400">
                <a:solidFill>
                  <a:srgbClr val="4F6228"/>
                </a:solidFill>
                <a:latin typeface="Calibri" pitchFamily="34" charset="0"/>
                <a:ea typeface="楷体_GB2312" pitchFamily="49"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9pPr>
          </a:lstStyle>
          <a:p>
            <a:pPr algn="just">
              <a:buFont typeface="Wingdings" pitchFamily="2" charset="2"/>
              <a:buChar char="ü"/>
            </a:pPr>
            <a:r>
              <a:rPr lang="zh-CN" altLang="en-US" sz="2400" b="1" dirty="0">
                <a:solidFill>
                  <a:srgbClr val="C00000"/>
                </a:solidFill>
              </a:rPr>
              <a:t>帧起始（</a:t>
            </a:r>
            <a:r>
              <a:rPr lang="en-US" altLang="zh-CN" sz="2400" b="1" dirty="0">
                <a:solidFill>
                  <a:srgbClr val="C00000"/>
                </a:solidFill>
              </a:rPr>
              <a:t>SOF</a:t>
            </a:r>
            <a:r>
              <a:rPr lang="zh-CN" altLang="en-US" sz="2400" b="1" dirty="0" smtClean="0">
                <a:solidFill>
                  <a:srgbClr val="C00000"/>
                </a:solidFill>
              </a:rPr>
              <a:t>）：</a:t>
            </a:r>
            <a:r>
              <a:rPr lang="zh-CN" altLang="zh-CN" sz="2400" b="1" dirty="0" smtClean="0">
                <a:latin typeface="Times New Roman" pitchFamily="18" charset="0"/>
              </a:rPr>
              <a:t>标</a:t>
            </a:r>
            <a:r>
              <a:rPr lang="zh-CN" altLang="zh-CN" sz="2400" b="1" dirty="0">
                <a:latin typeface="Times New Roman" pitchFamily="18" charset="0"/>
              </a:rPr>
              <a:t>志</a:t>
            </a:r>
            <a:r>
              <a:rPr lang="zh-CN" altLang="zh-CN" sz="2400" b="1" dirty="0">
                <a:solidFill>
                  <a:srgbClr val="C00000"/>
                </a:solidFill>
                <a:latin typeface="Times New Roman" pitchFamily="18" charset="0"/>
              </a:rPr>
              <a:t>数据帧</a:t>
            </a:r>
            <a:r>
              <a:rPr lang="zh-CN" altLang="zh-CN" sz="2400" b="1" dirty="0">
                <a:latin typeface="Times New Roman" pitchFamily="18" charset="0"/>
              </a:rPr>
              <a:t>和</a:t>
            </a:r>
            <a:r>
              <a:rPr lang="zh-CN" altLang="zh-CN" sz="2400" b="1" dirty="0">
                <a:solidFill>
                  <a:srgbClr val="C00000"/>
                </a:solidFill>
                <a:latin typeface="Times New Roman" pitchFamily="18" charset="0"/>
              </a:rPr>
              <a:t>远程帧</a:t>
            </a:r>
            <a:r>
              <a:rPr lang="zh-CN" altLang="zh-CN" sz="2400" b="1" dirty="0">
                <a:latin typeface="Times New Roman" pitchFamily="18" charset="0"/>
              </a:rPr>
              <a:t>的起始</a:t>
            </a:r>
            <a:r>
              <a:rPr lang="zh-CN" altLang="zh-CN" sz="2400" b="1" dirty="0" smtClean="0">
                <a:latin typeface="Times New Roman" pitchFamily="18" charset="0"/>
              </a:rPr>
              <a:t>，由</a:t>
            </a:r>
            <a:r>
              <a:rPr lang="zh-CN" altLang="zh-CN" sz="2400" b="1" dirty="0">
                <a:latin typeface="Times New Roman" pitchFamily="18" charset="0"/>
              </a:rPr>
              <a:t>一个显位构</a:t>
            </a:r>
            <a:r>
              <a:rPr lang="zh-CN" altLang="zh-CN" sz="2400" b="1" dirty="0" smtClean="0">
                <a:latin typeface="Times New Roman" pitchFamily="18" charset="0"/>
              </a:rPr>
              <a:t>成</a:t>
            </a:r>
            <a:r>
              <a:rPr lang="zh-CN" altLang="en-US" sz="2400" b="1" dirty="0" smtClean="0">
                <a:latin typeface="Times New Roman" pitchFamily="18" charset="0"/>
              </a:rPr>
              <a:t>，也用于</a:t>
            </a:r>
            <a:r>
              <a:rPr lang="zh-CN" altLang="en-US" sz="2400" b="1" dirty="0">
                <a:latin typeface="Times New Roman" pitchFamily="18" charset="0"/>
              </a:rPr>
              <a:t>节点</a:t>
            </a:r>
            <a:r>
              <a:rPr lang="zh-CN" altLang="en-US" sz="2400" b="1" dirty="0" smtClean="0">
                <a:latin typeface="Times New Roman" pitchFamily="18" charset="0"/>
              </a:rPr>
              <a:t>同步</a:t>
            </a:r>
            <a:r>
              <a:rPr lang="zh-CN" altLang="zh-CN" sz="2400" dirty="0" smtClean="0">
                <a:latin typeface="Times New Roman" pitchFamily="18" charset="0"/>
              </a:rPr>
              <a:t>。</a:t>
            </a:r>
            <a:endParaRPr lang="zh-CN" altLang="en-US" sz="2400" dirty="0"/>
          </a:p>
        </p:txBody>
      </p:sp>
    </p:spTree>
  </p:cSld>
  <p:clrMapOvr>
    <a:masterClrMapping/>
  </p:clrMapOvr>
  <p:transition spd="slow">
    <p:push dir="u"/>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p:txBody>
          <a:bodyPr/>
          <a:lstStyle/>
          <a:p>
            <a:r>
              <a:rPr lang="en-US" altLang="zh-CN" dirty="0" smtClean="0"/>
              <a:t>3.2 </a:t>
            </a:r>
            <a:r>
              <a:rPr lang="en-US" altLang="zh-CN" dirty="0"/>
              <a:t>CAN</a:t>
            </a:r>
            <a:r>
              <a:rPr lang="zh-CN" altLang="en-US" dirty="0"/>
              <a:t>协议基础</a:t>
            </a:r>
            <a:endParaRPr lang="zh-CN" altLang="en-US" dirty="0" smtClean="0"/>
          </a:p>
        </p:txBody>
      </p:sp>
      <p:sp>
        <p:nvSpPr>
          <p:cNvPr id="30723" name="内容占位符 2"/>
          <p:cNvSpPr>
            <a:spLocks noGrp="1"/>
          </p:cNvSpPr>
          <p:nvPr>
            <p:ph idx="1"/>
          </p:nvPr>
        </p:nvSpPr>
        <p:spPr>
          <a:xfrm>
            <a:off x="130175" y="2997200"/>
            <a:ext cx="8928100" cy="3240088"/>
          </a:xfrm>
        </p:spPr>
        <p:txBody>
          <a:bodyPr/>
          <a:lstStyle/>
          <a:p>
            <a:pPr>
              <a:buFont typeface="Wingdings" pitchFamily="2" charset="2"/>
              <a:buChar char="ü"/>
            </a:pPr>
            <a:r>
              <a:rPr lang="zh-CN" altLang="en-US" sz="2800" b="1" dirty="0" smtClean="0">
                <a:solidFill>
                  <a:srgbClr val="C00000"/>
                </a:solidFill>
              </a:rPr>
              <a:t>仲裁场：</a:t>
            </a:r>
            <a:r>
              <a:rPr lang="zh-CN" altLang="en-US" sz="2800" dirty="0" smtClean="0"/>
              <a:t>由</a:t>
            </a:r>
            <a:r>
              <a:rPr lang="zh-CN" altLang="en-US" sz="2800" dirty="0" smtClean="0">
                <a:solidFill>
                  <a:srgbClr val="C00000"/>
                </a:solidFill>
              </a:rPr>
              <a:t>标识符</a:t>
            </a:r>
            <a:r>
              <a:rPr lang="zh-CN" altLang="en-US" sz="2800" dirty="0" smtClean="0"/>
              <a:t>与</a:t>
            </a:r>
            <a:r>
              <a:rPr lang="zh-CN" altLang="en-US" sz="2800" dirty="0" smtClean="0">
                <a:solidFill>
                  <a:srgbClr val="C00000"/>
                </a:solidFill>
              </a:rPr>
              <a:t>远程发送请求位</a:t>
            </a:r>
            <a:r>
              <a:rPr lang="zh-CN" altLang="en-US" sz="2800" dirty="0" smtClean="0"/>
              <a:t>（</a:t>
            </a:r>
            <a:r>
              <a:rPr lang="en-US" altLang="zh-CN" sz="2800" dirty="0" smtClean="0"/>
              <a:t>RTR</a:t>
            </a:r>
            <a:r>
              <a:rPr lang="zh-CN" altLang="en-US" sz="2800" dirty="0" smtClean="0"/>
              <a:t>）组成。</a:t>
            </a:r>
            <a:endParaRPr lang="en-US" altLang="zh-CN" sz="2800" dirty="0" smtClean="0"/>
          </a:p>
          <a:p>
            <a:pPr lvl="1">
              <a:buFont typeface="Wingdings" panose="05000000000000000000" pitchFamily="2" charset="2"/>
              <a:buChar char="p"/>
            </a:pPr>
            <a:r>
              <a:rPr lang="en-US" altLang="zh-CN" sz="2400" dirty="0">
                <a:solidFill>
                  <a:srgbClr val="C00000"/>
                </a:solidFill>
              </a:rPr>
              <a:t>CAN2.0A</a:t>
            </a:r>
            <a:r>
              <a:rPr lang="zh-CN" altLang="en-US" sz="2400" dirty="0"/>
              <a:t>中</a:t>
            </a:r>
            <a:endParaRPr lang="en-US" altLang="zh-CN" sz="2400" dirty="0" smtClean="0"/>
          </a:p>
          <a:p>
            <a:pPr lvl="1">
              <a:buFont typeface="Arial" charset="0"/>
              <a:buChar char="•"/>
            </a:pPr>
            <a:r>
              <a:rPr lang="zh-CN" altLang="en-US" sz="2400" dirty="0" smtClean="0">
                <a:solidFill>
                  <a:srgbClr val="C00000"/>
                </a:solidFill>
              </a:rPr>
              <a:t>标</a:t>
            </a:r>
            <a:r>
              <a:rPr lang="zh-CN" altLang="en-US" sz="2400" dirty="0">
                <a:solidFill>
                  <a:srgbClr val="C00000"/>
                </a:solidFill>
              </a:rPr>
              <a:t>识符</a:t>
            </a:r>
            <a:r>
              <a:rPr lang="en-US" altLang="zh-CN" sz="2400" dirty="0" smtClean="0"/>
              <a:t>(ID)11</a:t>
            </a:r>
            <a:r>
              <a:rPr lang="zh-CN" altLang="en-US" sz="2400" dirty="0" smtClean="0"/>
              <a:t>位，以</a:t>
            </a:r>
            <a:r>
              <a:rPr lang="zh-CN" altLang="en-US" sz="2400" dirty="0"/>
              <a:t>从高到低的顺序发送，最低位为</a:t>
            </a:r>
            <a:r>
              <a:rPr lang="en-US" altLang="zh-CN" sz="2400" dirty="0" smtClean="0"/>
              <a:t>ID.0</a:t>
            </a:r>
            <a:r>
              <a:rPr lang="zh-CN" altLang="en-US" sz="2400" dirty="0" smtClean="0"/>
              <a:t>；</a:t>
            </a:r>
            <a:endParaRPr lang="en-US" altLang="zh-CN" sz="2400" dirty="0" smtClean="0"/>
          </a:p>
          <a:p>
            <a:pPr lvl="1">
              <a:buFont typeface="Arial" charset="0"/>
              <a:buChar char="•"/>
            </a:pPr>
            <a:r>
              <a:rPr lang="en-US" altLang="zh-CN" sz="2400" dirty="0" smtClean="0">
                <a:solidFill>
                  <a:srgbClr val="C00000"/>
                </a:solidFill>
              </a:rPr>
              <a:t>RTR</a:t>
            </a:r>
            <a:r>
              <a:rPr lang="zh-CN" altLang="en-US" sz="2400" dirty="0" smtClean="0">
                <a:solidFill>
                  <a:srgbClr val="C00000"/>
                </a:solidFill>
              </a:rPr>
              <a:t>位</a:t>
            </a:r>
            <a:r>
              <a:rPr lang="zh-CN" altLang="en-US" sz="2400" dirty="0" smtClean="0"/>
              <a:t>在数据帧中是“显性”，远程帧中</a:t>
            </a:r>
            <a:r>
              <a:rPr lang="en-US" altLang="zh-CN" sz="2400" dirty="0" smtClean="0"/>
              <a:t>RTR</a:t>
            </a:r>
            <a:r>
              <a:rPr lang="zh-CN" altLang="en-US" sz="2400" dirty="0" smtClean="0"/>
              <a:t>位是“隐性”；</a:t>
            </a:r>
          </a:p>
          <a:p>
            <a:pPr lvl="1">
              <a:buFont typeface="Arial" charset="0"/>
              <a:buChar char="•"/>
            </a:pPr>
            <a:r>
              <a:rPr lang="zh-CN" altLang="en-US" sz="2400" dirty="0" smtClean="0"/>
              <a:t>具有相同</a:t>
            </a:r>
            <a:r>
              <a:rPr lang="en-US" altLang="zh-CN" sz="2400" dirty="0" smtClean="0"/>
              <a:t>ID</a:t>
            </a:r>
            <a:r>
              <a:rPr lang="zh-CN" altLang="en-US" sz="2400" dirty="0" smtClean="0"/>
              <a:t>时，数据帧优先级高于远程帧；</a:t>
            </a:r>
            <a:endParaRPr lang="en-US" altLang="zh-CN" sz="2400" dirty="0" smtClean="0"/>
          </a:p>
        </p:txBody>
      </p:sp>
      <p:pic>
        <p:nvPicPr>
          <p:cNvPr id="30724"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9388" y="1484313"/>
            <a:ext cx="8686800" cy="11382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push dir="u"/>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p:txBody>
          <a:bodyPr/>
          <a:lstStyle/>
          <a:p>
            <a:r>
              <a:rPr lang="en-US" altLang="zh-CN" dirty="0" smtClean="0"/>
              <a:t>3.2 </a:t>
            </a:r>
            <a:r>
              <a:rPr lang="en-US" altLang="zh-CN" dirty="0"/>
              <a:t>CAN</a:t>
            </a:r>
            <a:r>
              <a:rPr lang="zh-CN" altLang="en-US" dirty="0"/>
              <a:t>协议基础</a:t>
            </a:r>
            <a:endParaRPr lang="zh-CN" altLang="en-US" dirty="0" smtClean="0"/>
          </a:p>
        </p:txBody>
      </p:sp>
      <p:sp>
        <p:nvSpPr>
          <p:cNvPr id="3" name="内容占位符 2"/>
          <p:cNvSpPr>
            <a:spLocks noGrp="1"/>
          </p:cNvSpPr>
          <p:nvPr>
            <p:ph idx="1"/>
          </p:nvPr>
        </p:nvSpPr>
        <p:spPr>
          <a:xfrm>
            <a:off x="107950" y="3911600"/>
            <a:ext cx="8928100" cy="2613744"/>
          </a:xfrm>
        </p:spPr>
        <p:txBody>
          <a:bodyPr/>
          <a:lstStyle/>
          <a:p>
            <a:pPr marL="742950" lvl="2" indent="-342900">
              <a:buFont typeface="Wingdings" panose="05000000000000000000" pitchFamily="2" charset="2"/>
              <a:buChar char="p"/>
              <a:defRPr/>
            </a:pPr>
            <a:r>
              <a:rPr lang="en-US" altLang="zh-CN" dirty="0">
                <a:solidFill>
                  <a:srgbClr val="C00000"/>
                </a:solidFill>
              </a:rPr>
              <a:t>CAN2.0B</a:t>
            </a:r>
            <a:r>
              <a:rPr lang="zh-CN" altLang="en-US" dirty="0"/>
              <a:t>中，</a:t>
            </a:r>
            <a:r>
              <a:rPr lang="zh-CN" altLang="en-US" dirty="0">
                <a:solidFill>
                  <a:srgbClr val="C00000"/>
                </a:solidFill>
              </a:rPr>
              <a:t>标准格式</a:t>
            </a:r>
            <a:r>
              <a:rPr lang="zh-CN" altLang="en-US" dirty="0"/>
              <a:t>与</a:t>
            </a:r>
            <a:r>
              <a:rPr lang="zh-CN" altLang="en-US" dirty="0">
                <a:solidFill>
                  <a:srgbClr val="C00000"/>
                </a:solidFill>
              </a:rPr>
              <a:t>扩展格式</a:t>
            </a:r>
            <a:r>
              <a:rPr lang="zh-CN" altLang="en-US" dirty="0"/>
              <a:t>的</a:t>
            </a:r>
            <a:r>
              <a:rPr lang="zh-CN" altLang="en-US" dirty="0">
                <a:solidFill>
                  <a:srgbClr val="C00000"/>
                </a:solidFill>
              </a:rPr>
              <a:t>仲裁场格式</a:t>
            </a:r>
            <a:r>
              <a:rPr lang="zh-CN" altLang="en-US" dirty="0"/>
              <a:t>不同。</a:t>
            </a:r>
            <a:endParaRPr lang="en-US" altLang="zh-CN" dirty="0"/>
          </a:p>
          <a:p>
            <a:pPr lvl="1">
              <a:buFont typeface="Arial" panose="020B0604020202020204" pitchFamily="34" charset="0"/>
              <a:buChar char="•"/>
              <a:defRPr/>
            </a:pPr>
            <a:r>
              <a:rPr lang="zh-CN" altLang="en-US" sz="2400" dirty="0"/>
              <a:t>在</a:t>
            </a:r>
            <a:r>
              <a:rPr lang="zh-CN" altLang="en-US" sz="2400" dirty="0">
                <a:solidFill>
                  <a:srgbClr val="C00000"/>
                </a:solidFill>
              </a:rPr>
              <a:t>标准格式</a:t>
            </a:r>
            <a:r>
              <a:rPr lang="zh-CN" altLang="en-US" sz="2400" dirty="0"/>
              <a:t>中，仲裁场</a:t>
            </a:r>
            <a:r>
              <a:rPr lang="zh-CN" altLang="en-US" sz="2400" dirty="0" smtClean="0"/>
              <a:t>由</a:t>
            </a:r>
            <a:r>
              <a:rPr lang="en-US" altLang="zh-CN" sz="2400" dirty="0" smtClean="0"/>
              <a:t>11</a:t>
            </a:r>
            <a:r>
              <a:rPr lang="zh-CN" altLang="en-US" sz="2400" dirty="0" smtClean="0"/>
              <a:t>位</a:t>
            </a:r>
            <a:r>
              <a:rPr lang="zh-CN" altLang="en-US" sz="2400" dirty="0"/>
              <a:t>标识符</a:t>
            </a:r>
            <a:r>
              <a:rPr lang="zh-CN" altLang="en-US" sz="2400" dirty="0" smtClean="0"/>
              <a:t>和</a:t>
            </a:r>
            <a:r>
              <a:rPr lang="en-US" altLang="zh-CN" sz="2400" dirty="0" smtClean="0"/>
              <a:t>RTR</a:t>
            </a:r>
            <a:r>
              <a:rPr lang="zh-CN" altLang="en-US" sz="2400" dirty="0"/>
              <a:t>位组成，标识符位</a:t>
            </a:r>
            <a:r>
              <a:rPr lang="zh-CN" altLang="en-US" sz="2400" dirty="0" smtClean="0"/>
              <a:t>为</a:t>
            </a:r>
            <a:r>
              <a:rPr lang="en-US" altLang="zh-CN" sz="2400" dirty="0" smtClean="0"/>
              <a:t>ID.28~ID.18</a:t>
            </a:r>
            <a:r>
              <a:rPr lang="zh-CN" altLang="en-US" sz="2400" dirty="0" smtClean="0"/>
              <a:t>。</a:t>
            </a:r>
            <a:endParaRPr lang="en-US" altLang="zh-CN" sz="2400" dirty="0" smtClean="0"/>
          </a:p>
          <a:p>
            <a:pPr lvl="1">
              <a:buFont typeface="Arial" panose="020B0604020202020204" pitchFamily="34" charset="0"/>
              <a:buChar char="•"/>
              <a:defRPr/>
            </a:pPr>
            <a:r>
              <a:rPr lang="zh-CN" altLang="en-US" sz="2400" dirty="0"/>
              <a:t>在</a:t>
            </a:r>
            <a:r>
              <a:rPr lang="zh-CN" altLang="en-US" sz="2400" dirty="0">
                <a:solidFill>
                  <a:srgbClr val="C00000"/>
                </a:solidFill>
              </a:rPr>
              <a:t>扩展格式</a:t>
            </a:r>
            <a:r>
              <a:rPr lang="zh-CN" altLang="en-US" sz="2400" dirty="0"/>
              <a:t>中，仲裁场由</a:t>
            </a:r>
            <a:r>
              <a:rPr lang="en-US" altLang="zh-CN" sz="2400" dirty="0"/>
              <a:t>29</a:t>
            </a:r>
            <a:r>
              <a:rPr lang="zh-CN" altLang="en-US" sz="2400" dirty="0"/>
              <a:t>位标识符和替代远</a:t>
            </a:r>
            <a:r>
              <a:rPr lang="zh-CN" altLang="en-US" sz="2400" dirty="0" smtClean="0"/>
              <a:t>程发送请</a:t>
            </a:r>
            <a:r>
              <a:rPr lang="zh-CN" altLang="en-US" sz="2400" dirty="0"/>
              <a:t>求位</a:t>
            </a:r>
            <a:r>
              <a:rPr lang="en-US" altLang="zh-CN" sz="2400" dirty="0" smtClean="0"/>
              <a:t>SRR</a:t>
            </a:r>
            <a:r>
              <a:rPr lang="zh-CN" altLang="en-US" sz="2400" dirty="0" smtClean="0"/>
              <a:t>、</a:t>
            </a:r>
            <a:r>
              <a:rPr lang="zh-CN" altLang="en-US" sz="2400" dirty="0"/>
              <a:t>标识位</a:t>
            </a:r>
            <a:r>
              <a:rPr lang="en-US" altLang="zh-CN" sz="2400" dirty="0"/>
              <a:t>IDE</a:t>
            </a:r>
            <a:r>
              <a:rPr lang="zh-CN" altLang="en-US" sz="2400" dirty="0"/>
              <a:t>和远程发送请求</a:t>
            </a:r>
            <a:r>
              <a:rPr lang="zh-CN" altLang="en-US" sz="2400" dirty="0" smtClean="0"/>
              <a:t>位</a:t>
            </a:r>
            <a:r>
              <a:rPr lang="en-US" altLang="zh-CN" sz="2400" dirty="0" smtClean="0"/>
              <a:t>RTR</a:t>
            </a:r>
            <a:r>
              <a:rPr lang="zh-CN" altLang="en-US" sz="2400" dirty="0" smtClean="0"/>
              <a:t>组</a:t>
            </a:r>
            <a:r>
              <a:rPr lang="zh-CN" altLang="en-US" sz="2400" dirty="0"/>
              <a:t>成，</a:t>
            </a:r>
            <a:r>
              <a:rPr lang="zh-CN" altLang="en-US" sz="2400" dirty="0" smtClean="0"/>
              <a:t>标识符</a:t>
            </a:r>
            <a:r>
              <a:rPr lang="zh-CN" altLang="en-US" sz="2400" dirty="0"/>
              <a:t>位</a:t>
            </a:r>
            <a:r>
              <a:rPr lang="zh-CN" altLang="en-US" sz="2400" dirty="0" smtClean="0"/>
              <a:t>为</a:t>
            </a:r>
            <a:r>
              <a:rPr lang="en-US" altLang="zh-CN" sz="2400" dirty="0" smtClean="0"/>
              <a:t>ID.28~ID.0</a:t>
            </a:r>
            <a:r>
              <a:rPr lang="zh-CN" altLang="en-US" sz="2400" dirty="0" smtClean="0"/>
              <a:t>，分基本</a:t>
            </a:r>
            <a:r>
              <a:rPr lang="en-US" altLang="zh-CN" sz="2400" dirty="0" smtClean="0"/>
              <a:t>ID</a:t>
            </a:r>
            <a:r>
              <a:rPr lang="zh-CN" altLang="en-US" sz="2400" dirty="0" smtClean="0"/>
              <a:t>（</a:t>
            </a:r>
            <a:r>
              <a:rPr lang="en-US" altLang="zh-CN" sz="2400" dirty="0" smtClean="0"/>
              <a:t>ID.28~ID.18</a:t>
            </a:r>
            <a:r>
              <a:rPr lang="zh-CN" altLang="en-US" sz="2400" dirty="0" smtClean="0"/>
              <a:t>）和扩展</a:t>
            </a:r>
            <a:r>
              <a:rPr lang="en-US" altLang="zh-CN" sz="2400" dirty="0" smtClean="0"/>
              <a:t>ID</a:t>
            </a:r>
            <a:r>
              <a:rPr lang="zh-CN" altLang="en-US" sz="2400" dirty="0" smtClean="0"/>
              <a:t>（</a:t>
            </a:r>
            <a:r>
              <a:rPr lang="en-US" altLang="zh-CN" sz="2400" dirty="0" smtClean="0"/>
              <a:t>ID.17~ID.0</a:t>
            </a:r>
            <a:r>
              <a:rPr lang="zh-CN" altLang="en-US" sz="2400" dirty="0" smtClean="0"/>
              <a:t>）</a:t>
            </a:r>
            <a:endParaRPr lang="zh-CN" altLang="en-US" sz="2400" dirty="0"/>
          </a:p>
        </p:txBody>
      </p:sp>
      <p:pic>
        <p:nvPicPr>
          <p:cNvPr id="3174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950" y="908050"/>
            <a:ext cx="8647113" cy="30035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push dir="u"/>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p:txBody>
          <a:bodyPr/>
          <a:lstStyle/>
          <a:p>
            <a:r>
              <a:rPr lang="en-US" altLang="zh-CN" dirty="0" smtClean="0"/>
              <a:t>3.2 </a:t>
            </a:r>
            <a:r>
              <a:rPr lang="en-US" altLang="zh-CN" dirty="0"/>
              <a:t>CAN</a:t>
            </a:r>
            <a:r>
              <a:rPr lang="zh-CN" altLang="en-US" dirty="0"/>
              <a:t>协议基础</a:t>
            </a:r>
            <a:endParaRPr lang="zh-CN" altLang="en-US" dirty="0" smtClean="0"/>
          </a:p>
        </p:txBody>
      </p:sp>
      <p:sp>
        <p:nvSpPr>
          <p:cNvPr id="32771" name="内容占位符 2"/>
          <p:cNvSpPr>
            <a:spLocks noGrp="1"/>
          </p:cNvSpPr>
          <p:nvPr>
            <p:ph idx="1"/>
          </p:nvPr>
        </p:nvSpPr>
        <p:spPr>
          <a:xfrm>
            <a:off x="107950" y="3911600"/>
            <a:ext cx="8928100" cy="2254250"/>
          </a:xfrm>
        </p:spPr>
        <p:txBody>
          <a:bodyPr/>
          <a:lstStyle/>
          <a:p>
            <a:pPr>
              <a:buFont typeface="Arial" charset="0"/>
              <a:buChar char="•"/>
            </a:pPr>
            <a:r>
              <a:rPr lang="zh-CN" altLang="en-US" sz="2400" dirty="0" smtClean="0">
                <a:solidFill>
                  <a:srgbClr val="C00000"/>
                </a:solidFill>
              </a:rPr>
              <a:t> </a:t>
            </a:r>
            <a:r>
              <a:rPr lang="en-US" altLang="zh-CN" sz="2400" dirty="0" smtClean="0">
                <a:solidFill>
                  <a:srgbClr val="C00000"/>
                </a:solidFill>
              </a:rPr>
              <a:t>SRR</a:t>
            </a:r>
            <a:r>
              <a:rPr lang="zh-CN" altLang="en-US" sz="2400" dirty="0" smtClean="0">
                <a:solidFill>
                  <a:srgbClr val="C00000"/>
                </a:solidFill>
              </a:rPr>
              <a:t>位</a:t>
            </a:r>
            <a:r>
              <a:rPr lang="zh-CN" altLang="en-US" sz="2400" dirty="0" smtClean="0"/>
              <a:t>为隐位，在</a:t>
            </a:r>
            <a:r>
              <a:rPr lang="zh-CN" altLang="en-US" sz="2400" dirty="0" smtClean="0">
                <a:solidFill>
                  <a:srgbClr val="C00000"/>
                </a:solidFill>
              </a:rPr>
              <a:t>扩展格式中</a:t>
            </a:r>
            <a:r>
              <a:rPr lang="zh-CN" altLang="en-US" sz="2400" dirty="0">
                <a:solidFill>
                  <a:srgbClr val="C00000"/>
                </a:solidFill>
              </a:rPr>
              <a:t>对</a:t>
            </a:r>
            <a:r>
              <a:rPr lang="zh-CN" altLang="en-US" sz="2400" dirty="0" smtClean="0">
                <a:solidFill>
                  <a:srgbClr val="C00000"/>
                </a:solidFill>
              </a:rPr>
              <a:t>应标准格式的</a:t>
            </a:r>
            <a:r>
              <a:rPr lang="en-US" altLang="zh-CN" sz="2400" dirty="0" smtClean="0">
                <a:solidFill>
                  <a:srgbClr val="C00000"/>
                </a:solidFill>
              </a:rPr>
              <a:t>RTR</a:t>
            </a:r>
            <a:r>
              <a:rPr lang="zh-CN" altLang="en-US" sz="2400" dirty="0" smtClean="0">
                <a:solidFill>
                  <a:srgbClr val="C00000"/>
                </a:solidFill>
              </a:rPr>
              <a:t>位</a:t>
            </a:r>
            <a:r>
              <a:rPr lang="zh-CN" altLang="en-US" sz="2400" dirty="0" smtClean="0"/>
              <a:t>上被发送，并替代标准格式中的</a:t>
            </a:r>
            <a:r>
              <a:rPr lang="en-US" altLang="zh-CN" sz="2400" dirty="0" smtClean="0"/>
              <a:t>RTR</a:t>
            </a:r>
            <a:r>
              <a:rPr lang="zh-CN" altLang="en-US" sz="2400" dirty="0" smtClean="0"/>
              <a:t>位。由于标准数据帧中</a:t>
            </a:r>
            <a:r>
              <a:rPr lang="en-US" altLang="zh-CN" sz="2400" dirty="0" smtClean="0"/>
              <a:t>RTR</a:t>
            </a:r>
            <a:r>
              <a:rPr lang="zh-CN" altLang="en-US" sz="2400" dirty="0" smtClean="0"/>
              <a:t>为显位，而扩展数据帧中</a:t>
            </a:r>
            <a:r>
              <a:rPr lang="en-US" altLang="zh-CN" sz="2400" dirty="0" smtClean="0"/>
              <a:t>SRR</a:t>
            </a:r>
            <a:r>
              <a:rPr lang="zh-CN" altLang="en-US" sz="2400" dirty="0" smtClean="0"/>
              <a:t>为隐位，所以原有的相同基本</a:t>
            </a:r>
            <a:r>
              <a:rPr lang="en-US" altLang="zh-CN" sz="2400" dirty="0" smtClean="0"/>
              <a:t>ID</a:t>
            </a:r>
            <a:r>
              <a:rPr lang="zh-CN" altLang="en-US" sz="2400" dirty="0" smtClean="0"/>
              <a:t>的标准数据帧优先级高于扩展数据帧</a:t>
            </a:r>
            <a:r>
              <a:rPr lang="zh-CN" altLang="en-US" sz="2400" dirty="0"/>
              <a:t>；</a:t>
            </a:r>
            <a:endParaRPr lang="en-US" altLang="zh-CN" sz="2400" dirty="0" smtClean="0"/>
          </a:p>
          <a:p>
            <a:pPr>
              <a:buFont typeface="Arial" charset="0"/>
              <a:buChar char="•"/>
            </a:pPr>
            <a:r>
              <a:rPr lang="en-US" altLang="zh-CN" sz="2400" dirty="0" smtClean="0">
                <a:solidFill>
                  <a:srgbClr val="C00000"/>
                </a:solidFill>
              </a:rPr>
              <a:t>IDE</a:t>
            </a:r>
            <a:r>
              <a:rPr lang="zh-CN" altLang="en-US" sz="2400" dirty="0" smtClean="0">
                <a:solidFill>
                  <a:srgbClr val="C00000"/>
                </a:solidFill>
              </a:rPr>
              <a:t>位</a:t>
            </a:r>
            <a:r>
              <a:rPr lang="zh-CN" altLang="en-US" sz="2400" dirty="0" smtClean="0"/>
              <a:t>对扩展格式属于仲裁场，对标准格式属于控制场。</a:t>
            </a:r>
            <a:r>
              <a:rPr lang="en-US" altLang="zh-CN" sz="2400" dirty="0" smtClean="0"/>
              <a:t>IDE</a:t>
            </a:r>
            <a:r>
              <a:rPr lang="zh-CN" altLang="en-US" sz="2400" dirty="0" smtClean="0"/>
              <a:t>在标准格式中为“显性”，在扩展格式中为“隐性</a:t>
            </a:r>
            <a:r>
              <a:rPr lang="en-US" altLang="zh-CN" sz="2400" dirty="0" smtClean="0"/>
              <a:t>”</a:t>
            </a:r>
            <a:r>
              <a:rPr lang="zh-CN" altLang="en-US" sz="2400" dirty="0" smtClean="0"/>
              <a:t>，从而相同</a:t>
            </a:r>
            <a:r>
              <a:rPr lang="en-US" altLang="zh-CN" sz="2400" dirty="0" smtClean="0"/>
              <a:t>ID</a:t>
            </a:r>
            <a:r>
              <a:rPr lang="zh-CN" altLang="en-US" sz="2400" dirty="0" smtClean="0"/>
              <a:t>，标准格式帧优先级高；</a:t>
            </a:r>
          </a:p>
        </p:txBody>
      </p:sp>
      <p:pic>
        <p:nvPicPr>
          <p:cNvPr id="3277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50" y="908050"/>
            <a:ext cx="8647113" cy="3003550"/>
          </a:xfrm>
          <a:prstGeom prst="rect">
            <a:avLst/>
          </a:prstGeom>
          <a:solidFill>
            <a:schemeClr val="bg1"/>
          </a:solidFill>
          <a:ln w="9525">
            <a:solidFill>
              <a:schemeClr val="tx1"/>
            </a:solidFill>
            <a:miter lim="800000"/>
            <a:headEnd/>
            <a:tailEnd/>
          </a:ln>
        </p:spPr>
      </p:pic>
    </p:spTree>
  </p:cSld>
  <p:clrMapOvr>
    <a:masterClrMapping/>
  </p:clrMapOvr>
  <p:transition spd="slow">
    <p:push dir="u"/>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p:txBody>
          <a:bodyPr/>
          <a:lstStyle/>
          <a:p>
            <a:r>
              <a:rPr lang="en-US" altLang="zh-CN" dirty="0" smtClean="0"/>
              <a:t>3.2 </a:t>
            </a:r>
            <a:r>
              <a:rPr lang="en-US" altLang="zh-CN" dirty="0"/>
              <a:t>CAN</a:t>
            </a:r>
            <a:r>
              <a:rPr lang="zh-CN" altLang="en-US" dirty="0"/>
              <a:t>协议基础</a:t>
            </a:r>
            <a:endParaRPr lang="zh-CN" altLang="en-US" dirty="0" smtClean="0"/>
          </a:p>
        </p:txBody>
      </p:sp>
      <p:sp>
        <p:nvSpPr>
          <p:cNvPr id="33795" name="内容占位符 2"/>
          <p:cNvSpPr>
            <a:spLocks noGrp="1"/>
          </p:cNvSpPr>
          <p:nvPr>
            <p:ph idx="1"/>
          </p:nvPr>
        </p:nvSpPr>
        <p:spPr>
          <a:xfrm>
            <a:off x="107950" y="3284538"/>
            <a:ext cx="8928100" cy="2881312"/>
          </a:xfrm>
        </p:spPr>
        <p:txBody>
          <a:bodyPr/>
          <a:lstStyle/>
          <a:p>
            <a:pPr>
              <a:buFont typeface="Wingdings" pitchFamily="2" charset="2"/>
              <a:buChar char="ü"/>
            </a:pPr>
            <a:r>
              <a:rPr lang="zh-CN" altLang="en-US" sz="2800" b="1" dirty="0" smtClean="0">
                <a:solidFill>
                  <a:srgbClr val="C00000"/>
                </a:solidFill>
              </a:rPr>
              <a:t>控制场：</a:t>
            </a:r>
            <a:r>
              <a:rPr lang="zh-CN" altLang="en-US" sz="2800" dirty="0" smtClean="0">
                <a:solidFill>
                  <a:srgbClr val="C00000"/>
                </a:solidFill>
              </a:rPr>
              <a:t>标准格式</a:t>
            </a:r>
            <a:r>
              <a:rPr lang="zh-CN" altLang="en-US" sz="2800" dirty="0" smtClean="0"/>
              <a:t>与</a:t>
            </a:r>
            <a:r>
              <a:rPr lang="zh-CN" altLang="en-US" sz="2800" dirty="0" smtClean="0">
                <a:solidFill>
                  <a:srgbClr val="C00000"/>
                </a:solidFill>
              </a:rPr>
              <a:t>扩展格式</a:t>
            </a:r>
            <a:r>
              <a:rPr lang="zh-CN" altLang="en-US" sz="2800" dirty="0" smtClean="0"/>
              <a:t>中的控制场有</a:t>
            </a:r>
            <a:r>
              <a:rPr lang="zh-CN" altLang="en-US" sz="2800" dirty="0" smtClean="0">
                <a:solidFill>
                  <a:srgbClr val="C00000"/>
                </a:solidFill>
              </a:rPr>
              <a:t>区别</a:t>
            </a:r>
            <a:endParaRPr lang="en-US" altLang="zh-CN" sz="2800" dirty="0" smtClean="0">
              <a:solidFill>
                <a:srgbClr val="C00000"/>
              </a:solidFill>
            </a:endParaRPr>
          </a:p>
          <a:p>
            <a:pPr lvl="1">
              <a:buFont typeface="Arial" charset="0"/>
              <a:buChar char="•"/>
            </a:pPr>
            <a:r>
              <a:rPr lang="zh-CN" altLang="en-US" sz="2400" dirty="0" smtClean="0">
                <a:solidFill>
                  <a:srgbClr val="C00000"/>
                </a:solidFill>
              </a:rPr>
              <a:t>标准格式</a:t>
            </a:r>
            <a:r>
              <a:rPr lang="zh-CN" altLang="en-US" sz="2400" dirty="0"/>
              <a:t>，</a:t>
            </a:r>
            <a:r>
              <a:rPr lang="zh-CN" altLang="en-US" sz="2400" dirty="0" smtClean="0"/>
              <a:t>控制场包括数据长度</a:t>
            </a:r>
            <a:r>
              <a:rPr lang="en-US" altLang="zh-CN" sz="2400" dirty="0" smtClean="0"/>
              <a:t>DLC</a:t>
            </a:r>
            <a:r>
              <a:rPr lang="zh-CN" altLang="en-US" sz="2400" dirty="0" smtClean="0"/>
              <a:t>，</a:t>
            </a:r>
            <a:r>
              <a:rPr lang="en-US" altLang="zh-CN" sz="2400" dirty="0" smtClean="0"/>
              <a:t>IDE</a:t>
            </a:r>
            <a:r>
              <a:rPr lang="zh-CN" altLang="en-US" sz="2400" dirty="0" smtClean="0"/>
              <a:t>和保留位</a:t>
            </a:r>
            <a:r>
              <a:rPr lang="en-US" altLang="zh-CN" sz="2400" dirty="0" smtClean="0"/>
              <a:t>r0</a:t>
            </a:r>
            <a:r>
              <a:rPr lang="zh-CN" altLang="en-US" sz="2400" dirty="0" smtClean="0"/>
              <a:t>。</a:t>
            </a:r>
            <a:endParaRPr lang="en-US" altLang="zh-CN" sz="2400" dirty="0" smtClean="0"/>
          </a:p>
          <a:p>
            <a:pPr lvl="1">
              <a:buFont typeface="Arial" charset="0"/>
              <a:buChar char="•"/>
            </a:pPr>
            <a:r>
              <a:rPr lang="zh-CN" altLang="en-US" sz="2400" dirty="0" smtClean="0">
                <a:solidFill>
                  <a:srgbClr val="C00000"/>
                </a:solidFill>
              </a:rPr>
              <a:t>扩展格式</a:t>
            </a:r>
            <a:r>
              <a:rPr lang="zh-CN" altLang="en-US" sz="2400" dirty="0" smtClean="0"/>
              <a:t>，</a:t>
            </a:r>
            <a:r>
              <a:rPr lang="en-US" altLang="zh-CN" sz="2400" dirty="0" smtClean="0"/>
              <a:t>IDE</a:t>
            </a:r>
            <a:r>
              <a:rPr lang="zh-CN" altLang="en-US" sz="2400" dirty="0" smtClean="0"/>
              <a:t>位属于仲裁场。保留位必须发送显位，但接收器认可显位与隐位的任何组合。</a:t>
            </a:r>
            <a:endParaRPr lang="en-US" altLang="zh-CN" sz="2400" dirty="0" smtClean="0"/>
          </a:p>
          <a:p>
            <a:pPr lvl="1">
              <a:buFont typeface="Arial" charset="0"/>
              <a:buChar char="•"/>
            </a:pPr>
            <a:r>
              <a:rPr lang="zh-CN" altLang="en-US" sz="2400" dirty="0" smtClean="0">
                <a:solidFill>
                  <a:srgbClr val="C00000"/>
                </a:solidFill>
              </a:rPr>
              <a:t>数据长度码</a:t>
            </a:r>
            <a:r>
              <a:rPr lang="en-US" altLang="zh-CN" sz="2400" dirty="0" smtClean="0">
                <a:solidFill>
                  <a:srgbClr val="C00000"/>
                </a:solidFill>
              </a:rPr>
              <a:t>DLC</a:t>
            </a:r>
            <a:r>
              <a:rPr lang="zh-CN" altLang="en-US" sz="2400" dirty="0" smtClean="0">
                <a:solidFill>
                  <a:srgbClr val="C00000"/>
                </a:solidFill>
              </a:rPr>
              <a:t>，</a:t>
            </a:r>
            <a:r>
              <a:rPr lang="zh-CN" altLang="en-US" sz="2400" dirty="0" smtClean="0"/>
              <a:t>指出数据场的字节数目（见下页表）。</a:t>
            </a:r>
          </a:p>
        </p:txBody>
      </p:sp>
      <p:pic>
        <p:nvPicPr>
          <p:cNvPr id="3379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950" y="1052513"/>
            <a:ext cx="8763000" cy="14176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push dir="u"/>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p:txBody>
          <a:bodyPr/>
          <a:lstStyle/>
          <a:p>
            <a:r>
              <a:rPr lang="en-US" altLang="zh-CN" dirty="0" smtClean="0"/>
              <a:t>3.2 </a:t>
            </a:r>
            <a:r>
              <a:rPr lang="en-US" altLang="zh-CN" dirty="0"/>
              <a:t>CAN</a:t>
            </a:r>
            <a:r>
              <a:rPr lang="zh-CN" altLang="en-US" dirty="0"/>
              <a:t>协议基础</a:t>
            </a:r>
            <a:endParaRPr lang="zh-CN" altLang="en-US" dirty="0" smtClean="0"/>
          </a:p>
        </p:txBody>
      </p:sp>
      <p:sp>
        <p:nvSpPr>
          <p:cNvPr id="34819" name="内容占位符 2"/>
          <p:cNvSpPr>
            <a:spLocks noGrp="1"/>
          </p:cNvSpPr>
          <p:nvPr>
            <p:ph idx="1"/>
          </p:nvPr>
        </p:nvSpPr>
        <p:spPr>
          <a:xfrm>
            <a:off x="107950" y="4724400"/>
            <a:ext cx="8928100" cy="1441450"/>
          </a:xfrm>
        </p:spPr>
        <p:txBody>
          <a:bodyPr/>
          <a:lstStyle/>
          <a:p>
            <a:pPr>
              <a:buFont typeface="Arial" charset="0"/>
              <a:buChar char="•"/>
            </a:pPr>
            <a:r>
              <a:rPr lang="zh-CN" altLang="en-US" sz="2400" dirty="0" smtClean="0">
                <a:solidFill>
                  <a:srgbClr val="C00000"/>
                </a:solidFill>
              </a:rPr>
              <a:t>数据长度码为</a:t>
            </a:r>
            <a:r>
              <a:rPr lang="en-US" altLang="zh-CN" sz="2400" dirty="0" smtClean="0">
                <a:solidFill>
                  <a:srgbClr val="C00000"/>
                </a:solidFill>
              </a:rPr>
              <a:t>4</a:t>
            </a:r>
            <a:r>
              <a:rPr lang="zh-CN" altLang="en-US" sz="2400" dirty="0" smtClean="0">
                <a:solidFill>
                  <a:srgbClr val="C00000"/>
                </a:solidFill>
              </a:rPr>
              <a:t>位</a:t>
            </a:r>
            <a:r>
              <a:rPr lang="zh-CN" altLang="en-US" sz="2400" dirty="0" smtClean="0"/>
              <a:t>。在控制场中被发送。数据长度码中数据字节数目编码如上表所列，其中</a:t>
            </a:r>
            <a:r>
              <a:rPr lang="en-US" altLang="zh-CN" sz="2400" dirty="0" smtClean="0"/>
              <a:t>d</a:t>
            </a:r>
            <a:r>
              <a:rPr lang="zh-CN" altLang="en-US" sz="2400" dirty="0" smtClean="0"/>
              <a:t>表示显性位，</a:t>
            </a:r>
            <a:r>
              <a:rPr lang="en-US" altLang="zh-CN" sz="2400" dirty="0" smtClean="0"/>
              <a:t>r</a:t>
            </a:r>
            <a:r>
              <a:rPr lang="zh-CN" altLang="en-US" sz="2400" dirty="0" smtClean="0"/>
              <a:t>表示隐性位。数据字节允许使用的数值为</a:t>
            </a:r>
            <a:r>
              <a:rPr lang="en-US" altLang="zh-CN" sz="2400" dirty="0" smtClean="0"/>
              <a:t>0 ~ 8</a:t>
            </a:r>
            <a:r>
              <a:rPr lang="zh-CN" altLang="en-US" sz="2400" dirty="0" smtClean="0"/>
              <a:t>，不能使用其他数值。</a:t>
            </a:r>
          </a:p>
        </p:txBody>
      </p:sp>
      <p:pic>
        <p:nvPicPr>
          <p:cNvPr id="3482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38" y="952500"/>
            <a:ext cx="8748712"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sh dir="u"/>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p:txBody>
          <a:bodyPr/>
          <a:lstStyle/>
          <a:p>
            <a:r>
              <a:rPr lang="en-US" altLang="zh-CN" dirty="0" smtClean="0"/>
              <a:t>3.2 </a:t>
            </a:r>
            <a:r>
              <a:rPr lang="en-US" altLang="zh-CN" dirty="0"/>
              <a:t>CAN</a:t>
            </a:r>
            <a:r>
              <a:rPr lang="zh-CN" altLang="en-US" dirty="0"/>
              <a:t>协议基础</a:t>
            </a:r>
            <a:endParaRPr lang="zh-CN" altLang="en-US" dirty="0" smtClean="0"/>
          </a:p>
        </p:txBody>
      </p:sp>
      <p:sp>
        <p:nvSpPr>
          <p:cNvPr id="35843" name="内容占位符 2"/>
          <p:cNvSpPr>
            <a:spLocks noGrp="1"/>
          </p:cNvSpPr>
          <p:nvPr>
            <p:ph idx="1"/>
          </p:nvPr>
        </p:nvSpPr>
        <p:spPr>
          <a:xfrm>
            <a:off x="143669" y="3573016"/>
            <a:ext cx="8928100" cy="2736304"/>
          </a:xfrm>
        </p:spPr>
        <p:txBody>
          <a:bodyPr/>
          <a:lstStyle/>
          <a:p>
            <a:pPr>
              <a:buFont typeface="Wingdings" pitchFamily="2" charset="2"/>
              <a:buChar char="ü"/>
            </a:pPr>
            <a:r>
              <a:rPr lang="zh-CN" altLang="en-US" sz="2800" b="1" dirty="0" smtClean="0">
                <a:solidFill>
                  <a:srgbClr val="C00000"/>
                </a:solidFill>
              </a:rPr>
              <a:t>数据场</a:t>
            </a:r>
            <a:r>
              <a:rPr lang="zh-CN" altLang="en-US" sz="2800" dirty="0" smtClean="0"/>
              <a:t>由数据帧中被发送的数据组成，它可包括</a:t>
            </a:r>
            <a:r>
              <a:rPr lang="en-US" altLang="zh-CN" sz="2800" dirty="0" smtClean="0"/>
              <a:t>0</a:t>
            </a:r>
            <a:r>
              <a:rPr lang="zh-CN" altLang="en-US" sz="2800" dirty="0" smtClean="0"/>
              <a:t>至</a:t>
            </a:r>
            <a:r>
              <a:rPr lang="en-US" altLang="zh-CN" sz="2800" dirty="0" smtClean="0"/>
              <a:t>8</a:t>
            </a:r>
            <a:r>
              <a:rPr lang="zh-CN" altLang="en-US" sz="2800" dirty="0" smtClean="0"/>
              <a:t>个字节，每个字节包括</a:t>
            </a:r>
            <a:r>
              <a:rPr lang="en-US" altLang="zh-CN" sz="2800" dirty="0" smtClean="0"/>
              <a:t>8</a:t>
            </a:r>
            <a:r>
              <a:rPr lang="zh-CN" altLang="en-US" sz="2800" dirty="0" smtClean="0"/>
              <a:t>位，首先发送最高有效位</a:t>
            </a:r>
            <a:r>
              <a:rPr lang="zh-CN" altLang="en-US" sz="2800" dirty="0"/>
              <a:t>；</a:t>
            </a:r>
            <a:endParaRPr lang="en-US" altLang="zh-CN" sz="2800" dirty="0" smtClean="0"/>
          </a:p>
          <a:p>
            <a:pPr>
              <a:buFont typeface="Wingdings" pitchFamily="2" charset="2"/>
              <a:buChar char="ü"/>
            </a:pPr>
            <a:r>
              <a:rPr lang="zh-CN" altLang="en-US" sz="2800" dirty="0" smtClean="0"/>
              <a:t>在</a:t>
            </a:r>
            <a:r>
              <a:rPr lang="en-US" altLang="zh-CN" sz="2800" dirty="0" smtClean="0"/>
              <a:t>CAN</a:t>
            </a:r>
            <a:r>
              <a:rPr lang="zh-CN" altLang="en-US" sz="2800" dirty="0" smtClean="0"/>
              <a:t>协议中，不解析数据场中的数据；</a:t>
            </a:r>
          </a:p>
        </p:txBody>
      </p:sp>
      <p:pic>
        <p:nvPicPr>
          <p:cNvPr id="3584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1989138"/>
            <a:ext cx="8713788" cy="1401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sh dir="u"/>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p:txBody>
          <a:bodyPr/>
          <a:lstStyle/>
          <a:p>
            <a:r>
              <a:rPr lang="en-US" altLang="zh-CN" dirty="0" smtClean="0"/>
              <a:t>3.2 </a:t>
            </a:r>
            <a:r>
              <a:rPr lang="en-US" altLang="zh-CN" dirty="0"/>
              <a:t>CAN</a:t>
            </a:r>
            <a:r>
              <a:rPr lang="zh-CN" altLang="en-US" dirty="0"/>
              <a:t>协议基础</a:t>
            </a:r>
            <a:endParaRPr lang="zh-CN" altLang="en-US" dirty="0" smtClean="0"/>
          </a:p>
        </p:txBody>
      </p:sp>
      <p:pic>
        <p:nvPicPr>
          <p:cNvPr id="36868"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88" y="981075"/>
            <a:ext cx="8763000" cy="19589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4" name="内容占位符 3"/>
          <p:cNvSpPr>
            <a:spLocks noGrp="1"/>
          </p:cNvSpPr>
          <p:nvPr>
            <p:ph idx="1"/>
          </p:nvPr>
        </p:nvSpPr>
        <p:spPr>
          <a:xfrm>
            <a:off x="107950" y="3068960"/>
            <a:ext cx="8928100" cy="3096890"/>
          </a:xfrm>
        </p:spPr>
        <p:txBody>
          <a:bodyPr/>
          <a:lstStyle/>
          <a:p>
            <a:pPr>
              <a:buFont typeface="Wingdings" panose="05000000000000000000" pitchFamily="2" charset="2"/>
              <a:buChar char="ü"/>
            </a:pPr>
            <a:r>
              <a:rPr lang="en-US" altLang="zh-CN" b="1" dirty="0" smtClean="0">
                <a:solidFill>
                  <a:srgbClr val="C00000"/>
                </a:solidFill>
              </a:rPr>
              <a:t>CRC</a:t>
            </a:r>
            <a:r>
              <a:rPr lang="zh-CN" altLang="en-US" b="1" dirty="0" smtClean="0">
                <a:solidFill>
                  <a:srgbClr val="C00000"/>
                </a:solidFill>
              </a:rPr>
              <a:t>校验场</a:t>
            </a:r>
            <a:r>
              <a:rPr lang="zh-CN" altLang="en-US" dirty="0" smtClean="0"/>
              <a:t>：包括</a:t>
            </a:r>
            <a:r>
              <a:rPr lang="en-US" altLang="zh-CN" dirty="0" smtClean="0"/>
              <a:t>CRC</a:t>
            </a:r>
            <a:r>
              <a:rPr lang="zh-CN" altLang="en-US" dirty="0" smtClean="0"/>
              <a:t>序列与</a:t>
            </a:r>
            <a:r>
              <a:rPr lang="en-US" altLang="zh-CN" dirty="0" smtClean="0"/>
              <a:t>CRC</a:t>
            </a:r>
            <a:r>
              <a:rPr lang="zh-CN" altLang="en-US" dirty="0" smtClean="0"/>
              <a:t>界定符。</a:t>
            </a:r>
            <a:endParaRPr lang="en-US" altLang="zh-CN" dirty="0" smtClean="0"/>
          </a:p>
          <a:p>
            <a:pPr lvl="1">
              <a:buFont typeface="Arial" panose="020B0604020202020204" pitchFamily="34" charset="0"/>
              <a:buChar char="•"/>
            </a:pPr>
            <a:r>
              <a:rPr lang="en-US" altLang="zh-CN" dirty="0" smtClean="0">
                <a:solidFill>
                  <a:srgbClr val="C00000"/>
                </a:solidFill>
              </a:rPr>
              <a:t>CRC</a:t>
            </a:r>
            <a:r>
              <a:rPr lang="zh-CN" altLang="en-US" dirty="0" smtClean="0">
                <a:solidFill>
                  <a:srgbClr val="C00000"/>
                </a:solidFill>
              </a:rPr>
              <a:t>序列</a:t>
            </a:r>
            <a:r>
              <a:rPr lang="zh-CN" altLang="en-US" dirty="0" smtClean="0"/>
              <a:t>由</a:t>
            </a:r>
            <a:r>
              <a:rPr lang="en-US" altLang="zh-CN" dirty="0" smtClean="0"/>
              <a:t>CRC</a:t>
            </a:r>
            <a:r>
              <a:rPr lang="zh-CN" altLang="en-US" dirty="0" smtClean="0"/>
              <a:t>校验求得的帧检查序列组成，计算中，被除数多项式包括帧起始、控制场与数据场（若有），无填充位。</a:t>
            </a:r>
            <a:endParaRPr lang="en-US" altLang="zh-CN" dirty="0" smtClean="0"/>
          </a:p>
          <a:p>
            <a:pPr lvl="1">
              <a:buFont typeface="Arial" panose="020B0604020202020204" pitchFamily="34" charset="0"/>
              <a:buChar char="•"/>
            </a:pPr>
            <a:r>
              <a:rPr lang="en-US" altLang="zh-CN" dirty="0" smtClean="0">
                <a:solidFill>
                  <a:srgbClr val="C00000"/>
                </a:solidFill>
              </a:rPr>
              <a:t>CRC</a:t>
            </a:r>
            <a:r>
              <a:rPr lang="zh-CN" altLang="en-US" dirty="0" smtClean="0">
                <a:solidFill>
                  <a:srgbClr val="C00000"/>
                </a:solidFill>
              </a:rPr>
              <a:t>界定符</a:t>
            </a:r>
            <a:r>
              <a:rPr lang="zh-CN" altLang="en-US" dirty="0" smtClean="0"/>
              <a:t>为</a:t>
            </a:r>
            <a:r>
              <a:rPr lang="en-US" altLang="zh-CN" dirty="0" smtClean="0"/>
              <a:t>1</a:t>
            </a:r>
            <a:r>
              <a:rPr lang="zh-CN" altLang="en-US" dirty="0" smtClean="0"/>
              <a:t>个隐位。</a:t>
            </a:r>
            <a:endParaRPr lang="zh-CN" altLang="en-US" dirty="0"/>
          </a:p>
        </p:txBody>
      </p:sp>
    </p:spTree>
  </p:cSld>
  <p:clrMapOvr>
    <a:masterClrMapping/>
  </p:clrMapOvr>
  <p:transition spd="slow">
    <p:push dir="u"/>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p:txBody>
          <a:bodyPr/>
          <a:lstStyle/>
          <a:p>
            <a:r>
              <a:rPr lang="en-US" altLang="zh-CN" dirty="0" smtClean="0"/>
              <a:t>3.2 </a:t>
            </a:r>
            <a:r>
              <a:rPr lang="en-US" altLang="zh-CN" dirty="0"/>
              <a:t>CAN</a:t>
            </a:r>
            <a:r>
              <a:rPr lang="zh-CN" altLang="en-US" dirty="0"/>
              <a:t>协议基础</a:t>
            </a:r>
            <a:endParaRPr lang="zh-CN" altLang="en-US" dirty="0" smtClean="0"/>
          </a:p>
        </p:txBody>
      </p:sp>
      <p:sp>
        <p:nvSpPr>
          <p:cNvPr id="37891" name="内容占位符 2"/>
          <p:cNvSpPr>
            <a:spLocks noGrp="1"/>
          </p:cNvSpPr>
          <p:nvPr>
            <p:ph idx="1"/>
          </p:nvPr>
        </p:nvSpPr>
        <p:spPr>
          <a:xfrm>
            <a:off x="107950" y="2871788"/>
            <a:ext cx="8928100" cy="3294062"/>
          </a:xfrm>
        </p:spPr>
        <p:txBody>
          <a:bodyPr/>
          <a:lstStyle/>
          <a:p>
            <a:pPr>
              <a:buFont typeface="Wingdings" pitchFamily="2" charset="2"/>
              <a:buChar char="ü"/>
            </a:pPr>
            <a:r>
              <a:rPr lang="zh-CN" altLang="en-US" sz="2800" b="1" dirty="0" smtClean="0">
                <a:solidFill>
                  <a:srgbClr val="C00000"/>
                </a:solidFill>
              </a:rPr>
              <a:t>应答场（</a:t>
            </a:r>
            <a:r>
              <a:rPr lang="en-US" altLang="zh-CN" sz="2800" b="1" dirty="0" smtClean="0">
                <a:solidFill>
                  <a:srgbClr val="C00000"/>
                </a:solidFill>
              </a:rPr>
              <a:t>ACK</a:t>
            </a:r>
            <a:r>
              <a:rPr lang="zh-CN" altLang="en-US" sz="2800" b="1" dirty="0" smtClean="0">
                <a:solidFill>
                  <a:srgbClr val="C00000"/>
                </a:solidFill>
              </a:rPr>
              <a:t>场）：</a:t>
            </a:r>
            <a:r>
              <a:rPr lang="zh-CN" altLang="en-US" sz="2800" dirty="0" smtClean="0"/>
              <a:t>两位，</a:t>
            </a:r>
            <a:r>
              <a:rPr lang="zh-CN" altLang="en-US" sz="2800" dirty="0" smtClean="0">
                <a:solidFill>
                  <a:srgbClr val="C00000"/>
                </a:solidFill>
              </a:rPr>
              <a:t>应答间隙</a:t>
            </a:r>
            <a:r>
              <a:rPr lang="zh-CN" altLang="en-US" sz="2800" dirty="0" smtClean="0"/>
              <a:t>与</a:t>
            </a:r>
            <a:r>
              <a:rPr lang="zh-CN" altLang="en-US" sz="2800" dirty="0" smtClean="0">
                <a:solidFill>
                  <a:srgbClr val="C00000"/>
                </a:solidFill>
              </a:rPr>
              <a:t>应答界定符</a:t>
            </a:r>
            <a:endParaRPr lang="en-US" altLang="zh-CN" sz="2800" dirty="0" smtClean="0">
              <a:solidFill>
                <a:srgbClr val="C00000"/>
              </a:solidFill>
            </a:endParaRPr>
          </a:p>
          <a:p>
            <a:pPr lvl="1">
              <a:buFont typeface="Arial" charset="0"/>
              <a:buChar char="•"/>
            </a:pPr>
            <a:r>
              <a:rPr lang="zh-CN" altLang="en-US" sz="2400" dirty="0" smtClean="0">
                <a:latin typeface="Times New Roman" pitchFamily="18" charset="0"/>
              </a:rPr>
              <a:t>发送节点在应答场中送出两个“隐”位。</a:t>
            </a:r>
            <a:endParaRPr lang="en-US" altLang="zh-CN" sz="2400" dirty="0" smtClean="0">
              <a:latin typeface="Times New Roman" pitchFamily="18" charset="0"/>
            </a:endParaRPr>
          </a:p>
          <a:p>
            <a:pPr lvl="1">
              <a:buFont typeface="Arial" charset="0"/>
              <a:buChar char="•"/>
            </a:pPr>
            <a:r>
              <a:rPr lang="zh-CN" altLang="en-US" sz="2400" dirty="0" smtClean="0">
                <a:latin typeface="Times New Roman" pitchFamily="18" charset="0"/>
              </a:rPr>
              <a:t>正确地接收到有效报文的接收器，在</a:t>
            </a:r>
            <a:r>
              <a:rPr lang="zh-CN" altLang="en-US" sz="2400" dirty="0" smtClean="0">
                <a:solidFill>
                  <a:srgbClr val="C00000"/>
                </a:solidFill>
                <a:latin typeface="Times New Roman" pitchFamily="18" charset="0"/>
              </a:rPr>
              <a:t>应答间隙</a:t>
            </a:r>
            <a:r>
              <a:rPr lang="zh-CN" altLang="en-US" sz="2400" dirty="0" smtClean="0">
                <a:latin typeface="Times New Roman" pitchFamily="18" charset="0"/>
              </a:rPr>
              <a:t>期间传送一个“显”位给发送器。</a:t>
            </a:r>
            <a:endParaRPr lang="en-US" altLang="zh-CN" sz="2400" dirty="0" smtClean="0">
              <a:latin typeface="Times New Roman" pitchFamily="18" charset="0"/>
            </a:endParaRPr>
          </a:p>
          <a:p>
            <a:pPr lvl="1">
              <a:buFont typeface="Arial" charset="0"/>
              <a:buChar char="•"/>
            </a:pPr>
            <a:r>
              <a:rPr lang="zh-CN" altLang="en-US" sz="2400" dirty="0" smtClean="0">
                <a:latin typeface="Times New Roman" pitchFamily="18" charset="0"/>
              </a:rPr>
              <a:t>应答界定符是应答场的第二位，且须是“隐”位。</a:t>
            </a:r>
          </a:p>
        </p:txBody>
      </p:sp>
      <p:pic>
        <p:nvPicPr>
          <p:cNvPr id="37892"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88" y="908050"/>
            <a:ext cx="8686800" cy="19637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push dir="u"/>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p:txBody>
          <a:bodyPr/>
          <a:lstStyle/>
          <a:p>
            <a:r>
              <a:rPr lang="en-US" altLang="zh-CN" dirty="0" smtClean="0"/>
              <a:t>3.2 </a:t>
            </a:r>
            <a:r>
              <a:rPr lang="en-US" altLang="zh-CN" dirty="0"/>
              <a:t>CAN</a:t>
            </a:r>
            <a:r>
              <a:rPr lang="zh-CN" altLang="en-US" dirty="0"/>
              <a:t>协议基础</a:t>
            </a:r>
            <a:endParaRPr lang="zh-CN" altLang="en-US" dirty="0" smtClean="0"/>
          </a:p>
        </p:txBody>
      </p:sp>
      <p:sp>
        <p:nvSpPr>
          <p:cNvPr id="38915" name="内容占位符 2"/>
          <p:cNvSpPr>
            <a:spLocks noGrp="1"/>
          </p:cNvSpPr>
          <p:nvPr>
            <p:ph idx="1"/>
          </p:nvPr>
        </p:nvSpPr>
        <p:spPr>
          <a:xfrm>
            <a:off x="107950" y="3068638"/>
            <a:ext cx="8928100" cy="3097212"/>
          </a:xfrm>
        </p:spPr>
        <p:txBody>
          <a:bodyPr/>
          <a:lstStyle/>
          <a:p>
            <a:pPr>
              <a:buFont typeface="Wingdings" pitchFamily="2" charset="2"/>
              <a:buChar char="ü"/>
            </a:pPr>
            <a:r>
              <a:rPr lang="zh-CN" altLang="en-US" sz="2800" b="1" dirty="0" smtClean="0">
                <a:solidFill>
                  <a:srgbClr val="C00000"/>
                </a:solidFill>
              </a:rPr>
              <a:t>帧结束（帧尾）：</a:t>
            </a:r>
            <a:r>
              <a:rPr lang="zh-CN" altLang="en-US" sz="2800" dirty="0" smtClean="0">
                <a:latin typeface="Times New Roman" pitchFamily="18" charset="0"/>
              </a:rPr>
              <a:t>每个数据帧和远程帧均是由</a:t>
            </a:r>
            <a:r>
              <a:rPr lang="en-US" altLang="zh-CN" sz="2800" dirty="0">
                <a:solidFill>
                  <a:srgbClr val="C00000"/>
                </a:solidFill>
                <a:latin typeface="Times New Roman" pitchFamily="18" charset="0"/>
              </a:rPr>
              <a:t>7</a:t>
            </a:r>
            <a:r>
              <a:rPr lang="zh-CN" altLang="en-US" sz="2800" dirty="0" smtClean="0">
                <a:solidFill>
                  <a:srgbClr val="C00000"/>
                </a:solidFill>
                <a:latin typeface="Times New Roman" pitchFamily="18" charset="0"/>
              </a:rPr>
              <a:t>个隐位</a:t>
            </a:r>
            <a:r>
              <a:rPr lang="zh-CN" altLang="en-US" sz="2800" dirty="0" smtClean="0">
                <a:latin typeface="Times New Roman" pitchFamily="18" charset="0"/>
              </a:rPr>
              <a:t>组成的标志序列作为结束的标志。</a:t>
            </a:r>
            <a:endParaRPr lang="zh-CN" altLang="en-US" sz="2800" dirty="0" smtClean="0"/>
          </a:p>
        </p:txBody>
      </p:sp>
      <p:pic>
        <p:nvPicPr>
          <p:cNvPr id="3891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88" y="908050"/>
            <a:ext cx="8686800" cy="19637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push dir="u"/>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p:txBody>
          <a:bodyPr/>
          <a:lstStyle/>
          <a:p>
            <a:r>
              <a:rPr lang="en-US" altLang="zh-CN" dirty="0" smtClean="0"/>
              <a:t>3.2 </a:t>
            </a:r>
            <a:r>
              <a:rPr lang="en-US" altLang="zh-CN" dirty="0"/>
              <a:t>CAN</a:t>
            </a:r>
            <a:r>
              <a:rPr lang="zh-CN" altLang="en-US" dirty="0"/>
              <a:t>协议基础</a:t>
            </a:r>
            <a:endParaRPr lang="zh-CN" altLang="en-US" dirty="0" smtClean="0"/>
          </a:p>
        </p:txBody>
      </p:sp>
      <p:sp>
        <p:nvSpPr>
          <p:cNvPr id="40963" name="内容占位符 2"/>
          <p:cNvSpPr>
            <a:spLocks noGrp="1"/>
          </p:cNvSpPr>
          <p:nvPr>
            <p:ph idx="1"/>
          </p:nvPr>
        </p:nvSpPr>
        <p:spPr>
          <a:xfrm>
            <a:off x="3175" y="890588"/>
            <a:ext cx="8928100" cy="4021137"/>
          </a:xfrm>
        </p:spPr>
        <p:txBody>
          <a:bodyPr/>
          <a:lstStyle/>
          <a:p>
            <a:r>
              <a:rPr lang="zh-CN" altLang="en-US" sz="2800" dirty="0" smtClean="0">
                <a:solidFill>
                  <a:srgbClr val="FF0000"/>
                </a:solidFill>
              </a:rPr>
              <a:t>远程帧：</a:t>
            </a:r>
            <a:r>
              <a:rPr lang="zh-CN" altLang="en-US" sz="2800" dirty="0" smtClean="0"/>
              <a:t>接收数据的节点通过向相应的数据源节点发送一个远程帧，从而激活该</a:t>
            </a:r>
            <a:r>
              <a:rPr lang="zh-CN" altLang="en-US" sz="2800" dirty="0"/>
              <a:t>节</a:t>
            </a:r>
            <a:r>
              <a:rPr lang="zh-CN" altLang="en-US" sz="2800" dirty="0" smtClean="0"/>
              <a:t>点并令其发送数据。</a:t>
            </a:r>
            <a:endParaRPr lang="en-US" altLang="zh-CN" sz="2800" dirty="0" smtClean="0"/>
          </a:p>
          <a:p>
            <a:pPr lvl="1"/>
            <a:r>
              <a:rPr lang="zh-CN" altLang="en-US" dirty="0" smtClean="0"/>
              <a:t>由</a:t>
            </a:r>
            <a:r>
              <a:rPr lang="en-US" altLang="zh-CN" dirty="0" smtClean="0">
                <a:solidFill>
                  <a:srgbClr val="C00000"/>
                </a:solidFill>
              </a:rPr>
              <a:t>6</a:t>
            </a:r>
            <a:r>
              <a:rPr lang="zh-CN" altLang="en-US" dirty="0" smtClean="0">
                <a:solidFill>
                  <a:srgbClr val="C00000"/>
                </a:solidFill>
              </a:rPr>
              <a:t>个</a:t>
            </a:r>
            <a:r>
              <a:rPr lang="zh-CN" altLang="en-US" dirty="0" smtClean="0"/>
              <a:t>不同的</a:t>
            </a:r>
            <a:r>
              <a:rPr lang="zh-CN" altLang="en-US" dirty="0" smtClean="0">
                <a:solidFill>
                  <a:srgbClr val="C00000"/>
                </a:solidFill>
              </a:rPr>
              <a:t>位场</a:t>
            </a:r>
            <a:r>
              <a:rPr lang="zh-CN" altLang="en-US" dirty="0" smtClean="0"/>
              <a:t>组成：帧起始、仲裁场、控制场、</a:t>
            </a:r>
            <a:r>
              <a:rPr lang="en-US" altLang="zh-CN" dirty="0" smtClean="0"/>
              <a:t>CRC</a:t>
            </a:r>
            <a:r>
              <a:rPr lang="zh-CN" altLang="en-US" dirty="0" smtClean="0"/>
              <a:t>场、应答场和帧结束。</a:t>
            </a:r>
            <a:endParaRPr lang="en-US" altLang="zh-CN" dirty="0" smtClean="0"/>
          </a:p>
          <a:p>
            <a:pPr lvl="1"/>
            <a:r>
              <a:rPr lang="zh-CN" altLang="en-US" dirty="0" smtClean="0"/>
              <a:t>远程帧的</a:t>
            </a:r>
            <a:r>
              <a:rPr lang="en-US" altLang="zh-CN" dirty="0" smtClean="0">
                <a:solidFill>
                  <a:srgbClr val="C00000"/>
                </a:solidFill>
              </a:rPr>
              <a:t>RTR</a:t>
            </a:r>
            <a:r>
              <a:rPr lang="zh-CN" altLang="en-US" dirty="0" smtClean="0">
                <a:solidFill>
                  <a:srgbClr val="C00000"/>
                </a:solidFill>
              </a:rPr>
              <a:t>位</a:t>
            </a:r>
            <a:r>
              <a:rPr lang="zh-CN" altLang="en-US" dirty="0" smtClean="0"/>
              <a:t>是</a:t>
            </a:r>
            <a:r>
              <a:rPr lang="zh-CN" altLang="en-US" dirty="0" smtClean="0">
                <a:solidFill>
                  <a:srgbClr val="C00000"/>
                </a:solidFill>
              </a:rPr>
              <a:t>隐位</a:t>
            </a:r>
            <a:r>
              <a:rPr lang="zh-CN" altLang="en-US" dirty="0" smtClean="0"/>
              <a:t>。</a:t>
            </a:r>
            <a:endParaRPr lang="en-US" altLang="zh-CN" dirty="0" smtClean="0"/>
          </a:p>
          <a:p>
            <a:pPr lvl="1"/>
            <a:r>
              <a:rPr lang="zh-CN" altLang="en-US" dirty="0" smtClean="0"/>
              <a:t>远程帧</a:t>
            </a:r>
            <a:r>
              <a:rPr lang="zh-CN" altLang="en-US" dirty="0" smtClean="0">
                <a:solidFill>
                  <a:srgbClr val="C00000"/>
                </a:solidFill>
              </a:rPr>
              <a:t>无数据场</a:t>
            </a:r>
            <a:r>
              <a:rPr lang="zh-CN" altLang="en-US" dirty="0" smtClean="0"/>
              <a:t>。</a:t>
            </a:r>
            <a:endParaRPr lang="en-US" altLang="zh-CN" dirty="0" smtClean="0"/>
          </a:p>
          <a:p>
            <a:pPr lvl="1"/>
            <a:r>
              <a:rPr lang="en-US" altLang="zh-CN" dirty="0" smtClean="0"/>
              <a:t>DLC</a:t>
            </a:r>
            <a:r>
              <a:rPr lang="zh-CN" altLang="en-US" dirty="0" smtClean="0"/>
              <a:t>数值可以是</a:t>
            </a:r>
            <a:r>
              <a:rPr lang="en-US" altLang="zh-CN" dirty="0" smtClean="0"/>
              <a:t>0~8</a:t>
            </a:r>
            <a:r>
              <a:rPr lang="zh-CN" altLang="en-US" dirty="0" smtClean="0"/>
              <a:t>，为对应数据帧的</a:t>
            </a:r>
            <a:r>
              <a:rPr lang="en-US" altLang="zh-CN" dirty="0" smtClean="0"/>
              <a:t>DLC</a:t>
            </a:r>
            <a:endParaRPr lang="zh-CN" altLang="en-US" dirty="0" smtClean="0"/>
          </a:p>
        </p:txBody>
      </p:sp>
      <p:pic>
        <p:nvPicPr>
          <p:cNvPr id="40964"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950" y="4962525"/>
            <a:ext cx="8763000" cy="14192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push dir="u"/>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p:txBody>
          <a:bodyPr/>
          <a:lstStyle/>
          <a:p>
            <a:r>
              <a:rPr lang="en-US" altLang="zh-CN" dirty="0" smtClean="0"/>
              <a:t>3.2 </a:t>
            </a:r>
            <a:r>
              <a:rPr lang="en-US" altLang="zh-CN" dirty="0"/>
              <a:t>CAN</a:t>
            </a:r>
            <a:r>
              <a:rPr lang="zh-CN" altLang="en-US" dirty="0"/>
              <a:t>协议基础</a:t>
            </a:r>
            <a:endParaRPr lang="zh-CN" altLang="en-US" dirty="0" smtClean="0"/>
          </a:p>
        </p:txBody>
      </p:sp>
      <p:sp>
        <p:nvSpPr>
          <p:cNvPr id="3" name="内容占位符 2"/>
          <p:cNvSpPr>
            <a:spLocks noGrp="1"/>
          </p:cNvSpPr>
          <p:nvPr>
            <p:ph idx="1"/>
          </p:nvPr>
        </p:nvSpPr>
        <p:spPr/>
        <p:txBody>
          <a:bodyPr/>
          <a:lstStyle/>
          <a:p>
            <a:pPr>
              <a:spcBef>
                <a:spcPct val="50000"/>
              </a:spcBef>
              <a:buClr>
                <a:srgbClr val="6600FF"/>
              </a:buClr>
              <a:buSzPct val="105000"/>
              <a:buFont typeface="Wingdings" pitchFamily="2" charset="2"/>
              <a:buNone/>
              <a:defRPr/>
            </a:pPr>
            <a:r>
              <a:rPr lang="zh-CN" altLang="zh-CN" b="1" dirty="0">
                <a:solidFill>
                  <a:srgbClr val="C00000"/>
                </a:solidFill>
              </a:rPr>
              <a:t>远程帧</a:t>
            </a:r>
            <a:r>
              <a:rPr lang="zh-CN" altLang="zh-CN" b="1" dirty="0">
                <a:solidFill>
                  <a:schemeClr val="accent3">
                    <a:lumMod val="50000"/>
                  </a:schemeClr>
                </a:solidFill>
              </a:rPr>
              <a:t>与</a:t>
            </a:r>
            <a:r>
              <a:rPr lang="zh-CN" altLang="zh-CN" b="1" dirty="0">
                <a:solidFill>
                  <a:srgbClr val="C00000"/>
                </a:solidFill>
              </a:rPr>
              <a:t>数据帧</a:t>
            </a:r>
            <a:r>
              <a:rPr lang="zh-CN" altLang="zh-CN" b="1" dirty="0" smtClean="0">
                <a:solidFill>
                  <a:schemeClr val="accent3">
                    <a:lumMod val="50000"/>
                  </a:schemeClr>
                </a:solidFill>
              </a:rPr>
              <a:t>的</a:t>
            </a:r>
            <a:r>
              <a:rPr lang="zh-CN" altLang="en-US" b="1" dirty="0" smtClean="0">
                <a:solidFill>
                  <a:srgbClr val="C00000"/>
                </a:solidFill>
              </a:rPr>
              <a:t>异同</a:t>
            </a:r>
            <a:r>
              <a:rPr lang="zh-CN" altLang="zh-CN" b="1" dirty="0" smtClean="0">
                <a:solidFill>
                  <a:schemeClr val="accent3">
                    <a:lumMod val="50000"/>
                  </a:schemeClr>
                </a:solidFill>
              </a:rPr>
              <a:t>：</a:t>
            </a:r>
            <a:endParaRPr lang="zh-CN" altLang="zh-CN" b="1" dirty="0">
              <a:solidFill>
                <a:schemeClr val="accent3">
                  <a:lumMod val="50000"/>
                </a:schemeClr>
              </a:solidFill>
            </a:endParaRPr>
          </a:p>
          <a:p>
            <a:pPr>
              <a:spcBef>
                <a:spcPct val="50000"/>
              </a:spcBef>
              <a:buClr>
                <a:schemeClr val="accent3">
                  <a:lumMod val="50000"/>
                </a:schemeClr>
              </a:buClr>
              <a:buSzPct val="105000"/>
              <a:defRPr/>
            </a:pPr>
            <a:r>
              <a:rPr lang="zh-CN" altLang="zh-CN" dirty="0">
                <a:solidFill>
                  <a:srgbClr val="C00000"/>
                </a:solidFill>
              </a:rPr>
              <a:t>RTR位的极性</a:t>
            </a:r>
            <a:r>
              <a:rPr lang="zh-CN" altLang="zh-CN" dirty="0">
                <a:solidFill>
                  <a:schemeClr val="accent3">
                    <a:lumMod val="50000"/>
                  </a:schemeClr>
                </a:solidFill>
              </a:rPr>
              <a:t>表</a:t>
            </a:r>
            <a:r>
              <a:rPr lang="zh-CN" altLang="zh-CN" dirty="0" smtClean="0">
                <a:solidFill>
                  <a:schemeClr val="accent3">
                    <a:lumMod val="50000"/>
                  </a:schemeClr>
                </a:solidFill>
              </a:rPr>
              <a:t>示所</a:t>
            </a:r>
            <a:r>
              <a:rPr lang="zh-CN" altLang="zh-CN" dirty="0">
                <a:solidFill>
                  <a:schemeClr val="accent3">
                    <a:lumMod val="50000"/>
                  </a:schemeClr>
                </a:solidFill>
              </a:rPr>
              <a:t>发送的帧</a:t>
            </a:r>
            <a:r>
              <a:rPr lang="zh-CN" altLang="zh-CN" dirty="0" smtClean="0">
                <a:solidFill>
                  <a:schemeClr val="accent3">
                    <a:lumMod val="50000"/>
                  </a:schemeClr>
                </a:solidFill>
              </a:rPr>
              <a:t>是数</a:t>
            </a:r>
            <a:r>
              <a:rPr lang="zh-CN" altLang="zh-CN" dirty="0">
                <a:solidFill>
                  <a:schemeClr val="accent3">
                    <a:lumMod val="50000"/>
                  </a:schemeClr>
                </a:solidFill>
              </a:rPr>
              <a:t>据帧（RTR位显性）还</a:t>
            </a:r>
            <a:r>
              <a:rPr lang="zh-CN" altLang="zh-CN" dirty="0" smtClean="0">
                <a:solidFill>
                  <a:schemeClr val="accent3">
                    <a:lumMod val="50000"/>
                  </a:schemeClr>
                </a:solidFill>
              </a:rPr>
              <a:t>是远</a:t>
            </a:r>
            <a:r>
              <a:rPr lang="zh-CN" altLang="zh-CN" dirty="0">
                <a:solidFill>
                  <a:schemeClr val="accent3">
                    <a:lumMod val="50000"/>
                  </a:schemeClr>
                </a:solidFill>
              </a:rPr>
              <a:t>程帧（RTR位隐形）</a:t>
            </a:r>
          </a:p>
          <a:p>
            <a:pPr>
              <a:spcBef>
                <a:spcPct val="50000"/>
              </a:spcBef>
              <a:buClr>
                <a:schemeClr val="accent3">
                  <a:lumMod val="50000"/>
                </a:schemeClr>
              </a:buClr>
              <a:buSzPct val="105000"/>
              <a:defRPr/>
            </a:pPr>
            <a:r>
              <a:rPr lang="zh-CN" altLang="zh-CN" dirty="0">
                <a:solidFill>
                  <a:srgbClr val="C00000"/>
                </a:solidFill>
              </a:rPr>
              <a:t>远程帧和数据帧的标准格式与扩展格式</a:t>
            </a:r>
            <a:r>
              <a:rPr lang="zh-CN" altLang="zh-CN" dirty="0">
                <a:solidFill>
                  <a:schemeClr val="accent3">
                    <a:lumMod val="50000"/>
                  </a:schemeClr>
                </a:solidFill>
              </a:rPr>
              <a:t>都是通过仲裁场格式的不同来区分</a:t>
            </a:r>
            <a:r>
              <a:rPr lang="zh-CN" altLang="zh-CN" dirty="0" smtClean="0">
                <a:solidFill>
                  <a:schemeClr val="accent3">
                    <a:lumMod val="50000"/>
                  </a:schemeClr>
                </a:solidFill>
              </a:rPr>
              <a:t>：</a:t>
            </a:r>
            <a:endParaRPr lang="en-US" altLang="zh-CN" dirty="0" smtClean="0">
              <a:solidFill>
                <a:schemeClr val="accent3">
                  <a:lumMod val="50000"/>
                </a:schemeClr>
              </a:solidFill>
            </a:endParaRPr>
          </a:p>
          <a:p>
            <a:pPr lvl="1">
              <a:spcBef>
                <a:spcPct val="50000"/>
              </a:spcBef>
              <a:buClr>
                <a:schemeClr val="accent3">
                  <a:lumMod val="50000"/>
                </a:schemeClr>
              </a:buClr>
              <a:buSzPct val="105000"/>
              <a:buFont typeface="Arial" panose="020B0604020202020204" pitchFamily="34" charset="0"/>
              <a:buChar char="•"/>
              <a:defRPr/>
            </a:pPr>
            <a:r>
              <a:rPr lang="zh-CN" altLang="zh-CN" dirty="0" smtClean="0">
                <a:solidFill>
                  <a:schemeClr val="accent3">
                    <a:lumMod val="50000"/>
                  </a:schemeClr>
                </a:solidFill>
              </a:rPr>
              <a:t>标</a:t>
            </a:r>
            <a:r>
              <a:rPr lang="zh-CN" altLang="zh-CN" dirty="0">
                <a:solidFill>
                  <a:schemeClr val="accent3">
                    <a:lumMod val="50000"/>
                  </a:schemeClr>
                </a:solidFill>
              </a:rPr>
              <a:t>准格式帧的仲裁场由11位标识符和RTR位组</a:t>
            </a:r>
            <a:r>
              <a:rPr lang="zh-CN" altLang="zh-CN" dirty="0" smtClean="0">
                <a:solidFill>
                  <a:schemeClr val="accent3">
                    <a:lumMod val="50000"/>
                  </a:schemeClr>
                </a:solidFill>
              </a:rPr>
              <a:t>成</a:t>
            </a:r>
            <a:endParaRPr lang="en-US" altLang="zh-CN" dirty="0" smtClean="0">
              <a:solidFill>
                <a:schemeClr val="accent3">
                  <a:lumMod val="50000"/>
                </a:schemeClr>
              </a:solidFill>
            </a:endParaRPr>
          </a:p>
          <a:p>
            <a:pPr lvl="1">
              <a:spcBef>
                <a:spcPct val="50000"/>
              </a:spcBef>
              <a:buClr>
                <a:schemeClr val="accent3">
                  <a:lumMod val="50000"/>
                </a:schemeClr>
              </a:buClr>
              <a:buSzPct val="105000"/>
              <a:buFont typeface="Arial" panose="020B0604020202020204" pitchFamily="34" charset="0"/>
              <a:buChar char="•"/>
              <a:defRPr/>
            </a:pPr>
            <a:r>
              <a:rPr lang="zh-CN" altLang="zh-CN" dirty="0" smtClean="0">
                <a:solidFill>
                  <a:schemeClr val="accent3">
                    <a:lumMod val="50000"/>
                  </a:schemeClr>
                </a:solidFill>
              </a:rPr>
              <a:t>扩</a:t>
            </a:r>
            <a:r>
              <a:rPr lang="zh-CN" altLang="zh-CN" dirty="0">
                <a:solidFill>
                  <a:schemeClr val="accent3">
                    <a:lumMod val="50000"/>
                  </a:schemeClr>
                </a:solidFill>
              </a:rPr>
              <a:t>展格式帧的仲裁场包括29位标识符、SRR位、IDE位和RTR</a:t>
            </a:r>
            <a:r>
              <a:rPr lang="zh-CN" altLang="zh-CN" dirty="0" smtClean="0">
                <a:solidFill>
                  <a:schemeClr val="accent3">
                    <a:lumMod val="50000"/>
                  </a:schemeClr>
                </a:solidFill>
              </a:rPr>
              <a:t>位</a:t>
            </a:r>
            <a:endParaRPr lang="zh-CN" altLang="en-US" dirty="0">
              <a:solidFill>
                <a:schemeClr val="accent3">
                  <a:lumMod val="50000"/>
                </a:schemeClr>
              </a:solidFill>
            </a:endParaRPr>
          </a:p>
        </p:txBody>
      </p:sp>
    </p:spTree>
  </p:cSld>
  <p:clrMapOvr>
    <a:masterClrMapping/>
  </p:clrMapOvr>
  <p:transition spd="slow">
    <p:push dir="u"/>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p:txBody>
          <a:bodyPr/>
          <a:lstStyle/>
          <a:p>
            <a:r>
              <a:rPr lang="en-US" altLang="zh-CN" dirty="0" smtClean="0"/>
              <a:t>3.2 </a:t>
            </a:r>
            <a:r>
              <a:rPr lang="en-US" altLang="zh-CN" dirty="0"/>
              <a:t>CAN</a:t>
            </a:r>
            <a:r>
              <a:rPr lang="zh-CN" altLang="en-US" dirty="0"/>
              <a:t>协议基础</a:t>
            </a:r>
            <a:endParaRPr lang="zh-CN" altLang="en-US" dirty="0" smtClean="0"/>
          </a:p>
        </p:txBody>
      </p:sp>
      <p:sp>
        <p:nvSpPr>
          <p:cNvPr id="43011" name="内容占位符 2"/>
          <p:cNvSpPr>
            <a:spLocks noGrp="1"/>
          </p:cNvSpPr>
          <p:nvPr>
            <p:ph idx="1"/>
          </p:nvPr>
        </p:nvSpPr>
        <p:spPr>
          <a:xfrm>
            <a:off x="58862" y="3356992"/>
            <a:ext cx="8928100" cy="1441450"/>
          </a:xfrm>
        </p:spPr>
        <p:txBody>
          <a:bodyPr/>
          <a:lstStyle/>
          <a:p>
            <a:r>
              <a:rPr lang="zh-CN" altLang="en-US" b="1" dirty="0" smtClean="0">
                <a:solidFill>
                  <a:srgbClr val="FF0000"/>
                </a:solidFill>
              </a:rPr>
              <a:t>错误帧：</a:t>
            </a:r>
            <a:r>
              <a:rPr lang="zh-CN" altLang="en-US" dirty="0" smtClean="0"/>
              <a:t>由来自各站的</a:t>
            </a:r>
            <a:r>
              <a:rPr lang="zh-CN" altLang="en-US" dirty="0" smtClean="0">
                <a:solidFill>
                  <a:srgbClr val="C00000"/>
                </a:solidFill>
              </a:rPr>
              <a:t>错误标志</a:t>
            </a:r>
            <a:r>
              <a:rPr lang="en-US" altLang="zh-CN" dirty="0" smtClean="0"/>
              <a:t>(Error </a:t>
            </a:r>
            <a:r>
              <a:rPr lang="en-US" altLang="zh-CN" dirty="0" err="1" smtClean="0"/>
              <a:t>Flage</a:t>
            </a:r>
            <a:r>
              <a:rPr lang="en-US" altLang="zh-CN" dirty="0" smtClean="0"/>
              <a:t>)</a:t>
            </a:r>
            <a:r>
              <a:rPr lang="zh-CN" altLang="en-US" dirty="0"/>
              <a:t>与</a:t>
            </a:r>
            <a:r>
              <a:rPr lang="zh-CN" altLang="en-US" dirty="0" smtClean="0">
                <a:solidFill>
                  <a:srgbClr val="C00000"/>
                </a:solidFill>
              </a:rPr>
              <a:t>错误界定符</a:t>
            </a:r>
            <a:r>
              <a:rPr lang="en-US" altLang="zh-CN" dirty="0" smtClean="0"/>
              <a:t>(Error Delimiter)</a:t>
            </a:r>
            <a:r>
              <a:rPr lang="zh-CN" altLang="en-US" dirty="0" smtClean="0"/>
              <a:t>组成。</a:t>
            </a:r>
          </a:p>
        </p:txBody>
      </p:sp>
      <p:pic>
        <p:nvPicPr>
          <p:cNvPr id="43012"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9512" y="1124744"/>
            <a:ext cx="8686800" cy="151216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push dir="u"/>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p:txBody>
          <a:bodyPr/>
          <a:lstStyle/>
          <a:p>
            <a:r>
              <a:rPr lang="en-US" altLang="zh-CN" dirty="0" smtClean="0"/>
              <a:t>3.2 </a:t>
            </a:r>
            <a:r>
              <a:rPr lang="en-US" altLang="zh-CN" dirty="0"/>
              <a:t>CAN</a:t>
            </a:r>
            <a:r>
              <a:rPr lang="zh-CN" altLang="en-US" dirty="0"/>
              <a:t>协议基础</a:t>
            </a:r>
            <a:endParaRPr lang="zh-CN" altLang="en-US" dirty="0" smtClean="0"/>
          </a:p>
        </p:txBody>
      </p:sp>
      <p:sp>
        <p:nvSpPr>
          <p:cNvPr id="3" name="内容占位符 2"/>
          <p:cNvSpPr>
            <a:spLocks noGrp="1"/>
          </p:cNvSpPr>
          <p:nvPr>
            <p:ph idx="1"/>
          </p:nvPr>
        </p:nvSpPr>
        <p:spPr/>
        <p:txBody>
          <a:bodyPr/>
          <a:lstStyle/>
          <a:p>
            <a:pPr>
              <a:buFont typeface="Wingdings" pitchFamily="2" charset="2"/>
              <a:buChar char="ü"/>
              <a:defRPr/>
            </a:pPr>
            <a:r>
              <a:rPr lang="zh-CN" altLang="en-US" sz="2800" dirty="0">
                <a:solidFill>
                  <a:srgbClr val="C00000"/>
                </a:solidFill>
                <a:latin typeface="Times New Roman" pitchFamily="18" charset="0"/>
              </a:rPr>
              <a:t>错误标志</a:t>
            </a:r>
            <a:r>
              <a:rPr lang="zh-CN" altLang="en-US" sz="2800" dirty="0">
                <a:latin typeface="Times New Roman" pitchFamily="18" charset="0"/>
              </a:rPr>
              <a:t>具有</a:t>
            </a:r>
            <a:r>
              <a:rPr lang="zh-CN" altLang="en-US" sz="2800" b="1" dirty="0">
                <a:solidFill>
                  <a:srgbClr val="C00000"/>
                </a:solidFill>
                <a:latin typeface="Times New Roman" pitchFamily="18" charset="0"/>
              </a:rPr>
              <a:t>两种形式</a:t>
            </a:r>
            <a:r>
              <a:rPr lang="zh-CN" altLang="en-US" sz="2800" dirty="0">
                <a:latin typeface="Times New Roman" pitchFamily="18" charset="0"/>
              </a:rPr>
              <a:t>：</a:t>
            </a:r>
          </a:p>
          <a:p>
            <a:pPr lvl="1">
              <a:buFont typeface="Arial" panose="020B0604020202020204" pitchFamily="34" charset="0"/>
              <a:buChar char="•"/>
              <a:defRPr/>
            </a:pPr>
            <a:r>
              <a:rPr lang="zh-CN" altLang="en-US" sz="2400" dirty="0" smtClean="0">
                <a:solidFill>
                  <a:srgbClr val="C00000"/>
                </a:solidFill>
                <a:latin typeface="Times New Roman" pitchFamily="18" charset="0"/>
              </a:rPr>
              <a:t>活动出错标志</a:t>
            </a:r>
            <a:r>
              <a:rPr lang="en-US" altLang="zh-CN" sz="2400" dirty="0">
                <a:latin typeface="Times New Roman" pitchFamily="18" charset="0"/>
              </a:rPr>
              <a:t>(</a:t>
            </a:r>
            <a:r>
              <a:rPr lang="en-US" altLang="zh-CN" sz="2400" dirty="0">
                <a:latin typeface="+mn-lt"/>
              </a:rPr>
              <a:t>Active Error Flag</a:t>
            </a:r>
            <a:r>
              <a:rPr lang="en-US" altLang="zh-CN" sz="2400" dirty="0">
                <a:latin typeface="Times New Roman" pitchFamily="18" charset="0"/>
              </a:rPr>
              <a:t>)</a:t>
            </a:r>
            <a:r>
              <a:rPr lang="zh-CN" altLang="en-US" sz="2400" dirty="0">
                <a:latin typeface="Times New Roman" pitchFamily="18" charset="0"/>
              </a:rPr>
              <a:t>：由</a:t>
            </a:r>
            <a:r>
              <a:rPr lang="en-US" altLang="zh-CN" sz="2400" dirty="0">
                <a:latin typeface="Times New Roman" pitchFamily="18" charset="0"/>
              </a:rPr>
              <a:t>6</a:t>
            </a:r>
            <a:r>
              <a:rPr lang="zh-CN" altLang="en-US" sz="2400" dirty="0">
                <a:latin typeface="Times New Roman" pitchFamily="18" charset="0"/>
              </a:rPr>
              <a:t>个</a:t>
            </a:r>
            <a:r>
              <a:rPr lang="zh-CN" altLang="en-US" sz="2400" dirty="0" smtClean="0">
                <a:latin typeface="Times New Roman" pitchFamily="18" charset="0"/>
              </a:rPr>
              <a:t>连续“显性”位组成</a:t>
            </a:r>
            <a:endParaRPr lang="zh-CN" altLang="en-US" sz="2400" dirty="0">
              <a:latin typeface="Times New Roman" pitchFamily="18" charset="0"/>
            </a:endParaRPr>
          </a:p>
          <a:p>
            <a:pPr lvl="1">
              <a:buFont typeface="Arial" panose="020B0604020202020204" pitchFamily="34" charset="0"/>
              <a:buChar char="•"/>
              <a:defRPr/>
            </a:pPr>
            <a:r>
              <a:rPr lang="zh-CN" altLang="en-US" sz="2400" dirty="0" smtClean="0">
                <a:solidFill>
                  <a:srgbClr val="C00000"/>
                </a:solidFill>
                <a:latin typeface="Times New Roman" pitchFamily="18" charset="0"/>
              </a:rPr>
              <a:t>被动出错标志</a:t>
            </a:r>
            <a:r>
              <a:rPr lang="en-US" altLang="zh-CN" sz="2400" dirty="0" smtClean="0">
                <a:latin typeface="Times New Roman" pitchFamily="18" charset="0"/>
              </a:rPr>
              <a:t>(</a:t>
            </a:r>
            <a:r>
              <a:rPr lang="en-US" altLang="zh-CN" sz="2400" dirty="0" smtClean="0">
                <a:latin typeface="+mn-lt"/>
              </a:rPr>
              <a:t>Passive </a:t>
            </a:r>
            <a:r>
              <a:rPr lang="en-US" altLang="zh-CN" sz="2400" dirty="0">
                <a:latin typeface="+mn-lt"/>
              </a:rPr>
              <a:t>Error </a:t>
            </a:r>
            <a:r>
              <a:rPr lang="en-US" altLang="zh-CN" sz="2400" dirty="0" smtClean="0">
                <a:latin typeface="+mn-lt"/>
              </a:rPr>
              <a:t>Flag)</a:t>
            </a:r>
            <a:r>
              <a:rPr lang="zh-CN" altLang="en-US" sz="2400" dirty="0" smtClean="0">
                <a:latin typeface="Times New Roman" pitchFamily="18" charset="0"/>
              </a:rPr>
              <a:t>：</a:t>
            </a:r>
            <a:r>
              <a:rPr lang="zh-CN" altLang="en-US" sz="2400" dirty="0">
                <a:latin typeface="Times New Roman" pitchFamily="18" charset="0"/>
              </a:rPr>
              <a:t>由</a:t>
            </a:r>
            <a:r>
              <a:rPr lang="en-US" altLang="zh-CN" sz="2400" dirty="0">
                <a:latin typeface="Times New Roman" pitchFamily="18" charset="0"/>
              </a:rPr>
              <a:t>6</a:t>
            </a:r>
            <a:r>
              <a:rPr lang="zh-CN" altLang="en-US" sz="2400" dirty="0">
                <a:latin typeface="Times New Roman" pitchFamily="18" charset="0"/>
              </a:rPr>
              <a:t>个连续的“隐性”位组成</a:t>
            </a:r>
            <a:r>
              <a:rPr lang="zh-CN" altLang="en-US" sz="2400" dirty="0" smtClean="0">
                <a:latin typeface="Times New Roman" pitchFamily="18" charset="0"/>
              </a:rPr>
              <a:t>，可被</a:t>
            </a:r>
            <a:r>
              <a:rPr lang="zh-CN" altLang="en-US" sz="2400" dirty="0">
                <a:latin typeface="Times New Roman" pitchFamily="18" charset="0"/>
              </a:rPr>
              <a:t>来自其它节点的“显性”位改写</a:t>
            </a:r>
            <a:r>
              <a:rPr lang="zh-CN" altLang="en-US" sz="2400" dirty="0" smtClean="0">
                <a:latin typeface="Times New Roman" pitchFamily="18" charset="0"/>
              </a:rPr>
              <a:t>。</a:t>
            </a:r>
          </a:p>
          <a:p>
            <a:pPr lvl="1">
              <a:buFont typeface="Arial" panose="020B0604020202020204" pitchFamily="34" charset="0"/>
              <a:buChar char="•"/>
              <a:defRPr/>
            </a:pPr>
            <a:r>
              <a:rPr lang="zh-CN" altLang="en-US" sz="2400" dirty="0" smtClean="0">
                <a:solidFill>
                  <a:schemeClr val="accent3">
                    <a:lumMod val="50000"/>
                  </a:schemeClr>
                </a:solidFill>
              </a:rPr>
              <a:t>一个</a:t>
            </a:r>
            <a:r>
              <a:rPr lang="zh-CN" altLang="en-US" sz="2400" dirty="0" smtClean="0">
                <a:solidFill>
                  <a:srgbClr val="C00000"/>
                </a:solidFill>
              </a:rPr>
              <a:t>检测到出错条件</a:t>
            </a:r>
            <a:r>
              <a:rPr lang="zh-CN" altLang="en-US" sz="2400" dirty="0" smtClean="0">
                <a:solidFill>
                  <a:schemeClr val="accent3">
                    <a:lumMod val="50000"/>
                  </a:schemeClr>
                </a:solidFill>
              </a:rPr>
              <a:t>的</a:t>
            </a:r>
            <a:r>
              <a:rPr lang="zh-CN" altLang="en-US" sz="2400" dirty="0" smtClean="0">
                <a:solidFill>
                  <a:srgbClr val="C00000"/>
                </a:solidFill>
              </a:rPr>
              <a:t>“出错”节点</a:t>
            </a:r>
            <a:r>
              <a:rPr lang="zh-CN" altLang="en-US" sz="2400" dirty="0" smtClean="0">
                <a:solidFill>
                  <a:schemeClr val="accent3">
                    <a:lumMod val="50000"/>
                  </a:schemeClr>
                </a:solidFill>
              </a:rPr>
              <a:t>通过发送一个</a:t>
            </a:r>
            <a:r>
              <a:rPr lang="zh-CN" altLang="en-US" sz="2400" dirty="0" smtClean="0">
                <a:solidFill>
                  <a:srgbClr val="C00000"/>
                </a:solidFill>
              </a:rPr>
              <a:t>出错标志</a:t>
            </a:r>
            <a:r>
              <a:rPr lang="zh-CN" altLang="en-US" sz="2400" dirty="0" smtClean="0">
                <a:solidFill>
                  <a:schemeClr val="accent3">
                    <a:lumMod val="50000"/>
                  </a:schemeClr>
                </a:solidFill>
              </a:rPr>
              <a:t>来指示出错。</a:t>
            </a:r>
            <a:endParaRPr lang="en-US" altLang="zh-CN" sz="2400" dirty="0" smtClean="0"/>
          </a:p>
          <a:p>
            <a:pPr>
              <a:buFont typeface="Wingdings" panose="05000000000000000000" pitchFamily="2" charset="2"/>
              <a:buChar char="ü"/>
              <a:defRPr/>
            </a:pPr>
            <a:r>
              <a:rPr lang="zh-CN" altLang="en-US" sz="2800" dirty="0">
                <a:solidFill>
                  <a:srgbClr val="C00000"/>
                </a:solidFill>
              </a:rPr>
              <a:t>错误界定</a:t>
            </a:r>
            <a:r>
              <a:rPr lang="zh-CN" altLang="en-US" sz="2800" dirty="0" smtClean="0">
                <a:solidFill>
                  <a:srgbClr val="C00000"/>
                </a:solidFill>
              </a:rPr>
              <a:t>符</a:t>
            </a:r>
            <a:r>
              <a:rPr lang="zh-CN" altLang="en-US" sz="2800" dirty="0" smtClean="0"/>
              <a:t>由</a:t>
            </a:r>
            <a:r>
              <a:rPr lang="en-US" altLang="zh-CN" sz="2800" dirty="0" smtClean="0"/>
              <a:t>8</a:t>
            </a:r>
            <a:r>
              <a:rPr lang="zh-CN" altLang="en-US" sz="2800" dirty="0"/>
              <a:t>个隐</a:t>
            </a:r>
            <a:r>
              <a:rPr lang="zh-CN" altLang="en-US" sz="2800" dirty="0" smtClean="0"/>
              <a:t>位组成。</a:t>
            </a:r>
            <a:endParaRPr lang="en-US" altLang="zh-CN" sz="2800" dirty="0"/>
          </a:p>
          <a:p>
            <a:pPr>
              <a:buFont typeface="Arial" panose="020B0604020202020204" pitchFamily="34" charset="0"/>
              <a:buChar char="•"/>
              <a:defRPr/>
            </a:pPr>
            <a:endParaRPr lang="en-US" altLang="zh-CN" dirty="0"/>
          </a:p>
          <a:p>
            <a:pPr lvl="1">
              <a:buFont typeface="Arial" panose="020B0604020202020204" pitchFamily="34" charset="0"/>
              <a:buChar char="•"/>
              <a:defRPr/>
            </a:pPr>
            <a:endParaRPr lang="en-US" altLang="zh-CN" sz="2400" dirty="0" smtClean="0">
              <a:solidFill>
                <a:schemeClr val="accent3">
                  <a:lumMod val="50000"/>
                </a:schemeClr>
              </a:solidFill>
            </a:endParaRPr>
          </a:p>
        </p:txBody>
      </p:sp>
    </p:spTree>
  </p:cSld>
  <p:clrMapOvr>
    <a:masterClrMapping/>
  </p:clrMapOvr>
  <p:transition spd="slow">
    <p:push dir="u"/>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p:txBody>
          <a:bodyPr/>
          <a:lstStyle/>
          <a:p>
            <a:r>
              <a:rPr lang="en-US" altLang="zh-CN" dirty="0" smtClean="0"/>
              <a:t>3.2 </a:t>
            </a:r>
            <a:r>
              <a:rPr lang="en-US" altLang="zh-CN" dirty="0"/>
              <a:t>CAN</a:t>
            </a:r>
            <a:r>
              <a:rPr lang="zh-CN" altLang="en-US" dirty="0"/>
              <a:t>协议基础</a:t>
            </a:r>
            <a:endParaRPr lang="zh-CN" altLang="en-US" dirty="0" smtClean="0"/>
          </a:p>
        </p:txBody>
      </p:sp>
      <p:sp>
        <p:nvSpPr>
          <p:cNvPr id="3" name="内容占位符 2"/>
          <p:cNvSpPr>
            <a:spLocks noGrp="1"/>
          </p:cNvSpPr>
          <p:nvPr>
            <p:ph idx="1"/>
          </p:nvPr>
        </p:nvSpPr>
        <p:spPr>
          <a:xfrm>
            <a:off x="107950" y="2420888"/>
            <a:ext cx="8928100" cy="3744962"/>
          </a:xfrm>
        </p:spPr>
        <p:txBody>
          <a:bodyPr/>
          <a:lstStyle/>
          <a:p>
            <a:pPr>
              <a:defRPr/>
            </a:pPr>
            <a:r>
              <a:rPr lang="zh-CN" altLang="en-US" sz="2800" b="1" dirty="0">
                <a:solidFill>
                  <a:srgbClr val="FF0000"/>
                </a:solidFill>
              </a:rPr>
              <a:t>超载</a:t>
            </a:r>
            <a:r>
              <a:rPr lang="zh-CN" altLang="en-US" sz="2800" b="1" dirty="0" smtClean="0">
                <a:solidFill>
                  <a:srgbClr val="FF0000"/>
                </a:solidFill>
              </a:rPr>
              <a:t>帧：</a:t>
            </a:r>
            <a:r>
              <a:rPr lang="zh-CN" altLang="en-US" sz="2800" dirty="0" smtClean="0">
                <a:solidFill>
                  <a:schemeClr val="accent3">
                    <a:lumMod val="50000"/>
                  </a:schemeClr>
                </a:solidFill>
              </a:rPr>
              <a:t>包括</a:t>
            </a:r>
            <a:r>
              <a:rPr lang="zh-CN" altLang="en-US" sz="2800" dirty="0" smtClean="0">
                <a:solidFill>
                  <a:srgbClr val="C00000"/>
                </a:solidFill>
              </a:rPr>
              <a:t>超载标志</a:t>
            </a:r>
            <a:r>
              <a:rPr lang="zh-CN" altLang="en-US" sz="2800" dirty="0" smtClean="0">
                <a:solidFill>
                  <a:schemeClr val="accent3">
                    <a:lumMod val="50000"/>
                  </a:schemeClr>
                </a:solidFill>
              </a:rPr>
              <a:t>和</a:t>
            </a:r>
            <a:r>
              <a:rPr lang="zh-CN" altLang="en-US" sz="2800" dirty="0" smtClean="0">
                <a:solidFill>
                  <a:srgbClr val="C00000"/>
                </a:solidFill>
              </a:rPr>
              <a:t>超载界定符</a:t>
            </a:r>
            <a:r>
              <a:rPr lang="zh-CN" altLang="en-US" sz="2800" dirty="0" smtClean="0">
                <a:solidFill>
                  <a:schemeClr val="accent3">
                    <a:lumMod val="50000"/>
                  </a:schemeClr>
                </a:solidFill>
              </a:rPr>
              <a:t>两个位场。通过在数据帧与</a:t>
            </a:r>
            <a:r>
              <a:rPr lang="en-US" altLang="zh-CN" sz="2800" dirty="0" smtClean="0">
                <a:solidFill>
                  <a:schemeClr val="accent3">
                    <a:lumMod val="50000"/>
                  </a:schemeClr>
                </a:solidFill>
              </a:rPr>
              <a:t>/</a:t>
            </a:r>
            <a:r>
              <a:rPr lang="zh-CN" altLang="en-US" sz="2800" dirty="0" smtClean="0">
                <a:solidFill>
                  <a:schemeClr val="accent3">
                    <a:lumMod val="50000"/>
                  </a:schemeClr>
                </a:solidFill>
              </a:rPr>
              <a:t>或远程帧之间增加额外的延迟，可以降低网络的操作速度。</a:t>
            </a:r>
            <a:endParaRPr lang="en-US" altLang="zh-CN" sz="2800" dirty="0" smtClean="0">
              <a:solidFill>
                <a:schemeClr val="accent3">
                  <a:lumMod val="50000"/>
                </a:schemeClr>
              </a:solidFill>
            </a:endParaRPr>
          </a:p>
          <a:p>
            <a:pPr lvl="1">
              <a:buFont typeface="Arial" panose="020B0604020202020204" pitchFamily="34" charset="0"/>
              <a:buChar char="•"/>
              <a:defRPr/>
            </a:pPr>
            <a:r>
              <a:rPr lang="zh-CN" altLang="en-US" sz="2400" dirty="0">
                <a:solidFill>
                  <a:srgbClr val="C00000"/>
                </a:solidFill>
              </a:rPr>
              <a:t>超载标志</a:t>
            </a:r>
            <a:r>
              <a:rPr lang="zh-CN" altLang="en-US" sz="2400" dirty="0"/>
              <a:t>由</a:t>
            </a:r>
            <a:r>
              <a:rPr lang="en-US" altLang="zh-CN" sz="2400" dirty="0">
                <a:solidFill>
                  <a:srgbClr val="C00000"/>
                </a:solidFill>
              </a:rPr>
              <a:t>6</a:t>
            </a:r>
            <a:r>
              <a:rPr lang="zh-CN" altLang="en-US" sz="2400" dirty="0">
                <a:solidFill>
                  <a:srgbClr val="C00000"/>
                </a:solidFill>
              </a:rPr>
              <a:t>个显位</a:t>
            </a:r>
            <a:r>
              <a:rPr lang="zh-CN" altLang="en-US" sz="2400" dirty="0"/>
              <a:t>组成，形式与</a:t>
            </a:r>
            <a:r>
              <a:rPr lang="zh-CN" altLang="en-US" sz="2400" dirty="0">
                <a:solidFill>
                  <a:srgbClr val="C00000"/>
                </a:solidFill>
              </a:rPr>
              <a:t>活动出错标志</a:t>
            </a:r>
            <a:r>
              <a:rPr lang="zh-CN" altLang="en-US" sz="2400" dirty="0" smtClean="0"/>
              <a:t>一致；</a:t>
            </a:r>
            <a:endParaRPr lang="en-US" altLang="zh-CN" sz="2400" dirty="0" smtClean="0"/>
          </a:p>
          <a:p>
            <a:pPr lvl="1">
              <a:buFont typeface="Arial" panose="020B0604020202020204" pitchFamily="34" charset="0"/>
              <a:buChar char="•"/>
              <a:defRPr/>
            </a:pPr>
            <a:r>
              <a:rPr lang="zh-CN" altLang="en-US" sz="2400" dirty="0">
                <a:solidFill>
                  <a:srgbClr val="C00000"/>
                </a:solidFill>
              </a:rPr>
              <a:t>超载界定符</a:t>
            </a:r>
            <a:r>
              <a:rPr lang="zh-CN" altLang="en-US" sz="2400" dirty="0"/>
              <a:t>由</a:t>
            </a:r>
            <a:r>
              <a:rPr lang="en-US" altLang="zh-CN" sz="2400" dirty="0">
                <a:solidFill>
                  <a:srgbClr val="C00000"/>
                </a:solidFill>
              </a:rPr>
              <a:t>8</a:t>
            </a:r>
            <a:r>
              <a:rPr lang="zh-CN" altLang="en-US" sz="2400" dirty="0">
                <a:solidFill>
                  <a:srgbClr val="C00000"/>
                </a:solidFill>
              </a:rPr>
              <a:t>个隐位</a:t>
            </a:r>
            <a:r>
              <a:rPr lang="zh-CN" altLang="en-US" sz="2400" dirty="0"/>
              <a:t>组成，与</a:t>
            </a:r>
            <a:r>
              <a:rPr lang="zh-CN" altLang="en-US" sz="2400" dirty="0">
                <a:solidFill>
                  <a:srgbClr val="C00000"/>
                </a:solidFill>
              </a:rPr>
              <a:t>错误界定</a:t>
            </a:r>
            <a:r>
              <a:rPr lang="zh-CN" altLang="en-US" sz="2400" dirty="0" smtClean="0">
                <a:solidFill>
                  <a:srgbClr val="C00000"/>
                </a:solidFill>
              </a:rPr>
              <a:t>符</a:t>
            </a:r>
            <a:r>
              <a:rPr lang="zh-CN" altLang="en-US" sz="2400" dirty="0" smtClean="0"/>
              <a:t>形式相同；</a:t>
            </a:r>
            <a:endParaRPr lang="en-US" altLang="zh-CN" sz="2400" dirty="0" smtClean="0"/>
          </a:p>
          <a:p>
            <a:pPr lvl="1">
              <a:buFont typeface="Arial" panose="020B0604020202020204" pitchFamily="34" charset="0"/>
              <a:buChar char="•"/>
              <a:defRPr/>
            </a:pPr>
            <a:endParaRPr lang="en-US" altLang="zh-CN" sz="2400" dirty="0" smtClean="0"/>
          </a:p>
          <a:p>
            <a:pPr lvl="1">
              <a:buFont typeface="Wingdings" panose="05000000000000000000" pitchFamily="2" charset="2"/>
              <a:buChar char="p"/>
              <a:defRPr/>
            </a:pPr>
            <a:r>
              <a:rPr lang="zh-CN" altLang="en-US" sz="2400" dirty="0" smtClean="0"/>
              <a:t>现代</a:t>
            </a:r>
            <a:r>
              <a:rPr lang="en-US" altLang="zh-CN" sz="2400" dirty="0" smtClean="0"/>
              <a:t>CAN</a:t>
            </a:r>
            <a:r>
              <a:rPr lang="zh-CN" altLang="en-US" sz="2400" dirty="0" smtClean="0"/>
              <a:t>控制器速度足够快，超载帧基本无用</a:t>
            </a:r>
            <a:endParaRPr lang="en-US" altLang="zh-CN" sz="2400" dirty="0" smtClean="0"/>
          </a:p>
          <a:p>
            <a:pPr lvl="1">
              <a:buFont typeface="Arial" panose="020B0604020202020204" pitchFamily="34" charset="0"/>
              <a:buChar char="•"/>
              <a:defRPr/>
            </a:pPr>
            <a:endParaRPr lang="en-US" altLang="zh-CN" dirty="0"/>
          </a:p>
          <a:p>
            <a:pPr lvl="1">
              <a:buFont typeface="Arial" panose="020B0604020202020204" pitchFamily="34" charset="0"/>
              <a:buChar char="•"/>
              <a:defRPr/>
            </a:pPr>
            <a:endParaRPr lang="zh-CN" altLang="en-US" dirty="0">
              <a:solidFill>
                <a:schemeClr val="accent3">
                  <a:lumMod val="50000"/>
                </a:schemeClr>
              </a:solidFill>
            </a:endParaRPr>
          </a:p>
        </p:txBody>
      </p:sp>
      <p:pic>
        <p:nvPicPr>
          <p:cNvPr id="46084"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4239" y="950118"/>
            <a:ext cx="8686800" cy="13160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push dir="u"/>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p:nvPr>
        </p:nvSpPr>
        <p:spPr/>
        <p:txBody>
          <a:bodyPr/>
          <a:lstStyle/>
          <a:p>
            <a:r>
              <a:rPr lang="en-US" altLang="zh-CN" dirty="0" smtClean="0"/>
              <a:t>3.2 </a:t>
            </a:r>
            <a:r>
              <a:rPr lang="en-US" altLang="zh-CN" dirty="0"/>
              <a:t>CAN</a:t>
            </a:r>
            <a:r>
              <a:rPr lang="zh-CN" altLang="en-US" dirty="0"/>
              <a:t>协议基础</a:t>
            </a:r>
            <a:endParaRPr lang="zh-CN" altLang="en-US" dirty="0" smtClean="0"/>
          </a:p>
        </p:txBody>
      </p:sp>
      <p:sp>
        <p:nvSpPr>
          <p:cNvPr id="49155" name="内容占位符 2"/>
          <p:cNvSpPr>
            <a:spLocks noGrp="1"/>
          </p:cNvSpPr>
          <p:nvPr>
            <p:ph idx="1"/>
          </p:nvPr>
        </p:nvSpPr>
        <p:spPr/>
        <p:txBody>
          <a:bodyPr/>
          <a:lstStyle/>
          <a:p>
            <a:r>
              <a:rPr lang="zh-CN" altLang="en-US" b="1" dirty="0" smtClean="0">
                <a:solidFill>
                  <a:srgbClr val="FF0000"/>
                </a:solidFill>
              </a:rPr>
              <a:t>帧间空间：</a:t>
            </a:r>
            <a:endParaRPr lang="en-US" altLang="zh-CN" b="1" dirty="0" smtClean="0">
              <a:solidFill>
                <a:srgbClr val="FF0000"/>
              </a:solidFill>
            </a:endParaRPr>
          </a:p>
          <a:p>
            <a:pPr lvl="1"/>
            <a:r>
              <a:rPr lang="zh-CN" altLang="en-US" dirty="0" smtClean="0"/>
              <a:t>将</a:t>
            </a:r>
            <a:r>
              <a:rPr lang="zh-CN" altLang="en-US" dirty="0" smtClean="0">
                <a:solidFill>
                  <a:srgbClr val="C00000"/>
                </a:solidFill>
              </a:rPr>
              <a:t>数据帧或远程帧</a:t>
            </a:r>
            <a:r>
              <a:rPr lang="zh-CN" altLang="en-US" dirty="0" smtClean="0"/>
              <a:t>与</a:t>
            </a:r>
            <a:r>
              <a:rPr lang="zh-CN" altLang="en-US" dirty="0" smtClean="0">
                <a:solidFill>
                  <a:srgbClr val="C00000"/>
                </a:solidFill>
              </a:rPr>
              <a:t>前一帧</a:t>
            </a:r>
            <a:r>
              <a:rPr lang="zh-CN" altLang="en-US" dirty="0" smtClean="0"/>
              <a:t>分隔开，无论前一帧是何种类型的帧（数据帧、远程帧、出错帧或超载帧）。</a:t>
            </a:r>
            <a:endParaRPr lang="en-US" altLang="zh-CN" dirty="0" smtClean="0"/>
          </a:p>
          <a:p>
            <a:pPr lvl="1"/>
            <a:r>
              <a:rPr lang="zh-CN" altLang="zh-CN" dirty="0" smtClean="0">
                <a:latin typeface="楷体_GB2312" pitchFamily="49" charset="-122"/>
              </a:rPr>
              <a:t>在</a:t>
            </a:r>
            <a:r>
              <a:rPr lang="zh-CN" altLang="zh-CN" dirty="0" smtClean="0">
                <a:solidFill>
                  <a:srgbClr val="C00000"/>
                </a:solidFill>
                <a:latin typeface="楷体_GB2312" pitchFamily="49" charset="-122"/>
              </a:rPr>
              <a:t>超载帧</a:t>
            </a:r>
            <a:r>
              <a:rPr lang="zh-CN" altLang="zh-CN" dirty="0" smtClean="0">
                <a:latin typeface="楷体_GB2312" pitchFamily="49" charset="-122"/>
              </a:rPr>
              <a:t>和</a:t>
            </a:r>
            <a:r>
              <a:rPr lang="zh-CN" altLang="zh-CN" dirty="0" smtClean="0">
                <a:solidFill>
                  <a:srgbClr val="C00000"/>
                </a:solidFill>
                <a:latin typeface="楷体_GB2312" pitchFamily="49" charset="-122"/>
              </a:rPr>
              <a:t>错误帧前面没有帧间空间</a:t>
            </a:r>
            <a:r>
              <a:rPr lang="zh-CN" altLang="zh-CN" dirty="0" smtClean="0">
                <a:latin typeface="楷体_GB2312" pitchFamily="49" charset="-122"/>
              </a:rPr>
              <a:t>，并且多个超载帧也不被帧间空间分隔。</a:t>
            </a:r>
            <a:endParaRPr lang="en-US" altLang="zh-CN" dirty="0" smtClean="0">
              <a:latin typeface="楷体_GB2312" pitchFamily="49" charset="-122"/>
            </a:endParaRPr>
          </a:p>
          <a:p>
            <a:pPr lvl="1"/>
            <a:endParaRPr lang="zh-CN" altLang="en-US" dirty="0" smtClean="0"/>
          </a:p>
        </p:txBody>
      </p:sp>
    </p:spTree>
  </p:cSld>
  <p:clrMapOvr>
    <a:masterClrMapping/>
  </p:clrMapOvr>
  <p:transition spd="slow">
    <p:push dir="u"/>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p:txBody>
          <a:bodyPr/>
          <a:lstStyle/>
          <a:p>
            <a:r>
              <a:rPr lang="en-US" altLang="zh-CN" dirty="0" smtClean="0"/>
              <a:t>3.2 </a:t>
            </a:r>
            <a:r>
              <a:rPr lang="en-US" altLang="zh-CN" dirty="0"/>
              <a:t>CAN</a:t>
            </a:r>
            <a:r>
              <a:rPr lang="zh-CN" altLang="en-US" dirty="0"/>
              <a:t>协议基础</a:t>
            </a:r>
            <a:endParaRPr lang="zh-CN" altLang="en-US" dirty="0" smtClean="0"/>
          </a:p>
        </p:txBody>
      </p:sp>
      <p:sp>
        <p:nvSpPr>
          <p:cNvPr id="50179" name="内容占位符 2"/>
          <p:cNvSpPr>
            <a:spLocks noGrp="1"/>
          </p:cNvSpPr>
          <p:nvPr>
            <p:ph idx="1"/>
          </p:nvPr>
        </p:nvSpPr>
        <p:spPr>
          <a:xfrm>
            <a:off x="107950" y="908050"/>
            <a:ext cx="8928100" cy="1657350"/>
          </a:xfrm>
        </p:spPr>
        <p:txBody>
          <a:bodyPr/>
          <a:lstStyle/>
          <a:p>
            <a:pPr>
              <a:buFont typeface="Wingdings" pitchFamily="2" charset="2"/>
              <a:buChar char="ü"/>
            </a:pPr>
            <a:r>
              <a:rPr lang="zh-CN" altLang="zh-CN" sz="2800" dirty="0" smtClean="0">
                <a:latin typeface="楷体_GB2312" pitchFamily="49" charset="-122"/>
              </a:rPr>
              <a:t>帧间空间包括</a:t>
            </a:r>
            <a:r>
              <a:rPr lang="zh-CN" altLang="zh-CN" sz="2800" dirty="0" smtClean="0">
                <a:solidFill>
                  <a:srgbClr val="C00000"/>
                </a:solidFill>
                <a:latin typeface="楷体_GB2312" pitchFamily="49" charset="-122"/>
              </a:rPr>
              <a:t>间歇场</a:t>
            </a:r>
            <a:r>
              <a:rPr lang="zh-CN" altLang="zh-CN" sz="2800" dirty="0" smtClean="0">
                <a:latin typeface="楷体_GB2312" pitchFamily="49" charset="-122"/>
              </a:rPr>
              <a:t>和</a:t>
            </a:r>
            <a:r>
              <a:rPr lang="zh-CN" altLang="zh-CN" sz="2800" dirty="0" smtClean="0">
                <a:solidFill>
                  <a:srgbClr val="C00000"/>
                </a:solidFill>
                <a:latin typeface="楷体_GB2312" pitchFamily="49" charset="-122"/>
              </a:rPr>
              <a:t>总线空闲场</a:t>
            </a:r>
            <a:r>
              <a:rPr lang="zh-CN" altLang="zh-CN" sz="2800" dirty="0" smtClean="0">
                <a:latin typeface="楷体_GB2312" pitchFamily="49" charset="-122"/>
              </a:rPr>
              <a:t>，对于已经发送先前报文的</a:t>
            </a:r>
            <a:r>
              <a:rPr lang="zh-CN" altLang="zh-CN" sz="2800" dirty="0" smtClean="0">
                <a:latin typeface="Times New Roman" pitchFamily="18" charset="0"/>
              </a:rPr>
              <a:t>“</a:t>
            </a:r>
            <a:r>
              <a:rPr lang="zh-CN" altLang="zh-CN" sz="2800" dirty="0" smtClean="0">
                <a:latin typeface="楷体_GB2312" pitchFamily="49" charset="-122"/>
              </a:rPr>
              <a:t>错误认可</a:t>
            </a:r>
            <a:r>
              <a:rPr lang="zh-CN" altLang="zh-CN" sz="2800" dirty="0" smtClean="0">
                <a:latin typeface="Times New Roman" pitchFamily="18" charset="0"/>
              </a:rPr>
              <a:t>”</a:t>
            </a:r>
            <a:r>
              <a:rPr lang="zh-CN" altLang="zh-CN" sz="2800" dirty="0" smtClean="0">
                <a:latin typeface="楷体_GB2312" pitchFamily="49" charset="-122"/>
              </a:rPr>
              <a:t>站还有</a:t>
            </a:r>
            <a:r>
              <a:rPr lang="zh-CN" altLang="zh-CN" sz="2800" dirty="0" smtClean="0">
                <a:solidFill>
                  <a:srgbClr val="C00000"/>
                </a:solidFill>
                <a:latin typeface="楷体_GB2312" pitchFamily="49" charset="-122"/>
              </a:rPr>
              <a:t>暂停发送场</a:t>
            </a:r>
            <a:r>
              <a:rPr lang="zh-CN" altLang="zh-CN" sz="2800" dirty="0" smtClean="0">
                <a:latin typeface="楷体_GB2312" pitchFamily="49" charset="-122"/>
              </a:rPr>
              <a:t>(</a:t>
            </a:r>
            <a:r>
              <a:rPr lang="zh-CN" altLang="zh-CN" sz="2400" dirty="0"/>
              <a:t>Suspend Transmission</a:t>
            </a:r>
            <a:r>
              <a:rPr lang="zh-CN" altLang="zh-CN" sz="2800" dirty="0" smtClean="0">
                <a:latin typeface="楷体_GB2312" pitchFamily="49" charset="-122"/>
              </a:rPr>
              <a:t>)</a:t>
            </a:r>
            <a:endParaRPr lang="zh-CN" altLang="en-US" sz="2800" dirty="0" smtClean="0"/>
          </a:p>
        </p:txBody>
      </p:sp>
      <p:pic>
        <p:nvPicPr>
          <p:cNvPr id="50180"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2420938"/>
            <a:ext cx="8353425"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sh dir="u"/>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p:cNvSpPr>
          <p:nvPr>
            <p:ph type="title"/>
          </p:nvPr>
        </p:nvSpPr>
        <p:spPr/>
        <p:txBody>
          <a:bodyPr/>
          <a:lstStyle/>
          <a:p>
            <a:r>
              <a:rPr lang="en-US" altLang="zh-CN" dirty="0" smtClean="0"/>
              <a:t>3.2 </a:t>
            </a:r>
            <a:r>
              <a:rPr lang="en-US" altLang="zh-CN" dirty="0"/>
              <a:t>CAN</a:t>
            </a:r>
            <a:r>
              <a:rPr lang="zh-CN" altLang="en-US" dirty="0"/>
              <a:t>协议基础</a:t>
            </a:r>
            <a:endParaRPr lang="zh-CN" altLang="en-US" dirty="0" smtClean="0"/>
          </a:p>
        </p:txBody>
      </p:sp>
      <p:pic>
        <p:nvPicPr>
          <p:cNvPr id="51203"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981075"/>
            <a:ext cx="8353425" cy="381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线形标注 1 5"/>
          <p:cNvSpPr/>
          <p:nvPr/>
        </p:nvSpPr>
        <p:spPr>
          <a:xfrm>
            <a:off x="0" y="4941888"/>
            <a:ext cx="8567738" cy="1152525"/>
          </a:xfrm>
          <a:prstGeom prst="borderCallout1">
            <a:avLst>
              <a:gd name="adj1" fmla="val -12115"/>
              <a:gd name="adj2" fmla="val 21062"/>
              <a:gd name="adj3" fmla="val -244631"/>
              <a:gd name="adj4" fmla="val 30443"/>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defRPr/>
            </a:pPr>
            <a:r>
              <a:rPr lang="zh-CN" altLang="zh-CN" sz="2800" b="1" dirty="0">
                <a:solidFill>
                  <a:srgbClr val="C00000"/>
                </a:solidFill>
                <a:latin typeface="Times New Roman" pitchFamily="18" charset="0"/>
                <a:ea typeface="楷体_GB2312" pitchFamily="49" charset="-122"/>
              </a:rPr>
              <a:t>间歇场</a:t>
            </a:r>
            <a:r>
              <a:rPr lang="zh-CN" altLang="zh-CN" sz="2800" b="1" dirty="0">
                <a:solidFill>
                  <a:schemeClr val="tx1"/>
                </a:solidFill>
                <a:latin typeface="Times New Roman" pitchFamily="18" charset="0"/>
                <a:ea typeface="楷体_GB2312" pitchFamily="49" charset="-122"/>
              </a:rPr>
              <a:t>由3个隐位组成。间歇期间，不允许启动发送数据帧或远程帧，它仅起标注超载条件的作用。</a:t>
            </a:r>
            <a:endParaRPr lang="zh-CN" altLang="en-US" sz="2800" dirty="0">
              <a:solidFill>
                <a:schemeClr val="tx1"/>
              </a:solidFill>
            </a:endParaRPr>
          </a:p>
        </p:txBody>
      </p:sp>
      <p:sp>
        <p:nvSpPr>
          <p:cNvPr id="8" name="线形标注 1 7"/>
          <p:cNvSpPr/>
          <p:nvPr/>
        </p:nvSpPr>
        <p:spPr>
          <a:xfrm>
            <a:off x="36513" y="4795838"/>
            <a:ext cx="8567737" cy="1801812"/>
          </a:xfrm>
          <a:prstGeom prst="borderCallout1">
            <a:avLst>
              <a:gd name="adj1" fmla="val -12115"/>
              <a:gd name="adj2" fmla="val 21062"/>
              <a:gd name="adj3" fmla="val -52454"/>
              <a:gd name="adj4" fmla="val 38743"/>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spcBef>
                <a:spcPct val="20000"/>
              </a:spcBef>
              <a:buClr>
                <a:srgbClr val="0000CC"/>
              </a:buClr>
              <a:buSzPct val="80000"/>
              <a:defRPr/>
            </a:pPr>
            <a:r>
              <a:rPr lang="zh-CN" altLang="zh-CN" sz="2800" dirty="0">
                <a:solidFill>
                  <a:srgbClr val="C00000"/>
                </a:solidFill>
                <a:latin typeface="Times New Roman" pitchFamily="18" charset="0"/>
                <a:ea typeface="楷体_GB2312" pitchFamily="49" charset="-122"/>
              </a:rPr>
              <a:t>暂停发送场</a:t>
            </a:r>
            <a:r>
              <a:rPr lang="zh-CN" altLang="en-US" sz="2800" dirty="0">
                <a:solidFill>
                  <a:schemeClr val="tx1"/>
                </a:solidFill>
                <a:latin typeface="Times New Roman" pitchFamily="18" charset="0"/>
                <a:ea typeface="楷体_GB2312" pitchFamily="49" charset="-122"/>
              </a:rPr>
              <a:t>，指的是</a:t>
            </a:r>
            <a:r>
              <a:rPr lang="zh-CN" altLang="zh-CN" sz="2800" dirty="0">
                <a:solidFill>
                  <a:schemeClr val="tx1"/>
                </a:solidFill>
                <a:latin typeface="Times New Roman" pitchFamily="18" charset="0"/>
                <a:ea typeface="楷体_GB2312" pitchFamily="49" charset="-122"/>
              </a:rPr>
              <a:t>错误认可</a:t>
            </a:r>
            <a:r>
              <a:rPr lang="zh-CN" altLang="en-US" sz="2800" dirty="0">
                <a:solidFill>
                  <a:schemeClr val="tx1"/>
                </a:solidFill>
                <a:latin typeface="Times New Roman" pitchFamily="18" charset="0"/>
                <a:ea typeface="楷体_GB2312" pitchFamily="49" charset="-122"/>
              </a:rPr>
              <a:t>节点</a:t>
            </a:r>
            <a:r>
              <a:rPr lang="zh-CN" altLang="zh-CN" sz="2800" dirty="0">
                <a:solidFill>
                  <a:schemeClr val="tx1"/>
                </a:solidFill>
                <a:latin typeface="Times New Roman" pitchFamily="18" charset="0"/>
                <a:ea typeface="楷体_GB2312" pitchFamily="49" charset="-122"/>
              </a:rPr>
              <a:t>发完一个报文后，在开始下一次报文发送或认可总线空闲之前，紧随间歇场后送出8个隐位。如果</a:t>
            </a:r>
            <a:r>
              <a:rPr lang="zh-CN" altLang="en-US" sz="2800" dirty="0">
                <a:solidFill>
                  <a:schemeClr val="tx1"/>
                </a:solidFill>
                <a:latin typeface="Times New Roman" pitchFamily="18" charset="0"/>
                <a:ea typeface="楷体_GB2312" pitchFamily="49" charset="-122"/>
              </a:rPr>
              <a:t>此时另一节点</a:t>
            </a:r>
            <a:r>
              <a:rPr lang="zh-CN" altLang="zh-CN" sz="2800" dirty="0">
                <a:solidFill>
                  <a:schemeClr val="tx1"/>
                </a:solidFill>
                <a:latin typeface="Times New Roman" pitchFamily="18" charset="0"/>
                <a:ea typeface="楷体_GB2312" pitchFamily="49" charset="-122"/>
              </a:rPr>
              <a:t>开始</a:t>
            </a:r>
            <a:r>
              <a:rPr lang="zh-CN" altLang="en-US" sz="2800" dirty="0">
                <a:solidFill>
                  <a:schemeClr val="tx1"/>
                </a:solidFill>
                <a:latin typeface="Times New Roman" pitchFamily="18" charset="0"/>
                <a:ea typeface="楷体_GB2312" pitchFamily="49" charset="-122"/>
              </a:rPr>
              <a:t>发送报文（由其他节点引起）</a:t>
            </a:r>
            <a:r>
              <a:rPr lang="zh-CN" altLang="zh-CN" sz="2800" dirty="0">
                <a:solidFill>
                  <a:schemeClr val="tx1"/>
                </a:solidFill>
                <a:latin typeface="Times New Roman" pitchFamily="18" charset="0"/>
                <a:ea typeface="楷体_GB2312" pitchFamily="49" charset="-122"/>
              </a:rPr>
              <a:t>，</a:t>
            </a:r>
            <a:r>
              <a:rPr lang="zh-CN" altLang="en-US" sz="2800" dirty="0">
                <a:solidFill>
                  <a:schemeClr val="tx1"/>
                </a:solidFill>
                <a:latin typeface="Times New Roman" pitchFamily="18" charset="0"/>
                <a:ea typeface="楷体_GB2312" pitchFamily="49" charset="-122"/>
              </a:rPr>
              <a:t>则本节点</a:t>
            </a:r>
            <a:r>
              <a:rPr lang="zh-CN" altLang="zh-CN" sz="2800" dirty="0">
                <a:solidFill>
                  <a:schemeClr val="tx1"/>
                </a:solidFill>
                <a:latin typeface="Times New Roman" pitchFamily="18" charset="0"/>
                <a:ea typeface="楷体_GB2312" pitchFamily="49" charset="-122"/>
              </a:rPr>
              <a:t>将变为报文接收器。 </a:t>
            </a:r>
          </a:p>
        </p:txBody>
      </p:sp>
      <p:sp>
        <p:nvSpPr>
          <p:cNvPr id="9" name="线形标注 1 8"/>
          <p:cNvSpPr/>
          <p:nvPr/>
        </p:nvSpPr>
        <p:spPr>
          <a:xfrm>
            <a:off x="155575" y="4689475"/>
            <a:ext cx="8662988" cy="2052638"/>
          </a:xfrm>
          <a:prstGeom prst="borderCallout1">
            <a:avLst>
              <a:gd name="adj1" fmla="val -12115"/>
              <a:gd name="adj2" fmla="val 21062"/>
              <a:gd name="adj3" fmla="val -130019"/>
              <a:gd name="adj4" fmla="val 58307"/>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spcBef>
                <a:spcPct val="20000"/>
              </a:spcBef>
              <a:buClr>
                <a:srgbClr val="0000CC"/>
              </a:buClr>
              <a:buSzPct val="80000"/>
              <a:defRPr/>
            </a:pPr>
            <a:r>
              <a:rPr lang="zh-CN" altLang="en-US" sz="2800" dirty="0">
                <a:solidFill>
                  <a:srgbClr val="C00000"/>
                </a:solidFill>
                <a:latin typeface="Times New Roman" pitchFamily="18" charset="0"/>
                <a:ea typeface="楷体_GB2312" pitchFamily="49" charset="-122"/>
              </a:rPr>
              <a:t>总线空闲场，</a:t>
            </a:r>
            <a:r>
              <a:rPr lang="zh-CN" altLang="en-US" sz="2800" dirty="0">
                <a:solidFill>
                  <a:schemeClr val="accent3">
                    <a:lumMod val="50000"/>
                  </a:schemeClr>
                </a:solidFill>
                <a:latin typeface="Times New Roman" pitchFamily="18" charset="0"/>
                <a:ea typeface="楷体_GB2312" pitchFamily="49" charset="-122"/>
              </a:rPr>
              <a:t>时间可为任意长度，此时的总线是开放的，因此任何需要发送的节点均可访问总线。在其他报文发送期间，暂时被挂起的待发送报文在间歇场后，从第一位开始发送，此时总线上的显位被理解为帧起始。</a:t>
            </a:r>
            <a:endParaRPr lang="zh-CN" altLang="zh-CN" sz="2800" dirty="0">
              <a:solidFill>
                <a:schemeClr val="accent3">
                  <a:lumMod val="50000"/>
                </a:schemeClr>
              </a:solidFill>
              <a:latin typeface="Times New Roman" pitchFamily="18" charset="0"/>
              <a:ea typeface="楷体_GB2312" pitchFamily="49"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xit" presetSubtype="4" fill="hold" grpId="1" nodeType="clickEffect">
                                  <p:stCondLst>
                                    <p:cond delay="0"/>
                                  </p:stCondLst>
                                  <p:childTnLst>
                                    <p:anim calcmode="lin" valueType="num">
                                      <p:cBhvr additive="base">
                                        <p:cTn id="12" dur="500"/>
                                        <p:tgtEl>
                                          <p:spTgt spid="6"/>
                                        </p:tgtEl>
                                        <p:attrNameLst>
                                          <p:attrName>ppt_x</p:attrName>
                                        </p:attrNameLst>
                                      </p:cBhvr>
                                      <p:tavLst>
                                        <p:tav tm="0">
                                          <p:val>
                                            <p:strVal val="ppt_x"/>
                                          </p:val>
                                        </p:tav>
                                        <p:tav tm="100000">
                                          <p:val>
                                            <p:strVal val="ppt_x"/>
                                          </p:val>
                                        </p:tav>
                                      </p:tavLst>
                                    </p:anim>
                                    <p:anim calcmode="lin" valueType="num">
                                      <p:cBhvr additive="base">
                                        <p:cTn id="13" dur="500"/>
                                        <p:tgtEl>
                                          <p:spTgt spid="6"/>
                                        </p:tgtEl>
                                        <p:attrNameLst>
                                          <p:attrName>ppt_y</p:attrName>
                                        </p:attrNameLst>
                                      </p:cBhvr>
                                      <p:tavLst>
                                        <p:tav tm="0">
                                          <p:val>
                                            <p:strVal val="ppt_y"/>
                                          </p:val>
                                        </p:tav>
                                        <p:tav tm="100000">
                                          <p:val>
                                            <p:strVal val="1+ppt_h/2"/>
                                          </p:val>
                                        </p:tav>
                                      </p:tavLst>
                                    </p:anim>
                                    <p:set>
                                      <p:cBhvr>
                                        <p:cTn id="14" dur="1" fill="hold">
                                          <p:stCondLst>
                                            <p:cond delay="499"/>
                                          </p:stCondLst>
                                        </p:cTn>
                                        <p:tgtEl>
                                          <p:spTgt spid="6"/>
                                        </p:tgtEl>
                                        <p:attrNameLst>
                                          <p:attrName>style.visibility</p:attrName>
                                        </p:attrNameLst>
                                      </p:cBhvr>
                                      <p:to>
                                        <p:strVal val="hidden"/>
                                      </p:to>
                                    </p:set>
                                  </p:childTnLst>
                                </p:cTn>
                              </p:par>
                              <p:par>
                                <p:cTn id="15" presetID="2" presetClass="entr" presetSubtype="4"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xit" presetSubtype="4" fill="hold" grpId="1" nodeType="clickEffect">
                                  <p:stCondLst>
                                    <p:cond delay="0"/>
                                  </p:stCondLst>
                                  <p:childTnLst>
                                    <p:anim calcmode="lin" valueType="num">
                                      <p:cBhvr additive="base">
                                        <p:cTn id="22" dur="500"/>
                                        <p:tgtEl>
                                          <p:spTgt spid="8"/>
                                        </p:tgtEl>
                                        <p:attrNameLst>
                                          <p:attrName>ppt_x</p:attrName>
                                        </p:attrNameLst>
                                      </p:cBhvr>
                                      <p:tavLst>
                                        <p:tav tm="0">
                                          <p:val>
                                            <p:strVal val="ppt_x"/>
                                          </p:val>
                                        </p:tav>
                                        <p:tav tm="100000">
                                          <p:val>
                                            <p:strVal val="ppt_x"/>
                                          </p:val>
                                        </p:tav>
                                      </p:tavLst>
                                    </p:anim>
                                    <p:anim calcmode="lin" valueType="num">
                                      <p:cBhvr additive="base">
                                        <p:cTn id="23" dur="500"/>
                                        <p:tgtEl>
                                          <p:spTgt spid="8"/>
                                        </p:tgtEl>
                                        <p:attrNameLst>
                                          <p:attrName>ppt_y</p:attrName>
                                        </p:attrNameLst>
                                      </p:cBhvr>
                                      <p:tavLst>
                                        <p:tav tm="0">
                                          <p:val>
                                            <p:strVal val="ppt_y"/>
                                          </p:val>
                                        </p:tav>
                                        <p:tav tm="100000">
                                          <p:val>
                                            <p:strVal val="1+ppt_h/2"/>
                                          </p:val>
                                        </p:tav>
                                      </p:tavLst>
                                    </p:anim>
                                    <p:set>
                                      <p:cBhvr>
                                        <p:cTn id="24" dur="1" fill="hold">
                                          <p:stCondLst>
                                            <p:cond delay="499"/>
                                          </p:stCondLst>
                                        </p:cTn>
                                        <p:tgtEl>
                                          <p:spTgt spid="8"/>
                                        </p:tgtEl>
                                        <p:attrNameLst>
                                          <p:attrName>style.visibility</p:attrName>
                                        </p:attrNameLst>
                                      </p:cBhvr>
                                      <p:to>
                                        <p:strVal val="hidden"/>
                                      </p:to>
                                    </p:set>
                                  </p:childTnLst>
                                </p:cTn>
                              </p:par>
                              <p:par>
                                <p:cTn id="25" presetID="2" presetClass="entr" presetSubtype="4"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xit" presetSubtype="4" fill="hold" grpId="1" nodeType="clickEffect">
                                  <p:stCondLst>
                                    <p:cond delay="0"/>
                                  </p:stCondLst>
                                  <p:childTnLst>
                                    <p:anim calcmode="lin" valueType="num">
                                      <p:cBhvr additive="base">
                                        <p:cTn id="32" dur="500"/>
                                        <p:tgtEl>
                                          <p:spTgt spid="9"/>
                                        </p:tgtEl>
                                        <p:attrNameLst>
                                          <p:attrName>ppt_x</p:attrName>
                                        </p:attrNameLst>
                                      </p:cBhvr>
                                      <p:tavLst>
                                        <p:tav tm="0">
                                          <p:val>
                                            <p:strVal val="ppt_x"/>
                                          </p:val>
                                        </p:tav>
                                        <p:tav tm="100000">
                                          <p:val>
                                            <p:strVal val="ppt_x"/>
                                          </p:val>
                                        </p:tav>
                                      </p:tavLst>
                                    </p:anim>
                                    <p:anim calcmode="lin" valueType="num">
                                      <p:cBhvr additive="base">
                                        <p:cTn id="33" dur="500"/>
                                        <p:tgtEl>
                                          <p:spTgt spid="9"/>
                                        </p:tgtEl>
                                        <p:attrNameLst>
                                          <p:attrName>ppt_y</p:attrName>
                                        </p:attrNameLst>
                                      </p:cBhvr>
                                      <p:tavLst>
                                        <p:tav tm="0">
                                          <p:val>
                                            <p:strVal val="ppt_y"/>
                                          </p:val>
                                        </p:tav>
                                        <p:tav tm="100000">
                                          <p:val>
                                            <p:strVal val="1+ppt_h/2"/>
                                          </p:val>
                                        </p:tav>
                                      </p:tavLst>
                                    </p:anim>
                                    <p:set>
                                      <p:cBhvr>
                                        <p:cTn id="34"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8" grpId="0" animBg="1"/>
      <p:bldP spid="8" grpId="1" animBg="1"/>
      <p:bldP spid="9" grpId="0" animBg="1"/>
      <p:bldP spid="9" grpId="1"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3.2 CAN</a:t>
            </a:r>
            <a:r>
              <a:rPr lang="zh-CN" altLang="en-US" dirty="0"/>
              <a:t>协议</a:t>
            </a:r>
            <a:r>
              <a:rPr lang="zh-CN" altLang="en-US" dirty="0" smtClean="0"/>
              <a:t>基础</a:t>
            </a:r>
            <a:endParaRPr lang="zh-CN" altLang="en-US" dirty="0"/>
          </a:p>
        </p:txBody>
      </p:sp>
      <p:sp>
        <p:nvSpPr>
          <p:cNvPr id="3" name="内容占位符 2"/>
          <p:cNvSpPr>
            <a:spLocks noGrp="1"/>
          </p:cNvSpPr>
          <p:nvPr>
            <p:ph idx="1"/>
          </p:nvPr>
        </p:nvSpPr>
        <p:spPr/>
        <p:txBody>
          <a:bodyPr/>
          <a:lstStyle/>
          <a:p>
            <a:pPr marL="0" indent="0">
              <a:buNone/>
            </a:pPr>
            <a:r>
              <a:rPr lang="en-US" altLang="zh-CN" b="1" dirty="0" smtClean="0">
                <a:solidFill>
                  <a:srgbClr val="FF0000"/>
                </a:solidFill>
              </a:rPr>
              <a:t>3. </a:t>
            </a:r>
            <a:r>
              <a:rPr lang="zh-CN" altLang="en-US" b="1" dirty="0" smtClean="0">
                <a:solidFill>
                  <a:srgbClr val="FF0000"/>
                </a:solidFill>
              </a:rPr>
              <a:t>媒体访问技术</a:t>
            </a:r>
            <a:endParaRPr lang="en-US" altLang="zh-CN" b="1" dirty="0" smtClean="0">
              <a:solidFill>
                <a:srgbClr val="FF0000"/>
              </a:solidFill>
            </a:endParaRPr>
          </a:p>
          <a:p>
            <a:pPr>
              <a:buFont typeface="Wingdings" panose="05000000000000000000" pitchFamily="2" charset="2"/>
              <a:buChar char="p"/>
            </a:pPr>
            <a:r>
              <a:rPr lang="zh-CN" altLang="en-US" sz="2800" b="1" dirty="0" smtClean="0">
                <a:solidFill>
                  <a:srgbClr val="FF0000"/>
                </a:solidFill>
              </a:rPr>
              <a:t>总线仲裁</a:t>
            </a:r>
            <a:endParaRPr lang="en-US" altLang="zh-CN" sz="2800" b="1" dirty="0" smtClean="0">
              <a:solidFill>
                <a:srgbClr val="FF0000"/>
              </a:solidFill>
            </a:endParaRPr>
          </a:p>
          <a:p>
            <a:pPr>
              <a:buFont typeface="Arial" panose="020B0604020202020204" pitchFamily="34" charset="0"/>
              <a:buChar char="•"/>
            </a:pPr>
            <a:r>
              <a:rPr lang="zh-CN" altLang="zh-CN" sz="2400" dirty="0"/>
              <a:t>CAN采用</a:t>
            </a:r>
            <a:r>
              <a:rPr lang="zh-CN" altLang="zh-CN" sz="2400" dirty="0">
                <a:solidFill>
                  <a:srgbClr val="C00000"/>
                </a:solidFill>
              </a:rPr>
              <a:t>“优先级仲裁”</a:t>
            </a:r>
            <a:r>
              <a:rPr lang="zh-CN" altLang="zh-CN" sz="2400" dirty="0"/>
              <a:t>机制，即</a:t>
            </a:r>
            <a:r>
              <a:rPr lang="zh-CN" altLang="en-US" sz="2400" dirty="0"/>
              <a:t>用</a:t>
            </a:r>
            <a:r>
              <a:rPr lang="zh-CN" altLang="zh-CN" sz="2400" dirty="0">
                <a:solidFill>
                  <a:srgbClr val="C00000"/>
                </a:solidFill>
              </a:rPr>
              <a:t>非破坏性逐位仲裁</a:t>
            </a:r>
            <a:r>
              <a:rPr lang="zh-CN" altLang="zh-CN" sz="2400" dirty="0"/>
              <a:t>的载波侦听多址访问机制（CSMA/NBA）来解决总线</a:t>
            </a:r>
            <a:r>
              <a:rPr lang="zh-CN" altLang="zh-CN" sz="2400" dirty="0" smtClean="0"/>
              <a:t>冲突</a:t>
            </a:r>
            <a:r>
              <a:rPr lang="zh-CN" altLang="en-US" sz="2400" dirty="0" smtClean="0"/>
              <a:t>；</a:t>
            </a:r>
            <a:endParaRPr lang="en-US" altLang="zh-CN" sz="2400" dirty="0" smtClean="0"/>
          </a:p>
          <a:p>
            <a:pPr>
              <a:buFont typeface="Arial" panose="020B0604020202020204" pitchFamily="34" charset="0"/>
              <a:buChar char="•"/>
            </a:pPr>
            <a:r>
              <a:rPr lang="zh-CN" altLang="en-US" sz="2400" dirty="0"/>
              <a:t>没有数据传输</a:t>
            </a:r>
            <a:r>
              <a:rPr lang="zh-CN" altLang="en-US" sz="2400" dirty="0" smtClean="0"/>
              <a:t>时网络空闲，总线电平为隐性；反之，至少有</a:t>
            </a:r>
            <a:r>
              <a:rPr lang="en-US" altLang="zh-CN" sz="2400" dirty="0" smtClean="0"/>
              <a:t>1</a:t>
            </a:r>
            <a:r>
              <a:rPr lang="zh-CN" altLang="en-US" sz="2400" dirty="0" smtClean="0"/>
              <a:t>个节点传输数据时，总线电平为显性；</a:t>
            </a:r>
            <a:endParaRPr lang="en-US" altLang="zh-CN" sz="2400" dirty="0" smtClean="0"/>
          </a:p>
          <a:p>
            <a:pPr>
              <a:buFont typeface="Arial" panose="020B0604020202020204" pitchFamily="34" charset="0"/>
              <a:buChar char="•"/>
            </a:pPr>
            <a:r>
              <a:rPr lang="en-US" altLang="zh-CN" sz="2400" dirty="0"/>
              <a:t>CSMA/NBA</a:t>
            </a:r>
            <a:r>
              <a:rPr lang="zh-CN" altLang="en-US" sz="2400" dirty="0"/>
              <a:t>机制所依赖的基础是显性位的优先权高于隐形</a:t>
            </a:r>
            <a:r>
              <a:rPr lang="zh-CN" altLang="en-US" sz="2400" dirty="0" smtClean="0"/>
              <a:t>位</a:t>
            </a:r>
            <a:r>
              <a:rPr lang="zh-CN" altLang="en-US" sz="2400" dirty="0"/>
              <a:t>；</a:t>
            </a:r>
            <a:endParaRPr lang="en-US" altLang="zh-CN" sz="2400" dirty="0" smtClean="0"/>
          </a:p>
          <a:p>
            <a:pPr>
              <a:buFont typeface="Arial" panose="020B0604020202020204" pitchFamily="34" charset="0"/>
              <a:buChar char="•"/>
            </a:pPr>
            <a:r>
              <a:rPr lang="zh-CN" altLang="en-US" sz="2400" dirty="0"/>
              <a:t>参与逐位仲裁的</a:t>
            </a:r>
            <a:r>
              <a:rPr lang="zh-CN" altLang="en-US" sz="2400" dirty="0" smtClean="0"/>
              <a:t>位属于</a:t>
            </a:r>
            <a:r>
              <a:rPr lang="zh-CN" altLang="en-US" sz="2400" dirty="0" smtClean="0">
                <a:solidFill>
                  <a:srgbClr val="C00000"/>
                </a:solidFill>
              </a:rPr>
              <a:t>仲裁场</a:t>
            </a:r>
            <a:r>
              <a:rPr lang="zh-CN" altLang="en-US" sz="2400" dirty="0" smtClean="0"/>
              <a:t>；</a:t>
            </a:r>
            <a:endParaRPr lang="zh-CN" altLang="en-US" sz="2400" dirty="0"/>
          </a:p>
          <a:p>
            <a:pPr>
              <a:buFont typeface="Arial" panose="020B0604020202020204" pitchFamily="34" charset="0"/>
              <a:buChar char="•"/>
            </a:pPr>
            <a:r>
              <a:rPr lang="zh-CN" altLang="en-US" sz="2400" dirty="0" smtClean="0"/>
              <a:t>标识符</a:t>
            </a:r>
            <a:r>
              <a:rPr lang="zh-CN" altLang="en-US" sz="2400" dirty="0"/>
              <a:t>值越小，优先级越</a:t>
            </a:r>
            <a:r>
              <a:rPr lang="zh-CN" altLang="en-US" sz="2400" dirty="0" smtClean="0"/>
              <a:t>高；</a:t>
            </a:r>
            <a:endParaRPr lang="zh-CN" altLang="en-US" sz="2400" dirty="0"/>
          </a:p>
          <a:p>
            <a:pPr>
              <a:buFont typeface="Arial" panose="020B0604020202020204" pitchFamily="34" charset="0"/>
              <a:buChar char="•"/>
            </a:pPr>
            <a:endParaRPr lang="zh-CN" altLang="en-US" sz="2400" dirty="0"/>
          </a:p>
          <a:p>
            <a:pPr>
              <a:buFont typeface="Arial" panose="020B0604020202020204" pitchFamily="34" charset="0"/>
              <a:buChar char="•"/>
            </a:pPr>
            <a:endParaRPr lang="en-US" altLang="zh-CN" sz="2400" dirty="0"/>
          </a:p>
          <a:p>
            <a:pPr marL="0" indent="0">
              <a:buNone/>
            </a:pPr>
            <a:endParaRPr lang="zh-CN" altLang="en-US" dirty="0"/>
          </a:p>
        </p:txBody>
      </p:sp>
    </p:spTree>
    <p:extLst>
      <p:ext uri="{BB962C8B-B14F-4D97-AF65-F5344CB8AC3E}">
        <p14:creationId xmlns:p14="http://schemas.microsoft.com/office/powerpoint/2010/main" val="2886217801"/>
      </p:ext>
    </p:extLst>
  </p:cSld>
  <p:clrMapOvr>
    <a:masterClrMapping/>
  </p:clrMapOvr>
  <p:transition spd="slow">
    <p:push dir="u"/>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标题 1"/>
          <p:cNvSpPr>
            <a:spLocks noGrp="1"/>
          </p:cNvSpPr>
          <p:nvPr>
            <p:ph type="title"/>
          </p:nvPr>
        </p:nvSpPr>
        <p:spPr/>
        <p:txBody>
          <a:bodyPr/>
          <a:lstStyle/>
          <a:p>
            <a:r>
              <a:rPr lang="en-US" altLang="zh-CN" dirty="0"/>
              <a:t>3.2 CAN</a:t>
            </a:r>
            <a:r>
              <a:rPr lang="zh-CN" altLang="en-US" dirty="0"/>
              <a:t>协议基础</a:t>
            </a:r>
            <a:endParaRPr lang="zh-CN" altLang="en-US" dirty="0" smtClean="0"/>
          </a:p>
        </p:txBody>
      </p:sp>
      <p:sp>
        <p:nvSpPr>
          <p:cNvPr id="78851" name="内容占位符 2"/>
          <p:cNvSpPr>
            <a:spLocks noGrp="1"/>
          </p:cNvSpPr>
          <p:nvPr>
            <p:ph idx="1"/>
          </p:nvPr>
        </p:nvSpPr>
        <p:spPr/>
        <p:txBody>
          <a:bodyPr/>
          <a:lstStyle/>
          <a:p>
            <a:pPr>
              <a:buFont typeface="Wingdings" pitchFamily="2" charset="2"/>
              <a:buChar char="ü"/>
            </a:pPr>
            <a:r>
              <a:rPr lang="zh-CN" altLang="en-US" sz="2800" b="1" dirty="0" smtClean="0">
                <a:solidFill>
                  <a:srgbClr val="C00000"/>
                </a:solidFill>
              </a:rPr>
              <a:t>总线仲裁过程：</a:t>
            </a:r>
            <a:r>
              <a:rPr lang="zh-CN" altLang="en-US" sz="2800" b="1" dirty="0" smtClean="0"/>
              <a:t>多个节点同时向总线发送报文时，依据标识符的仲裁场进行判断</a:t>
            </a:r>
            <a:endParaRPr lang="en-US" altLang="zh-CN" sz="2800" b="1" dirty="0" smtClean="0"/>
          </a:p>
          <a:p>
            <a:pPr lvl="1">
              <a:buFont typeface="Arial" charset="0"/>
              <a:buChar char="•"/>
            </a:pPr>
            <a:r>
              <a:rPr lang="zh-CN" altLang="en-US" sz="2400" dirty="0" smtClean="0">
                <a:solidFill>
                  <a:srgbClr val="7030A0"/>
                </a:solidFill>
              </a:rPr>
              <a:t>在该标识符发送期间，每个发送节点都在监视总线上当前的电平，并与自身发送的位电平进行比较：如果值相等，则该节点继续发送下一位；</a:t>
            </a:r>
            <a:endParaRPr lang="en-US" altLang="zh-CN" sz="2400" dirty="0" smtClean="0">
              <a:solidFill>
                <a:srgbClr val="7030A0"/>
              </a:solidFill>
            </a:endParaRPr>
          </a:p>
          <a:p>
            <a:pPr lvl="1">
              <a:buFont typeface="Arial" charset="0"/>
              <a:buChar char="•"/>
            </a:pPr>
            <a:r>
              <a:rPr lang="zh-CN" altLang="en-US" sz="2400" dirty="0" smtClean="0">
                <a:solidFill>
                  <a:srgbClr val="7030A0"/>
                </a:solidFill>
              </a:rPr>
              <a:t>如果发送了一个隐性位，而在总线上侦测到一个显性位，则说明另一个具有更高优先级的节点也在申请占用总线，那么该节点失去仲裁权，立即停止下一位的发送，并将输出保持为隐性；</a:t>
            </a:r>
            <a:endParaRPr lang="en-US" altLang="zh-CN" sz="2400" dirty="0" smtClean="0">
              <a:solidFill>
                <a:srgbClr val="7030A0"/>
              </a:solidFill>
            </a:endParaRPr>
          </a:p>
          <a:p>
            <a:pPr lvl="1">
              <a:buFont typeface="Arial" charset="0"/>
              <a:buChar char="•"/>
            </a:pPr>
            <a:r>
              <a:rPr lang="zh-CN" altLang="en-US" sz="2400" dirty="0" smtClean="0">
                <a:solidFill>
                  <a:srgbClr val="7030A0"/>
                </a:solidFill>
              </a:rPr>
              <a:t>失去仲裁权的节点可以在当前帧结束之后，再次尝试发送；</a:t>
            </a:r>
            <a:endParaRPr lang="en-US" altLang="zh-CN" sz="2400" dirty="0" smtClean="0">
              <a:solidFill>
                <a:srgbClr val="7030A0"/>
              </a:solidFill>
            </a:endParaRPr>
          </a:p>
          <a:p>
            <a:pPr lvl="1">
              <a:buFont typeface="Arial" charset="0"/>
              <a:buChar char="•"/>
            </a:pPr>
            <a:r>
              <a:rPr lang="zh-CN" altLang="en-US" sz="2400" dirty="0" smtClean="0">
                <a:solidFill>
                  <a:srgbClr val="7030A0"/>
                </a:solidFill>
              </a:rPr>
              <a:t>由于标识符数值低的节点具有较高的优先权，因此通过标识符的分配可以使重要的数据得以优先发送。</a:t>
            </a:r>
          </a:p>
        </p:txBody>
      </p:sp>
    </p:spTree>
    <p:extLst>
      <p:ext uri="{BB962C8B-B14F-4D97-AF65-F5344CB8AC3E}">
        <p14:creationId xmlns:p14="http://schemas.microsoft.com/office/powerpoint/2010/main" val="1708443549"/>
      </p:ext>
    </p:extLst>
  </p:cSld>
  <p:clrMapOvr>
    <a:masterClrMapping/>
  </p:clrMapOvr>
  <p:transition spd="slow">
    <p:push dir="u"/>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标题 1"/>
          <p:cNvSpPr>
            <a:spLocks noGrp="1"/>
          </p:cNvSpPr>
          <p:nvPr>
            <p:ph type="title"/>
          </p:nvPr>
        </p:nvSpPr>
        <p:spPr/>
        <p:txBody>
          <a:bodyPr/>
          <a:lstStyle/>
          <a:p>
            <a:r>
              <a:rPr lang="en-US" altLang="zh-CN" dirty="0"/>
              <a:t>3.2 CAN</a:t>
            </a:r>
            <a:r>
              <a:rPr lang="zh-CN" altLang="en-US" dirty="0"/>
              <a:t>协议基础</a:t>
            </a:r>
            <a:endParaRPr lang="zh-CN" altLang="en-US" dirty="0" smtClean="0"/>
          </a:p>
        </p:txBody>
      </p:sp>
      <p:pic>
        <p:nvPicPr>
          <p:cNvPr id="7987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88" y="1052513"/>
            <a:ext cx="8856662" cy="304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6" name="Rectangle 3"/>
          <p:cNvSpPr>
            <a:spLocks noChangeArrowheads="1"/>
          </p:cNvSpPr>
          <p:nvPr/>
        </p:nvSpPr>
        <p:spPr bwMode="auto">
          <a:xfrm>
            <a:off x="827088" y="4652963"/>
            <a:ext cx="7632700" cy="519112"/>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Font typeface="Wingdings" pitchFamily="2" charset="2"/>
              <a:buChar char="Ø"/>
              <a:defRPr sz="3200">
                <a:solidFill>
                  <a:srgbClr val="4F6228"/>
                </a:solidFill>
                <a:latin typeface="Calibri" pitchFamily="34" charset="0"/>
                <a:ea typeface="楷体_GB2312" pitchFamily="49" charset="-122"/>
              </a:defRPr>
            </a:lvl1pPr>
            <a:lvl2pPr marL="742950" indent="-285750" eaLnBrk="0" hangingPunct="0">
              <a:spcBef>
                <a:spcPct val="20000"/>
              </a:spcBef>
              <a:buFont typeface="Wingdings" pitchFamily="2" charset="2"/>
              <a:buChar char="ü"/>
              <a:defRPr sz="2800">
                <a:solidFill>
                  <a:srgbClr val="4F6228"/>
                </a:solidFill>
                <a:latin typeface="Calibri" pitchFamily="34" charset="0"/>
                <a:ea typeface="楷体_GB2312" pitchFamily="49" charset="-122"/>
              </a:defRPr>
            </a:lvl2pPr>
            <a:lvl3pPr marL="1143000" indent="-228600" eaLnBrk="0" hangingPunct="0">
              <a:spcBef>
                <a:spcPct val="20000"/>
              </a:spcBef>
              <a:buFont typeface="Arial" charset="0"/>
              <a:buChar char="•"/>
              <a:defRPr sz="2400">
                <a:solidFill>
                  <a:srgbClr val="4F6228"/>
                </a:solidFill>
                <a:latin typeface="Calibri" pitchFamily="34" charset="0"/>
                <a:ea typeface="楷体_GB2312" pitchFamily="49"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9pPr>
          </a:lstStyle>
          <a:p>
            <a:pPr algn="ctr" eaLnBrk="1" hangingPunct="1">
              <a:spcBef>
                <a:spcPct val="0"/>
              </a:spcBef>
              <a:buFontTx/>
              <a:buNone/>
            </a:pPr>
            <a:r>
              <a:rPr lang="zh-CN" altLang="zh-CN" sz="2800">
                <a:solidFill>
                  <a:schemeClr val="tx1"/>
                </a:solidFill>
              </a:rPr>
              <a:t>CAN总线的逐位仲裁</a:t>
            </a:r>
            <a:r>
              <a:rPr lang="zh-CN" altLang="en-US" sz="2800">
                <a:solidFill>
                  <a:schemeClr val="tx1"/>
                </a:solidFill>
              </a:rPr>
              <a:t>的例子</a:t>
            </a:r>
            <a:endParaRPr lang="zh-CN" altLang="zh-CN" sz="2800">
              <a:solidFill>
                <a:schemeClr val="tx1"/>
              </a:solidFill>
            </a:endParaRPr>
          </a:p>
        </p:txBody>
      </p:sp>
    </p:spTree>
    <p:extLst>
      <p:ext uri="{BB962C8B-B14F-4D97-AF65-F5344CB8AC3E}">
        <p14:creationId xmlns:p14="http://schemas.microsoft.com/office/powerpoint/2010/main" val="2342085113"/>
      </p:ext>
    </p:extLst>
  </p:cSld>
  <p:clrMapOvr>
    <a:masterClrMapping/>
  </p:clrMapOvr>
  <p:transition spd="slow">
    <p:push dir="u"/>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标题 1"/>
          <p:cNvSpPr>
            <a:spLocks noGrp="1"/>
          </p:cNvSpPr>
          <p:nvPr>
            <p:ph type="title"/>
          </p:nvPr>
        </p:nvSpPr>
        <p:spPr/>
        <p:txBody>
          <a:bodyPr/>
          <a:lstStyle/>
          <a:p>
            <a:r>
              <a:rPr lang="en-US" altLang="zh-CN" dirty="0"/>
              <a:t>3.2 CAN</a:t>
            </a:r>
            <a:r>
              <a:rPr lang="zh-CN" altLang="en-US" dirty="0"/>
              <a:t>协议基础</a:t>
            </a:r>
            <a:endParaRPr lang="zh-CN" altLang="en-US" dirty="0" smtClean="0"/>
          </a:p>
        </p:txBody>
      </p:sp>
      <p:pic>
        <p:nvPicPr>
          <p:cNvPr id="81923" name="Picture 2" descr="arbitration"/>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04813" y="1187450"/>
            <a:ext cx="8334375" cy="447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79733648"/>
      </p:ext>
    </p:extLst>
  </p:cSld>
  <p:clrMapOvr>
    <a:masterClrMapping/>
  </p:clrMapOvr>
  <p:transition spd="slow">
    <p:push dir="u"/>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p:cNvSpPr>
            <a:spLocks noGrp="1"/>
          </p:cNvSpPr>
          <p:nvPr>
            <p:ph type="title"/>
          </p:nvPr>
        </p:nvSpPr>
        <p:spPr/>
        <p:txBody>
          <a:bodyPr/>
          <a:lstStyle/>
          <a:p>
            <a:r>
              <a:rPr lang="en-US" altLang="zh-CN" dirty="0"/>
              <a:t>3.2 CAN</a:t>
            </a:r>
            <a:r>
              <a:rPr lang="zh-CN" altLang="en-US" dirty="0"/>
              <a:t>协议基础</a:t>
            </a:r>
            <a:endParaRPr lang="zh-CN" altLang="en-US" dirty="0" smtClean="0"/>
          </a:p>
        </p:txBody>
      </p:sp>
      <p:sp>
        <p:nvSpPr>
          <p:cNvPr id="3" name="内容占位符 2"/>
          <p:cNvSpPr>
            <a:spLocks noGrp="1"/>
          </p:cNvSpPr>
          <p:nvPr>
            <p:ph idx="1"/>
          </p:nvPr>
        </p:nvSpPr>
        <p:spPr/>
        <p:txBody>
          <a:bodyPr/>
          <a:lstStyle/>
          <a:p>
            <a:pPr>
              <a:buFont typeface="Wingdings" panose="05000000000000000000" pitchFamily="2" charset="2"/>
              <a:buChar char="p"/>
              <a:defRPr/>
            </a:pPr>
            <a:r>
              <a:rPr lang="zh-CN" altLang="en-US" sz="2800" b="1" dirty="0" smtClean="0">
                <a:solidFill>
                  <a:srgbClr val="FF0000"/>
                </a:solidFill>
              </a:rPr>
              <a:t>错误管理：</a:t>
            </a:r>
            <a:r>
              <a:rPr lang="en-US" altLang="zh-CN" sz="2800" b="1" dirty="0" smtClean="0">
                <a:solidFill>
                  <a:srgbClr val="C00000"/>
                </a:solidFill>
              </a:rPr>
              <a:t>5</a:t>
            </a:r>
            <a:r>
              <a:rPr lang="zh-CN" altLang="en-US" sz="2800" b="1" dirty="0">
                <a:solidFill>
                  <a:srgbClr val="C00000"/>
                </a:solidFill>
              </a:rPr>
              <a:t>种类型错误检测</a:t>
            </a:r>
            <a:r>
              <a:rPr lang="zh-CN" altLang="en-US" sz="2800" b="1" dirty="0" smtClean="0">
                <a:solidFill>
                  <a:schemeClr val="accent3">
                    <a:lumMod val="50000"/>
                  </a:schemeClr>
                </a:solidFill>
              </a:rPr>
              <a:t>，不</a:t>
            </a:r>
            <a:r>
              <a:rPr lang="zh-CN" altLang="en-US" sz="2800" b="1" dirty="0">
                <a:solidFill>
                  <a:schemeClr val="accent3">
                    <a:lumMod val="50000"/>
                  </a:schemeClr>
                </a:solidFill>
              </a:rPr>
              <a:t>互相排斥，可能部分或</a:t>
            </a:r>
            <a:r>
              <a:rPr lang="zh-CN" altLang="en-US" sz="2800" b="1" dirty="0" smtClean="0">
                <a:solidFill>
                  <a:schemeClr val="accent3">
                    <a:lumMod val="50000"/>
                  </a:schemeClr>
                </a:solidFill>
              </a:rPr>
              <a:t>全部同时</a:t>
            </a:r>
            <a:r>
              <a:rPr lang="zh-CN" altLang="en-US" sz="2800" b="1" dirty="0">
                <a:solidFill>
                  <a:schemeClr val="accent3">
                    <a:lumMod val="50000"/>
                  </a:schemeClr>
                </a:solidFill>
              </a:rPr>
              <a:t>出现</a:t>
            </a:r>
            <a:r>
              <a:rPr lang="zh-CN" altLang="en-US" b="1" dirty="0" smtClean="0">
                <a:solidFill>
                  <a:schemeClr val="accent3">
                    <a:lumMod val="50000"/>
                  </a:schemeClr>
                </a:solidFill>
              </a:rPr>
              <a:t>。</a:t>
            </a:r>
            <a:endParaRPr lang="en-US" altLang="zh-CN" b="1" dirty="0" smtClean="0">
              <a:solidFill>
                <a:srgbClr val="FF0000"/>
              </a:solidFill>
            </a:endParaRPr>
          </a:p>
          <a:p>
            <a:pPr marL="571500" indent="-514350">
              <a:buFont typeface="+mj-ea"/>
              <a:buAutoNum type="circleNumDbPlain"/>
              <a:defRPr/>
            </a:pPr>
            <a:r>
              <a:rPr lang="zh-CN" altLang="en-US" sz="2400" b="1" dirty="0" smtClean="0">
                <a:solidFill>
                  <a:srgbClr val="C00000"/>
                </a:solidFill>
              </a:rPr>
              <a:t>位监测：</a:t>
            </a:r>
            <a:r>
              <a:rPr lang="zh-CN" altLang="en-US" sz="2400" dirty="0">
                <a:solidFill>
                  <a:schemeClr val="accent3">
                    <a:lumMod val="50000"/>
                  </a:schemeClr>
                </a:solidFill>
              </a:rPr>
              <a:t>比较总线电平与传输位，不同则产生错误；</a:t>
            </a:r>
            <a:endParaRPr lang="en-US" altLang="zh-CN" sz="2400" dirty="0">
              <a:solidFill>
                <a:schemeClr val="accent3">
                  <a:lumMod val="50000"/>
                </a:schemeClr>
              </a:solidFill>
            </a:endParaRPr>
          </a:p>
          <a:p>
            <a:pPr marL="571500" indent="-514350">
              <a:buFont typeface="+mj-ea"/>
              <a:buAutoNum type="circleNumDbPlain"/>
              <a:defRPr/>
            </a:pPr>
            <a:r>
              <a:rPr lang="zh-CN" altLang="en-US" sz="2400" b="1" dirty="0" smtClean="0">
                <a:solidFill>
                  <a:srgbClr val="C00000"/>
                </a:solidFill>
              </a:rPr>
              <a:t>位填充：</a:t>
            </a:r>
            <a:r>
              <a:rPr lang="zh-CN" altLang="en-US" sz="2400" dirty="0">
                <a:solidFill>
                  <a:schemeClr val="accent3">
                    <a:lumMod val="50000"/>
                  </a:schemeClr>
                </a:solidFill>
              </a:rPr>
              <a:t>在总线上连续检测到</a:t>
            </a:r>
            <a:r>
              <a:rPr lang="en-US" altLang="zh-CN" sz="2400" dirty="0">
                <a:solidFill>
                  <a:schemeClr val="accent3">
                    <a:lumMod val="50000"/>
                  </a:schemeClr>
                </a:solidFill>
              </a:rPr>
              <a:t>6</a:t>
            </a:r>
            <a:r>
              <a:rPr lang="zh-CN" altLang="en-US" sz="2400" dirty="0">
                <a:solidFill>
                  <a:schemeClr val="accent3">
                    <a:lumMod val="50000"/>
                  </a:schemeClr>
                </a:solidFill>
              </a:rPr>
              <a:t>个连续相同位，则产生错误；</a:t>
            </a:r>
            <a:endParaRPr lang="en-US" altLang="zh-CN" sz="2400" dirty="0">
              <a:solidFill>
                <a:schemeClr val="accent3">
                  <a:lumMod val="50000"/>
                </a:schemeClr>
              </a:solidFill>
            </a:endParaRPr>
          </a:p>
          <a:p>
            <a:pPr marL="571500" indent="-514350">
              <a:buFont typeface="+mj-ea"/>
              <a:buAutoNum type="circleNumDbPlain"/>
              <a:defRPr/>
            </a:pPr>
            <a:r>
              <a:rPr lang="zh-CN" altLang="en-US" sz="2400" b="1" dirty="0">
                <a:solidFill>
                  <a:srgbClr val="C00000"/>
                </a:solidFill>
              </a:rPr>
              <a:t>循环冗余检测：</a:t>
            </a:r>
            <a:r>
              <a:rPr lang="en-US" altLang="zh-CN" sz="2400" dirty="0">
                <a:solidFill>
                  <a:schemeClr val="accent3">
                    <a:lumMod val="50000"/>
                  </a:schemeClr>
                </a:solidFill>
              </a:rPr>
              <a:t>15</a:t>
            </a:r>
            <a:r>
              <a:rPr lang="zh-CN" altLang="en-US" sz="2400" dirty="0">
                <a:solidFill>
                  <a:schemeClr val="accent3">
                    <a:lumMod val="50000"/>
                  </a:schemeClr>
                </a:solidFill>
              </a:rPr>
              <a:t>位</a:t>
            </a:r>
            <a:r>
              <a:rPr lang="en-US" altLang="zh-CN" sz="2400" dirty="0">
                <a:solidFill>
                  <a:schemeClr val="accent3">
                    <a:lumMod val="50000"/>
                  </a:schemeClr>
                </a:solidFill>
              </a:rPr>
              <a:t>CRC</a:t>
            </a:r>
            <a:r>
              <a:rPr lang="zh-CN" altLang="en-US" sz="2400" dirty="0">
                <a:solidFill>
                  <a:schemeClr val="accent3">
                    <a:lumMod val="50000"/>
                  </a:schemeClr>
                </a:solidFill>
              </a:rPr>
              <a:t>校验码，接收完成后才进行检查；</a:t>
            </a:r>
            <a:endParaRPr lang="en-US" altLang="zh-CN" sz="2400" dirty="0">
              <a:solidFill>
                <a:schemeClr val="accent3">
                  <a:lumMod val="50000"/>
                </a:schemeClr>
              </a:solidFill>
            </a:endParaRPr>
          </a:p>
          <a:p>
            <a:pPr marL="571500" indent="-514350">
              <a:buFont typeface="+mj-ea"/>
              <a:buAutoNum type="circleNumDbPlain"/>
              <a:defRPr/>
            </a:pPr>
            <a:r>
              <a:rPr lang="zh-CN" altLang="en-US" sz="2400" b="1" dirty="0" smtClean="0">
                <a:solidFill>
                  <a:srgbClr val="C00000"/>
                </a:solidFill>
              </a:rPr>
              <a:t>帧校验：</a:t>
            </a:r>
            <a:r>
              <a:rPr lang="zh-CN" altLang="en-US" sz="2400" dirty="0">
                <a:solidFill>
                  <a:schemeClr val="accent3">
                    <a:lumMod val="50000"/>
                  </a:schemeClr>
                </a:solidFill>
              </a:rPr>
              <a:t>接收到的帧，其包含的场格式是确定的（</a:t>
            </a:r>
            <a:r>
              <a:rPr lang="en-US" altLang="zh-CN" sz="2400" dirty="0">
                <a:solidFill>
                  <a:schemeClr val="accent3">
                    <a:lumMod val="50000"/>
                  </a:schemeClr>
                </a:solidFill>
              </a:rPr>
              <a:t>CRC</a:t>
            </a:r>
            <a:r>
              <a:rPr lang="zh-CN" altLang="en-US" sz="2400" dirty="0">
                <a:solidFill>
                  <a:schemeClr val="accent3">
                    <a:lumMod val="50000"/>
                  </a:schemeClr>
                </a:solidFill>
              </a:rPr>
              <a:t>、</a:t>
            </a:r>
            <a:r>
              <a:rPr lang="en-US" altLang="zh-CN" sz="2400" dirty="0">
                <a:solidFill>
                  <a:schemeClr val="accent3">
                    <a:lumMod val="50000"/>
                  </a:schemeClr>
                </a:solidFill>
              </a:rPr>
              <a:t>ACK</a:t>
            </a:r>
            <a:r>
              <a:rPr lang="zh-CN" altLang="en-US" sz="2400" dirty="0">
                <a:solidFill>
                  <a:schemeClr val="accent3">
                    <a:lumMod val="50000"/>
                  </a:schemeClr>
                </a:solidFill>
              </a:rPr>
              <a:t>界定符为隐性，不符合则出错）；</a:t>
            </a:r>
            <a:endParaRPr lang="en-US" altLang="zh-CN" sz="2400" dirty="0">
              <a:solidFill>
                <a:schemeClr val="accent3">
                  <a:lumMod val="50000"/>
                </a:schemeClr>
              </a:solidFill>
            </a:endParaRPr>
          </a:p>
          <a:p>
            <a:pPr marL="571500" indent="-514350">
              <a:buFont typeface="+mj-ea"/>
              <a:buAutoNum type="circleNumDbPlain"/>
              <a:defRPr/>
            </a:pPr>
            <a:r>
              <a:rPr lang="zh-CN" altLang="en-US" sz="2400" b="1" dirty="0" smtClean="0">
                <a:solidFill>
                  <a:srgbClr val="C00000"/>
                </a:solidFill>
              </a:rPr>
              <a:t>应答校验：</a:t>
            </a:r>
            <a:r>
              <a:rPr lang="en-US" altLang="zh-CN" sz="2400" dirty="0">
                <a:solidFill>
                  <a:schemeClr val="accent3">
                    <a:lumMod val="50000"/>
                  </a:schemeClr>
                </a:solidFill>
              </a:rPr>
              <a:t>ACK</a:t>
            </a:r>
            <a:r>
              <a:rPr lang="zh-CN" altLang="en-US" sz="2400" dirty="0">
                <a:solidFill>
                  <a:schemeClr val="accent3">
                    <a:lumMod val="50000"/>
                  </a:schemeClr>
                </a:solidFill>
              </a:rPr>
              <a:t>位在帧被发送后应为显性，否则</a:t>
            </a:r>
            <a:r>
              <a:rPr lang="zh-CN" altLang="en-US" sz="2400" dirty="0" smtClean="0">
                <a:solidFill>
                  <a:schemeClr val="accent3">
                    <a:lumMod val="50000"/>
                  </a:schemeClr>
                </a:solidFill>
              </a:rPr>
              <a:t>出错。（可以用于确定网络上是否有其他活动节点，或检测接插件是否故障）</a:t>
            </a:r>
            <a:endParaRPr lang="zh-CN" altLang="en-US" sz="2400" dirty="0">
              <a:solidFill>
                <a:schemeClr val="accent3">
                  <a:lumMod val="50000"/>
                </a:schemeClr>
              </a:solidFill>
            </a:endParaRPr>
          </a:p>
          <a:p>
            <a:pPr lvl="1">
              <a:defRPr/>
            </a:pPr>
            <a:endParaRPr lang="zh-CN" altLang="en-US" dirty="0"/>
          </a:p>
        </p:txBody>
      </p:sp>
    </p:spTree>
    <p:extLst>
      <p:ext uri="{BB962C8B-B14F-4D97-AF65-F5344CB8AC3E}">
        <p14:creationId xmlns:p14="http://schemas.microsoft.com/office/powerpoint/2010/main" val="370912550"/>
      </p:ext>
    </p:extLst>
  </p:cSld>
  <p:clrMapOvr>
    <a:masterClrMapping/>
  </p:clrMapOvr>
  <p:transition spd="slow">
    <p:push dir="u"/>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p:cNvSpPr>
            <a:spLocks noGrp="1"/>
          </p:cNvSpPr>
          <p:nvPr>
            <p:ph type="title"/>
          </p:nvPr>
        </p:nvSpPr>
        <p:spPr/>
        <p:txBody>
          <a:bodyPr/>
          <a:lstStyle/>
          <a:p>
            <a:r>
              <a:rPr lang="en-US" altLang="zh-CN" dirty="0"/>
              <a:t>3.2 CAN</a:t>
            </a:r>
            <a:r>
              <a:rPr lang="zh-CN" altLang="en-US" dirty="0"/>
              <a:t>协议基础</a:t>
            </a:r>
            <a:endParaRPr lang="zh-CN" altLang="en-US" dirty="0" smtClean="0"/>
          </a:p>
        </p:txBody>
      </p:sp>
      <p:sp>
        <p:nvSpPr>
          <p:cNvPr id="3" name="内容占位符 2"/>
          <p:cNvSpPr>
            <a:spLocks noGrp="1"/>
          </p:cNvSpPr>
          <p:nvPr>
            <p:ph idx="1"/>
          </p:nvPr>
        </p:nvSpPr>
        <p:spPr/>
        <p:txBody>
          <a:bodyPr/>
          <a:lstStyle/>
          <a:p>
            <a:pPr marL="0" indent="0">
              <a:buNone/>
              <a:defRPr/>
            </a:pPr>
            <a:r>
              <a:rPr lang="en-US" altLang="zh-CN" b="1" dirty="0" smtClean="0">
                <a:solidFill>
                  <a:srgbClr val="FF0000"/>
                </a:solidFill>
              </a:rPr>
              <a:t>4. </a:t>
            </a:r>
            <a:r>
              <a:rPr lang="zh-CN" altLang="en-US" b="1" dirty="0" smtClean="0">
                <a:solidFill>
                  <a:srgbClr val="FF0000"/>
                </a:solidFill>
              </a:rPr>
              <a:t>故障界定</a:t>
            </a:r>
            <a:endParaRPr lang="en-US" altLang="zh-CN" b="1" dirty="0" smtClean="0">
              <a:solidFill>
                <a:srgbClr val="FF0000"/>
              </a:solidFill>
            </a:endParaRPr>
          </a:p>
          <a:p>
            <a:pPr>
              <a:buFont typeface="Arial" panose="020B0604020202020204" pitchFamily="34" charset="0"/>
              <a:buChar char="•"/>
              <a:defRPr/>
            </a:pPr>
            <a:r>
              <a:rPr lang="zh-CN" altLang="en-US" sz="2400" b="1" dirty="0" smtClean="0">
                <a:solidFill>
                  <a:schemeClr val="accent3">
                    <a:lumMod val="50000"/>
                  </a:schemeClr>
                </a:solidFill>
              </a:rPr>
              <a:t>为了防止节点工作不正常（如重复发送损坏的帧或者阻塞整个网络），</a:t>
            </a:r>
            <a:r>
              <a:rPr lang="en-US" altLang="zh-CN" sz="2400" b="1" dirty="0" smtClean="0">
                <a:solidFill>
                  <a:schemeClr val="accent3">
                    <a:lumMod val="50000"/>
                  </a:schemeClr>
                </a:solidFill>
              </a:rPr>
              <a:t>CAN</a:t>
            </a:r>
            <a:r>
              <a:rPr lang="zh-CN" altLang="en-US" sz="2400" b="1" dirty="0" smtClean="0">
                <a:solidFill>
                  <a:schemeClr val="accent3">
                    <a:lumMod val="50000"/>
                  </a:schemeClr>
                </a:solidFill>
              </a:rPr>
              <a:t>标准中包含了</a:t>
            </a:r>
            <a:r>
              <a:rPr lang="zh-CN" altLang="en-US" sz="2400" b="1" dirty="0" smtClean="0">
                <a:solidFill>
                  <a:srgbClr val="C00000"/>
                </a:solidFill>
              </a:rPr>
              <a:t>故障界定</a:t>
            </a:r>
            <a:r>
              <a:rPr lang="zh-CN" altLang="en-US" sz="2400" b="1" dirty="0" smtClean="0">
                <a:solidFill>
                  <a:schemeClr val="accent3">
                    <a:lumMod val="50000"/>
                  </a:schemeClr>
                </a:solidFill>
              </a:rPr>
              <a:t>机制；其监督</a:t>
            </a:r>
            <a:r>
              <a:rPr lang="en-US" altLang="zh-CN" sz="2400" b="1" dirty="0" smtClean="0">
                <a:solidFill>
                  <a:schemeClr val="accent3">
                    <a:lumMod val="50000"/>
                  </a:schemeClr>
                </a:solidFill>
              </a:rPr>
              <a:t>MAC</a:t>
            </a:r>
            <a:r>
              <a:rPr lang="zh-CN" altLang="en-US" sz="2400" b="1" dirty="0" smtClean="0">
                <a:solidFill>
                  <a:schemeClr val="accent3">
                    <a:lumMod val="50000"/>
                  </a:schemeClr>
                </a:solidFill>
              </a:rPr>
              <a:t>子层的正常操作，并将有问题的节点隔离。</a:t>
            </a:r>
            <a:endParaRPr lang="en-US" altLang="zh-CN" sz="2400" b="1" dirty="0" smtClean="0">
              <a:solidFill>
                <a:schemeClr val="accent3">
                  <a:lumMod val="50000"/>
                </a:schemeClr>
              </a:solidFill>
            </a:endParaRPr>
          </a:p>
          <a:p>
            <a:pPr>
              <a:buFont typeface="Arial" panose="020B0604020202020204" pitchFamily="34" charset="0"/>
              <a:buChar char="•"/>
              <a:defRPr/>
            </a:pPr>
            <a:r>
              <a:rPr lang="en-US" altLang="zh-CN" sz="2400" b="1" dirty="0">
                <a:solidFill>
                  <a:srgbClr val="7030A0"/>
                </a:solidFill>
              </a:rPr>
              <a:t>3</a:t>
            </a:r>
            <a:r>
              <a:rPr lang="zh-CN" altLang="en-US" sz="2400" b="1" dirty="0">
                <a:solidFill>
                  <a:srgbClr val="7030A0"/>
                </a:solidFill>
              </a:rPr>
              <a:t>种</a:t>
            </a:r>
            <a:r>
              <a:rPr lang="zh-CN" altLang="en-US" sz="2400" b="1" dirty="0">
                <a:solidFill>
                  <a:schemeClr val="accent3">
                    <a:lumMod val="50000"/>
                  </a:schemeClr>
                </a:solidFill>
              </a:rPr>
              <a:t>故障状态：</a:t>
            </a:r>
            <a:r>
              <a:rPr lang="zh-CN" altLang="en-US" sz="2400" b="1" dirty="0" smtClean="0">
                <a:solidFill>
                  <a:srgbClr val="C00000"/>
                </a:solidFill>
              </a:rPr>
              <a:t>主动错误</a:t>
            </a:r>
            <a:r>
              <a:rPr lang="zh-CN" altLang="en-US" sz="2400" b="1" dirty="0" smtClean="0">
                <a:solidFill>
                  <a:schemeClr val="accent3">
                    <a:lumMod val="50000"/>
                  </a:schemeClr>
                </a:solidFill>
              </a:rPr>
              <a:t>、</a:t>
            </a:r>
            <a:r>
              <a:rPr lang="zh-CN" altLang="en-US" sz="2400" b="1" dirty="0" smtClean="0">
                <a:solidFill>
                  <a:srgbClr val="C00000"/>
                </a:solidFill>
              </a:rPr>
              <a:t>被动错误</a:t>
            </a:r>
            <a:r>
              <a:rPr lang="zh-CN" altLang="en-US" sz="2400" b="1" dirty="0" smtClean="0">
                <a:solidFill>
                  <a:schemeClr val="accent3">
                    <a:lumMod val="50000"/>
                  </a:schemeClr>
                </a:solidFill>
              </a:rPr>
              <a:t>、</a:t>
            </a:r>
            <a:r>
              <a:rPr lang="zh-CN" altLang="en-US" sz="2400" b="1" dirty="0">
                <a:solidFill>
                  <a:srgbClr val="C00000"/>
                </a:solidFill>
              </a:rPr>
              <a:t>总线关闭</a:t>
            </a:r>
            <a:r>
              <a:rPr lang="zh-CN" altLang="en-US" sz="2400" b="1" dirty="0" smtClean="0">
                <a:solidFill>
                  <a:schemeClr val="accent3">
                    <a:lumMod val="50000"/>
                  </a:schemeClr>
                </a:solidFill>
              </a:rPr>
              <a:t>；</a:t>
            </a:r>
            <a:endParaRPr lang="en-US" altLang="zh-CN" sz="2400" b="1" dirty="0" smtClean="0">
              <a:solidFill>
                <a:schemeClr val="accent3">
                  <a:lumMod val="50000"/>
                </a:schemeClr>
              </a:solidFill>
            </a:endParaRPr>
          </a:p>
          <a:p>
            <a:pPr>
              <a:buFont typeface="Arial" panose="020B0604020202020204" pitchFamily="34" charset="0"/>
              <a:buChar char="•"/>
              <a:defRPr/>
            </a:pPr>
            <a:r>
              <a:rPr lang="zh-CN" altLang="en-US" sz="2400" b="1" dirty="0">
                <a:solidFill>
                  <a:schemeClr val="accent3">
                    <a:lumMod val="50000"/>
                  </a:schemeClr>
                </a:solidFill>
              </a:rPr>
              <a:t>界定故障状态的方法：</a:t>
            </a:r>
            <a:r>
              <a:rPr lang="zh-CN" altLang="en-US" sz="2400" b="1" dirty="0">
                <a:solidFill>
                  <a:srgbClr val="C00000"/>
                </a:solidFill>
              </a:rPr>
              <a:t>发送错误计数</a:t>
            </a:r>
            <a:r>
              <a:rPr lang="zh-CN" altLang="en-US" sz="2400" dirty="0"/>
              <a:t>和</a:t>
            </a:r>
            <a:r>
              <a:rPr lang="zh-CN" altLang="en-US" sz="2400" b="1" dirty="0">
                <a:solidFill>
                  <a:srgbClr val="C00000"/>
                </a:solidFill>
              </a:rPr>
              <a:t>接收错误计数</a:t>
            </a:r>
            <a:endParaRPr lang="en-US" altLang="zh-CN" sz="2400" b="1" dirty="0">
              <a:solidFill>
                <a:srgbClr val="C00000"/>
              </a:solidFill>
            </a:endParaRPr>
          </a:p>
          <a:p>
            <a:pPr marL="400050">
              <a:buFont typeface="Arial" panose="020B0604020202020204" pitchFamily="34" charset="0"/>
              <a:buChar char="•"/>
              <a:defRPr/>
            </a:pPr>
            <a:r>
              <a:rPr lang="zh-CN" altLang="en-US" sz="2400" b="1" dirty="0">
                <a:solidFill>
                  <a:schemeClr val="accent3">
                    <a:lumMod val="50000"/>
                  </a:schemeClr>
                </a:solidFill>
              </a:rPr>
              <a:t>判定节点故障状态的</a:t>
            </a:r>
            <a:r>
              <a:rPr lang="zh-CN" altLang="en-US" sz="2400" b="1" dirty="0" smtClean="0">
                <a:solidFill>
                  <a:schemeClr val="accent3">
                    <a:lumMod val="50000"/>
                  </a:schemeClr>
                </a:solidFill>
              </a:rPr>
              <a:t>规则：</a:t>
            </a:r>
            <a:endParaRPr lang="en-US" altLang="zh-CN" sz="2400" b="1" dirty="0">
              <a:solidFill>
                <a:schemeClr val="accent3">
                  <a:lumMod val="50000"/>
                </a:schemeClr>
              </a:solidFill>
            </a:endParaRPr>
          </a:p>
          <a:p>
            <a:pPr lvl="1">
              <a:defRPr/>
            </a:pPr>
            <a:r>
              <a:rPr lang="zh-CN" altLang="en-US" sz="2200" dirty="0">
                <a:latin typeface="Times New Roman" pitchFamily="18" charset="0"/>
              </a:rPr>
              <a:t>检测到一次错误，计数器增加</a:t>
            </a:r>
            <a:r>
              <a:rPr lang="zh-CN" altLang="en-US" sz="2200" dirty="0">
                <a:solidFill>
                  <a:srgbClr val="C00000"/>
                </a:solidFill>
                <a:latin typeface="Times New Roman" pitchFamily="18" charset="0"/>
              </a:rPr>
              <a:t>特定次数</a:t>
            </a:r>
            <a:r>
              <a:rPr lang="zh-CN" altLang="en-US" sz="2200" dirty="0">
                <a:latin typeface="Times New Roman" pitchFamily="18" charset="0"/>
              </a:rPr>
              <a:t>，成功进行一次数据交换，计数器减</a:t>
            </a:r>
            <a:r>
              <a:rPr lang="en-US" altLang="zh-CN" sz="2200" dirty="0">
                <a:latin typeface="Times New Roman" pitchFamily="18" charset="0"/>
              </a:rPr>
              <a:t>1</a:t>
            </a:r>
            <a:r>
              <a:rPr lang="zh-CN" altLang="en-US" sz="2200" dirty="0">
                <a:latin typeface="Times New Roman" pitchFamily="18" charset="0"/>
              </a:rPr>
              <a:t>；</a:t>
            </a:r>
            <a:endParaRPr lang="en-US" altLang="zh-CN" sz="2200" dirty="0">
              <a:latin typeface="Times New Roman" pitchFamily="18" charset="0"/>
            </a:endParaRPr>
          </a:p>
          <a:p>
            <a:pPr lvl="1">
              <a:defRPr/>
            </a:pPr>
            <a:r>
              <a:rPr lang="zh-CN" altLang="en-US" sz="2200" dirty="0">
                <a:latin typeface="Times New Roman" pitchFamily="18" charset="0"/>
              </a:rPr>
              <a:t>第一次检测到错误的节点，其计数器增加的次数，大于</a:t>
            </a:r>
            <a:r>
              <a:rPr lang="zh-CN" altLang="en-US" sz="2200" dirty="0">
                <a:solidFill>
                  <a:srgbClr val="C00000"/>
                </a:solidFill>
                <a:latin typeface="Times New Roman" pitchFamily="18" charset="0"/>
              </a:rPr>
              <a:t>响应</a:t>
            </a:r>
            <a:r>
              <a:rPr lang="zh-CN" altLang="en-US" sz="2200" dirty="0" smtClean="0">
                <a:solidFill>
                  <a:srgbClr val="C00000"/>
                </a:solidFill>
                <a:latin typeface="Times New Roman" pitchFamily="18" charset="0"/>
              </a:rPr>
              <a:t>错误</a:t>
            </a:r>
            <a:r>
              <a:rPr lang="zh-CN" altLang="en-US" sz="2200" dirty="0">
                <a:solidFill>
                  <a:srgbClr val="C00000"/>
                </a:solidFill>
                <a:latin typeface="Times New Roman" pitchFamily="18" charset="0"/>
              </a:rPr>
              <a:t>标志</a:t>
            </a:r>
            <a:r>
              <a:rPr lang="zh-CN" altLang="en-US" sz="2200" dirty="0" smtClean="0">
                <a:solidFill>
                  <a:srgbClr val="C00000"/>
                </a:solidFill>
                <a:latin typeface="Times New Roman" pitchFamily="18" charset="0"/>
              </a:rPr>
              <a:t>节点</a:t>
            </a:r>
            <a:r>
              <a:rPr lang="zh-CN" altLang="en-US" sz="2200" dirty="0">
                <a:latin typeface="Times New Roman" pitchFamily="18" charset="0"/>
              </a:rPr>
              <a:t>的计数器增加的次数；</a:t>
            </a:r>
            <a:endParaRPr lang="en-US" altLang="zh-CN" sz="2200" dirty="0">
              <a:latin typeface="Times New Roman" pitchFamily="18" charset="0"/>
            </a:endParaRPr>
          </a:p>
          <a:p>
            <a:pPr marL="0" indent="0">
              <a:buNone/>
              <a:defRPr/>
            </a:pPr>
            <a:r>
              <a:rPr lang="zh-CN" altLang="en-US" sz="2400" b="1" dirty="0" smtClean="0">
                <a:solidFill>
                  <a:schemeClr val="accent6">
                    <a:lumMod val="75000"/>
                  </a:schemeClr>
                </a:solidFill>
              </a:rPr>
              <a:t>从而，相较于正常工作节点，故障节点的计数器增加更快。</a:t>
            </a:r>
            <a:endParaRPr lang="en-US" altLang="zh-CN" sz="2400" b="1" dirty="0">
              <a:solidFill>
                <a:schemeClr val="accent6">
                  <a:lumMod val="75000"/>
                </a:schemeClr>
              </a:solidFill>
            </a:endParaRPr>
          </a:p>
        </p:txBody>
      </p:sp>
    </p:spTree>
    <p:extLst>
      <p:ext uri="{BB962C8B-B14F-4D97-AF65-F5344CB8AC3E}">
        <p14:creationId xmlns:p14="http://schemas.microsoft.com/office/powerpoint/2010/main" val="1535573812"/>
      </p:ext>
    </p:extLst>
  </p:cSld>
  <p:clrMapOvr>
    <a:masterClrMapping/>
  </p:clrMapOvr>
  <p:transition spd="slow">
    <p:push dir="u"/>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p:cNvSpPr>
            <a:spLocks noGrp="1"/>
          </p:cNvSpPr>
          <p:nvPr>
            <p:ph type="title"/>
          </p:nvPr>
        </p:nvSpPr>
        <p:spPr/>
        <p:txBody>
          <a:bodyPr/>
          <a:lstStyle/>
          <a:p>
            <a:r>
              <a:rPr lang="en-US" altLang="zh-CN" dirty="0"/>
              <a:t>3.2 CAN</a:t>
            </a:r>
            <a:r>
              <a:rPr lang="zh-CN" altLang="en-US" dirty="0"/>
              <a:t>协议基础</a:t>
            </a:r>
            <a:endParaRPr lang="zh-CN" altLang="en-US" dirty="0" smtClean="0"/>
          </a:p>
        </p:txBody>
      </p:sp>
      <p:sp>
        <p:nvSpPr>
          <p:cNvPr id="3" name="内容占位符 2"/>
          <p:cNvSpPr>
            <a:spLocks noGrp="1"/>
          </p:cNvSpPr>
          <p:nvPr>
            <p:ph idx="1"/>
          </p:nvPr>
        </p:nvSpPr>
        <p:spPr/>
        <p:txBody>
          <a:bodyPr/>
          <a:lstStyle/>
          <a:p>
            <a:pPr marL="400050">
              <a:lnSpc>
                <a:spcPct val="125000"/>
              </a:lnSpc>
              <a:buFont typeface="Arial" panose="020B0604020202020204" pitchFamily="34" charset="0"/>
              <a:buChar char="•"/>
              <a:defRPr/>
            </a:pPr>
            <a:r>
              <a:rPr lang="zh-CN" altLang="en-US" sz="2400" b="1" dirty="0" smtClean="0">
                <a:solidFill>
                  <a:schemeClr val="accent3">
                    <a:lumMod val="50000"/>
                  </a:schemeClr>
                </a:solidFill>
              </a:rPr>
              <a:t>节点</a:t>
            </a:r>
            <a:r>
              <a:rPr lang="zh-CN" altLang="en-US" sz="2400" b="1" dirty="0">
                <a:solidFill>
                  <a:schemeClr val="accent3">
                    <a:lumMod val="50000"/>
                  </a:schemeClr>
                </a:solidFill>
              </a:rPr>
              <a:t>故障</a:t>
            </a:r>
            <a:r>
              <a:rPr lang="zh-CN" altLang="en-US" sz="2400" b="1" dirty="0" smtClean="0">
                <a:solidFill>
                  <a:schemeClr val="accent3">
                    <a:lumMod val="50000"/>
                  </a:schemeClr>
                </a:solidFill>
              </a:rPr>
              <a:t>状态切换规则</a:t>
            </a:r>
            <a:endParaRPr lang="en-US" altLang="zh-CN" sz="2400" b="1" dirty="0" smtClean="0">
              <a:solidFill>
                <a:schemeClr val="accent3">
                  <a:lumMod val="50000"/>
                </a:schemeClr>
              </a:solidFill>
            </a:endParaRPr>
          </a:p>
          <a:p>
            <a:pPr lvl="1">
              <a:lnSpc>
                <a:spcPct val="125000"/>
              </a:lnSpc>
              <a:defRPr/>
            </a:pPr>
            <a:r>
              <a:rPr lang="zh-CN" altLang="en-US" sz="2400" dirty="0">
                <a:latin typeface="Times New Roman" pitchFamily="18" charset="0"/>
              </a:rPr>
              <a:t>一</a:t>
            </a:r>
            <a:r>
              <a:rPr lang="zh-CN" altLang="en-US" sz="2400" dirty="0" smtClean="0">
                <a:latin typeface="Times New Roman" pitchFamily="18" charset="0"/>
              </a:rPr>
              <a:t>个节点的</a:t>
            </a:r>
            <a:r>
              <a:rPr lang="zh-CN" altLang="en-US" sz="2400" dirty="0" smtClean="0">
                <a:solidFill>
                  <a:srgbClr val="C00000"/>
                </a:solidFill>
                <a:latin typeface="Times New Roman" pitchFamily="18" charset="0"/>
              </a:rPr>
              <a:t>故障计数器</a:t>
            </a:r>
            <a:r>
              <a:rPr lang="zh-CN" altLang="en-US" sz="2400" dirty="0" smtClean="0">
                <a:latin typeface="Times New Roman" pitchFamily="18" charset="0"/>
              </a:rPr>
              <a:t>（发送</a:t>
            </a:r>
            <a:r>
              <a:rPr lang="en-US" altLang="zh-CN" sz="2400" dirty="0" smtClean="0">
                <a:latin typeface="Times New Roman" pitchFamily="18" charset="0"/>
              </a:rPr>
              <a:t>/</a:t>
            </a:r>
            <a:r>
              <a:rPr lang="zh-CN" altLang="en-US" sz="2400" dirty="0" smtClean="0">
                <a:latin typeface="Times New Roman" pitchFamily="18" charset="0"/>
              </a:rPr>
              <a:t>接收）超过</a:t>
            </a:r>
            <a:r>
              <a:rPr lang="en-US" altLang="zh-CN" sz="2400" dirty="0" smtClean="0">
                <a:solidFill>
                  <a:srgbClr val="C00000"/>
                </a:solidFill>
                <a:latin typeface="Times New Roman" pitchFamily="18" charset="0"/>
              </a:rPr>
              <a:t>127</a:t>
            </a:r>
            <a:r>
              <a:rPr lang="zh-CN" altLang="en-US" sz="2400" dirty="0" smtClean="0">
                <a:latin typeface="Times New Roman" pitchFamily="18" charset="0"/>
              </a:rPr>
              <a:t>，则其进入</a:t>
            </a:r>
            <a:r>
              <a:rPr lang="zh-CN" altLang="en-US" sz="2400" dirty="0" smtClean="0">
                <a:solidFill>
                  <a:srgbClr val="C00000"/>
                </a:solidFill>
                <a:latin typeface="Times New Roman" pitchFamily="18" charset="0"/>
              </a:rPr>
              <a:t>被动</a:t>
            </a:r>
            <a:r>
              <a:rPr lang="zh-CN" altLang="en-US" sz="2400" dirty="0" smtClean="0">
                <a:solidFill>
                  <a:srgbClr val="C00000"/>
                </a:solidFill>
              </a:rPr>
              <a:t>错误</a:t>
            </a:r>
            <a:r>
              <a:rPr lang="zh-CN" altLang="en-US" sz="2400" dirty="0" smtClean="0">
                <a:solidFill>
                  <a:srgbClr val="C00000"/>
                </a:solidFill>
                <a:latin typeface="Times New Roman" pitchFamily="18" charset="0"/>
              </a:rPr>
              <a:t>状态</a:t>
            </a:r>
            <a:r>
              <a:rPr lang="zh-CN" altLang="en-US" sz="2400" dirty="0" smtClean="0">
                <a:latin typeface="Times New Roman" pitchFamily="18" charset="0"/>
              </a:rPr>
              <a:t>，从而减小影响总线的可能；</a:t>
            </a:r>
            <a:endParaRPr lang="en-US" altLang="zh-CN" sz="2400" dirty="0" smtClean="0">
              <a:latin typeface="Times New Roman" pitchFamily="18" charset="0"/>
            </a:endParaRPr>
          </a:p>
          <a:p>
            <a:pPr lvl="1">
              <a:lnSpc>
                <a:spcPct val="125000"/>
              </a:lnSpc>
              <a:defRPr/>
            </a:pPr>
            <a:r>
              <a:rPr lang="zh-CN" altLang="en-US" sz="2400" dirty="0" smtClean="0">
                <a:latin typeface="Times New Roman" pitchFamily="18" charset="0"/>
              </a:rPr>
              <a:t>两个错误计数器都小于</a:t>
            </a:r>
            <a:r>
              <a:rPr lang="en-US" altLang="zh-CN" sz="2400" dirty="0" smtClean="0">
                <a:latin typeface="Times New Roman" pitchFamily="18" charset="0"/>
              </a:rPr>
              <a:t>127</a:t>
            </a:r>
            <a:r>
              <a:rPr lang="zh-CN" altLang="en-US" sz="2400" dirty="0" smtClean="0">
                <a:latin typeface="Times New Roman" pitchFamily="18" charset="0"/>
              </a:rPr>
              <a:t>时，节点返回</a:t>
            </a:r>
            <a:r>
              <a:rPr lang="zh-CN" altLang="en-US" sz="2400" dirty="0" smtClean="0">
                <a:solidFill>
                  <a:srgbClr val="C00000"/>
                </a:solidFill>
                <a:latin typeface="Times New Roman" pitchFamily="18" charset="0"/>
              </a:rPr>
              <a:t>主动错误</a:t>
            </a:r>
            <a:r>
              <a:rPr lang="zh-CN" altLang="en-US" sz="2400" dirty="0" smtClean="0">
                <a:latin typeface="Times New Roman" pitchFamily="18" charset="0"/>
              </a:rPr>
              <a:t>状态；</a:t>
            </a:r>
            <a:endParaRPr lang="en-US" altLang="zh-CN" sz="2400" dirty="0" smtClean="0">
              <a:latin typeface="Times New Roman" pitchFamily="18" charset="0"/>
            </a:endParaRPr>
          </a:p>
          <a:p>
            <a:pPr lvl="1">
              <a:lnSpc>
                <a:spcPct val="125000"/>
              </a:lnSpc>
              <a:defRPr/>
            </a:pPr>
            <a:r>
              <a:rPr lang="zh-CN" altLang="en-US" sz="2400" dirty="0" smtClean="0">
                <a:latin typeface="Times New Roman" pitchFamily="18" charset="0"/>
              </a:rPr>
              <a:t>如果</a:t>
            </a:r>
            <a:r>
              <a:rPr lang="zh-CN" altLang="en-US" sz="2400" dirty="0">
                <a:solidFill>
                  <a:srgbClr val="C00000"/>
                </a:solidFill>
                <a:latin typeface="Times New Roman" pitchFamily="18" charset="0"/>
              </a:rPr>
              <a:t>故障</a:t>
            </a:r>
            <a:r>
              <a:rPr lang="zh-CN" altLang="en-US" sz="2400" dirty="0" smtClean="0">
                <a:solidFill>
                  <a:srgbClr val="C00000"/>
                </a:solidFill>
                <a:latin typeface="Times New Roman" pitchFamily="18" charset="0"/>
              </a:rPr>
              <a:t>计数器</a:t>
            </a:r>
            <a:r>
              <a:rPr lang="zh-CN" altLang="en-US" sz="2400" dirty="0" smtClean="0">
                <a:solidFill>
                  <a:schemeClr val="accent3">
                    <a:lumMod val="50000"/>
                  </a:schemeClr>
                </a:solidFill>
                <a:latin typeface="Times New Roman" pitchFamily="18" charset="0"/>
              </a:rPr>
              <a:t>超过</a:t>
            </a:r>
            <a:r>
              <a:rPr lang="en-US" altLang="zh-CN" sz="2400" dirty="0" smtClean="0">
                <a:solidFill>
                  <a:srgbClr val="C00000"/>
                </a:solidFill>
                <a:latin typeface="Times New Roman" pitchFamily="18" charset="0"/>
              </a:rPr>
              <a:t>255</a:t>
            </a:r>
            <a:r>
              <a:rPr lang="zh-CN" altLang="en-US" sz="2400" dirty="0" smtClean="0">
                <a:solidFill>
                  <a:schemeClr val="accent3">
                    <a:lumMod val="50000"/>
                  </a:schemeClr>
                </a:solidFill>
                <a:latin typeface="Times New Roman" pitchFamily="18" charset="0"/>
              </a:rPr>
              <a:t>，则节点进入</a:t>
            </a:r>
            <a:r>
              <a:rPr lang="zh-CN" altLang="en-US" sz="2400" dirty="0" smtClean="0">
                <a:solidFill>
                  <a:srgbClr val="C00000"/>
                </a:solidFill>
                <a:latin typeface="Times New Roman" pitchFamily="18" charset="0"/>
              </a:rPr>
              <a:t>总线关闭</a:t>
            </a:r>
            <a:r>
              <a:rPr lang="zh-CN" altLang="en-US" sz="2400" dirty="0" smtClean="0">
                <a:solidFill>
                  <a:schemeClr val="accent3">
                    <a:lumMod val="50000"/>
                  </a:schemeClr>
                </a:solidFill>
                <a:latin typeface="Times New Roman" pitchFamily="18" charset="0"/>
              </a:rPr>
              <a:t>状态，使得节点不能继续在网络上传输任何帧；</a:t>
            </a:r>
            <a:endParaRPr lang="en-US" altLang="zh-CN" sz="2400" dirty="0" smtClean="0">
              <a:solidFill>
                <a:schemeClr val="accent3">
                  <a:lumMod val="50000"/>
                </a:schemeClr>
              </a:solidFill>
              <a:latin typeface="Times New Roman" pitchFamily="18" charset="0"/>
            </a:endParaRPr>
          </a:p>
          <a:p>
            <a:pPr lvl="1">
              <a:lnSpc>
                <a:spcPct val="125000"/>
              </a:lnSpc>
              <a:defRPr/>
            </a:pPr>
            <a:r>
              <a:rPr lang="zh-CN" altLang="en-US" sz="2400" dirty="0" smtClean="0">
                <a:solidFill>
                  <a:schemeClr val="accent3">
                    <a:lumMod val="50000"/>
                  </a:schemeClr>
                </a:solidFill>
                <a:latin typeface="Times New Roman" pitchFamily="18" charset="0"/>
              </a:rPr>
              <a:t>只有在重置后，</a:t>
            </a:r>
            <a:r>
              <a:rPr lang="zh-CN" altLang="en-US" sz="2400" dirty="0" smtClean="0">
                <a:solidFill>
                  <a:srgbClr val="C00000"/>
                </a:solidFill>
                <a:latin typeface="Times New Roman" pitchFamily="18" charset="0"/>
              </a:rPr>
              <a:t>总线关闭</a:t>
            </a:r>
            <a:r>
              <a:rPr lang="zh-CN" altLang="en-US" sz="2400" dirty="0" smtClean="0">
                <a:solidFill>
                  <a:schemeClr val="accent3">
                    <a:lumMod val="50000"/>
                  </a:schemeClr>
                </a:solidFill>
                <a:latin typeface="Times New Roman" pitchFamily="18" charset="0"/>
              </a:rPr>
              <a:t>状态节点才能返回</a:t>
            </a:r>
            <a:r>
              <a:rPr lang="zh-CN" altLang="en-US" sz="2400" dirty="0" smtClean="0">
                <a:solidFill>
                  <a:srgbClr val="C00000"/>
                </a:solidFill>
                <a:latin typeface="Times New Roman" pitchFamily="18" charset="0"/>
              </a:rPr>
              <a:t>主动错误</a:t>
            </a:r>
            <a:r>
              <a:rPr lang="zh-CN" altLang="en-US" sz="2400" dirty="0" smtClean="0">
                <a:solidFill>
                  <a:schemeClr val="accent3">
                    <a:lumMod val="50000"/>
                  </a:schemeClr>
                </a:solidFill>
                <a:latin typeface="Times New Roman" pitchFamily="18" charset="0"/>
              </a:rPr>
              <a:t>状态。</a:t>
            </a:r>
            <a:endParaRPr lang="zh-CN" altLang="en-US" sz="2400" dirty="0">
              <a:solidFill>
                <a:schemeClr val="accent3">
                  <a:lumMod val="50000"/>
                </a:schemeClr>
              </a:solidFill>
              <a:latin typeface="Times New Roman" pitchFamily="18" charset="0"/>
            </a:endParaRPr>
          </a:p>
        </p:txBody>
      </p:sp>
    </p:spTree>
    <p:extLst>
      <p:ext uri="{BB962C8B-B14F-4D97-AF65-F5344CB8AC3E}">
        <p14:creationId xmlns:p14="http://schemas.microsoft.com/office/powerpoint/2010/main" val="1061120536"/>
      </p:ext>
    </p:extLst>
  </p:cSld>
  <p:clrMapOvr>
    <a:masterClrMapping/>
  </p:clrMapOvr>
  <p:transition spd="slow">
    <p:push dir="u"/>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p:cNvSpPr>
            <a:spLocks noGrp="1"/>
          </p:cNvSpPr>
          <p:nvPr>
            <p:ph type="title"/>
          </p:nvPr>
        </p:nvSpPr>
        <p:spPr/>
        <p:txBody>
          <a:bodyPr/>
          <a:lstStyle/>
          <a:p>
            <a:r>
              <a:rPr lang="en-US" altLang="zh-CN" dirty="0"/>
              <a:t>3.2 CAN</a:t>
            </a:r>
            <a:r>
              <a:rPr lang="zh-CN" altLang="en-US" dirty="0"/>
              <a:t>协议基础</a:t>
            </a:r>
            <a:endParaRPr lang="zh-CN" altLang="en-US" dirty="0" smtClean="0"/>
          </a:p>
        </p:txBody>
      </p:sp>
      <p:sp>
        <p:nvSpPr>
          <p:cNvPr id="3" name="内容占位符 2"/>
          <p:cNvSpPr>
            <a:spLocks noGrp="1"/>
          </p:cNvSpPr>
          <p:nvPr>
            <p:ph idx="1"/>
          </p:nvPr>
        </p:nvSpPr>
        <p:spPr/>
        <p:txBody>
          <a:bodyPr/>
          <a:lstStyle/>
          <a:p>
            <a:pPr marL="0" indent="0">
              <a:buNone/>
              <a:defRPr/>
            </a:pPr>
            <a:r>
              <a:rPr lang="en-US" altLang="zh-CN" b="1" dirty="0">
                <a:solidFill>
                  <a:srgbClr val="FF0000"/>
                </a:solidFill>
              </a:rPr>
              <a:t>5</a:t>
            </a:r>
            <a:r>
              <a:rPr lang="en-US" altLang="zh-CN" b="1" dirty="0" smtClean="0">
                <a:solidFill>
                  <a:srgbClr val="FF0000"/>
                </a:solidFill>
              </a:rPr>
              <a:t>. </a:t>
            </a:r>
            <a:r>
              <a:rPr lang="zh-CN" altLang="en-US" b="1" dirty="0" smtClean="0">
                <a:solidFill>
                  <a:srgbClr val="FF0000"/>
                </a:solidFill>
              </a:rPr>
              <a:t>逻辑链路控制</a:t>
            </a:r>
            <a:r>
              <a:rPr lang="en-US" altLang="zh-CN" b="1" dirty="0" smtClean="0">
                <a:solidFill>
                  <a:srgbClr val="FF0000"/>
                </a:solidFill>
              </a:rPr>
              <a:t>(Logical Link Control)</a:t>
            </a:r>
          </a:p>
          <a:p>
            <a:pPr marL="0" indent="0">
              <a:buNone/>
              <a:defRPr/>
            </a:pPr>
            <a:r>
              <a:rPr lang="en-US" altLang="zh-CN" sz="2800" dirty="0" smtClean="0">
                <a:solidFill>
                  <a:schemeClr val="accent3">
                    <a:lumMod val="50000"/>
                  </a:schemeClr>
                </a:solidFill>
              </a:rPr>
              <a:t>         LLC</a:t>
            </a:r>
            <a:r>
              <a:rPr lang="zh-CN" altLang="en-US" sz="2800" dirty="0" smtClean="0">
                <a:solidFill>
                  <a:schemeClr val="accent3">
                    <a:lumMod val="50000"/>
                  </a:schemeClr>
                </a:solidFill>
              </a:rPr>
              <a:t>子层的通信模型是基于节点间的对象交换，每个对象被分配</a:t>
            </a:r>
            <a:r>
              <a:rPr lang="en-US" altLang="zh-CN" sz="2800" dirty="0" smtClean="0">
                <a:solidFill>
                  <a:schemeClr val="accent3">
                    <a:lumMod val="50000"/>
                  </a:schemeClr>
                </a:solidFill>
              </a:rPr>
              <a:t>ID</a:t>
            </a:r>
            <a:r>
              <a:rPr lang="zh-CN" altLang="en-US" sz="2800" dirty="0" smtClean="0">
                <a:solidFill>
                  <a:schemeClr val="accent3">
                    <a:lumMod val="50000"/>
                  </a:schemeClr>
                </a:solidFill>
              </a:rPr>
              <a:t>及相关的值</a:t>
            </a:r>
            <a:r>
              <a:rPr lang="en-US" altLang="zh-CN" sz="2800" dirty="0" smtClean="0">
                <a:solidFill>
                  <a:schemeClr val="accent3">
                    <a:lumMod val="50000"/>
                  </a:schemeClr>
                </a:solidFill>
              </a:rPr>
              <a:t>(LSDU)</a:t>
            </a:r>
            <a:r>
              <a:rPr lang="zh-CN" altLang="en-US" sz="2800" dirty="0" smtClean="0">
                <a:solidFill>
                  <a:schemeClr val="accent3">
                    <a:lumMod val="50000"/>
                  </a:schemeClr>
                </a:solidFill>
              </a:rPr>
              <a:t>。</a:t>
            </a:r>
            <a:endParaRPr lang="en-US" altLang="zh-CN" sz="2800" dirty="0" smtClean="0">
              <a:solidFill>
                <a:schemeClr val="accent3">
                  <a:lumMod val="50000"/>
                </a:schemeClr>
              </a:solidFill>
            </a:endParaRPr>
          </a:p>
          <a:p>
            <a:pPr marL="0" indent="0">
              <a:buNone/>
              <a:defRPr/>
            </a:pPr>
            <a:r>
              <a:rPr lang="en-US" altLang="zh-CN" sz="2800" dirty="0">
                <a:solidFill>
                  <a:schemeClr val="accent3">
                    <a:lumMod val="50000"/>
                  </a:schemeClr>
                </a:solidFill>
              </a:rPr>
              <a:t> </a:t>
            </a:r>
            <a:r>
              <a:rPr lang="en-US" altLang="zh-CN" sz="2800" dirty="0" smtClean="0">
                <a:solidFill>
                  <a:schemeClr val="accent3">
                    <a:lumMod val="50000"/>
                  </a:schemeClr>
                </a:solidFill>
              </a:rPr>
              <a:t>        </a:t>
            </a:r>
            <a:r>
              <a:rPr lang="zh-CN" altLang="en-US" sz="2800" dirty="0" smtClean="0">
                <a:solidFill>
                  <a:schemeClr val="accent3">
                    <a:lumMod val="50000"/>
                  </a:schemeClr>
                </a:solidFill>
              </a:rPr>
              <a:t>依据</a:t>
            </a:r>
            <a:r>
              <a:rPr lang="en-US" altLang="zh-CN" sz="2800" dirty="0" smtClean="0">
                <a:solidFill>
                  <a:schemeClr val="accent3">
                    <a:lumMod val="50000"/>
                  </a:schemeClr>
                </a:solidFill>
              </a:rPr>
              <a:t>CAN</a:t>
            </a:r>
            <a:r>
              <a:rPr lang="zh-CN" altLang="en-US" sz="2800" dirty="0" smtClean="0">
                <a:solidFill>
                  <a:schemeClr val="accent3">
                    <a:lumMod val="50000"/>
                  </a:schemeClr>
                </a:solidFill>
              </a:rPr>
              <a:t>标准，</a:t>
            </a:r>
            <a:r>
              <a:rPr lang="en-US" altLang="zh-CN" sz="2800" dirty="0" smtClean="0">
                <a:solidFill>
                  <a:schemeClr val="accent3">
                    <a:lumMod val="50000"/>
                  </a:schemeClr>
                </a:solidFill>
              </a:rPr>
              <a:t>LLC</a:t>
            </a:r>
            <a:r>
              <a:rPr lang="zh-CN" altLang="en-US" sz="2800" dirty="0" smtClean="0">
                <a:solidFill>
                  <a:schemeClr val="accent3">
                    <a:lumMod val="50000"/>
                  </a:schemeClr>
                </a:solidFill>
              </a:rPr>
              <a:t>提供两种通信服务，</a:t>
            </a:r>
            <a:r>
              <a:rPr lang="en-US" altLang="zh-CN" sz="2800" dirty="0" smtClean="0">
                <a:solidFill>
                  <a:schemeClr val="accent3">
                    <a:lumMod val="50000"/>
                  </a:schemeClr>
                </a:solidFill>
              </a:rPr>
              <a:t>L_DATA</a:t>
            </a:r>
            <a:r>
              <a:rPr lang="zh-CN" altLang="en-US" sz="2800" dirty="0" smtClean="0">
                <a:solidFill>
                  <a:schemeClr val="accent3">
                    <a:lumMod val="50000"/>
                  </a:schemeClr>
                </a:solidFill>
              </a:rPr>
              <a:t>与</a:t>
            </a:r>
            <a:r>
              <a:rPr lang="en-US" altLang="zh-CN" sz="2800" dirty="0" smtClean="0">
                <a:solidFill>
                  <a:schemeClr val="accent3">
                    <a:lumMod val="50000"/>
                  </a:schemeClr>
                </a:solidFill>
              </a:rPr>
              <a:t>L_REMOTE</a:t>
            </a:r>
            <a:r>
              <a:rPr lang="zh-CN" altLang="en-US" sz="2800" dirty="0" smtClean="0">
                <a:solidFill>
                  <a:schemeClr val="accent3">
                    <a:lumMod val="50000"/>
                  </a:schemeClr>
                </a:solidFill>
              </a:rPr>
              <a:t>。</a:t>
            </a:r>
            <a:endParaRPr lang="en-US" altLang="zh-CN" sz="2800" dirty="0" smtClean="0">
              <a:solidFill>
                <a:schemeClr val="accent3">
                  <a:lumMod val="50000"/>
                </a:schemeClr>
              </a:solidFill>
            </a:endParaRPr>
          </a:p>
          <a:p>
            <a:pPr lvl="2" indent="-342900">
              <a:buFont typeface="Arial" panose="020B0604020202020204" pitchFamily="34" charset="0"/>
              <a:buChar char="•"/>
              <a:defRPr/>
            </a:pPr>
            <a:r>
              <a:rPr lang="en-US" altLang="zh-CN" dirty="0" smtClean="0">
                <a:solidFill>
                  <a:schemeClr val="accent3">
                    <a:lumMod val="50000"/>
                  </a:schemeClr>
                </a:solidFill>
              </a:rPr>
              <a:t>L_DATA</a:t>
            </a:r>
            <a:r>
              <a:rPr lang="zh-CN" altLang="en-US" dirty="0" smtClean="0">
                <a:solidFill>
                  <a:schemeClr val="accent3">
                    <a:lumMod val="50000"/>
                  </a:schemeClr>
                </a:solidFill>
              </a:rPr>
              <a:t>用于在网络上广播任意对象的值；</a:t>
            </a:r>
            <a:endParaRPr lang="en-US" altLang="zh-CN" dirty="0" smtClean="0">
              <a:solidFill>
                <a:schemeClr val="accent3">
                  <a:lumMod val="50000"/>
                </a:schemeClr>
              </a:solidFill>
            </a:endParaRPr>
          </a:p>
          <a:p>
            <a:pPr lvl="2" indent="-342900">
              <a:buFont typeface="Arial" panose="020B0604020202020204" pitchFamily="34" charset="0"/>
              <a:buChar char="•"/>
              <a:defRPr/>
            </a:pPr>
            <a:r>
              <a:rPr lang="en-US" altLang="zh-CN" dirty="0" smtClean="0">
                <a:solidFill>
                  <a:schemeClr val="accent3">
                    <a:lumMod val="50000"/>
                  </a:schemeClr>
                </a:solidFill>
              </a:rPr>
              <a:t>L_REMOTE</a:t>
            </a:r>
            <a:r>
              <a:rPr lang="zh-CN" altLang="en-US" dirty="0" smtClean="0">
                <a:solidFill>
                  <a:schemeClr val="accent3">
                    <a:lumMod val="50000"/>
                  </a:schemeClr>
                </a:solidFill>
              </a:rPr>
              <a:t>用于向远程生</a:t>
            </a:r>
            <a:r>
              <a:rPr lang="zh-CN" altLang="en-US" dirty="0">
                <a:solidFill>
                  <a:schemeClr val="accent3">
                    <a:lumMod val="50000"/>
                  </a:schemeClr>
                </a:solidFill>
              </a:rPr>
              <a:t>产</a:t>
            </a:r>
            <a:r>
              <a:rPr lang="zh-CN" altLang="en-US" dirty="0" smtClean="0">
                <a:solidFill>
                  <a:schemeClr val="accent3">
                    <a:lumMod val="50000"/>
                  </a:schemeClr>
                </a:solidFill>
              </a:rPr>
              <a:t>者请求其生成对象的值。</a:t>
            </a:r>
            <a:endParaRPr lang="en-US" altLang="zh-CN" dirty="0">
              <a:solidFill>
                <a:schemeClr val="accent3">
                  <a:lumMod val="50000"/>
                </a:schemeClr>
              </a:solidFill>
            </a:endParaRPr>
          </a:p>
          <a:p>
            <a:pPr marL="0" indent="0">
              <a:lnSpc>
                <a:spcPct val="125000"/>
              </a:lnSpc>
              <a:buNone/>
              <a:defRPr/>
            </a:pPr>
            <a:r>
              <a:rPr lang="zh-CN" altLang="en-US" sz="2800" dirty="0" smtClean="0">
                <a:solidFill>
                  <a:srgbClr val="7030A0"/>
                </a:solidFill>
              </a:rPr>
              <a:t>         </a:t>
            </a:r>
            <a:r>
              <a:rPr lang="zh-CN" altLang="en-US" sz="2800" dirty="0" smtClean="0">
                <a:solidFill>
                  <a:srgbClr val="C00000"/>
                </a:solidFill>
              </a:rPr>
              <a:t>从</a:t>
            </a:r>
            <a:r>
              <a:rPr lang="zh-CN" altLang="en-US" sz="2800" dirty="0">
                <a:solidFill>
                  <a:srgbClr val="C00000"/>
                </a:solidFill>
              </a:rPr>
              <a:t>实际应用角度看，通信服务已经在</a:t>
            </a:r>
            <a:r>
              <a:rPr lang="en-US" altLang="zh-CN" sz="2800" dirty="0">
                <a:solidFill>
                  <a:srgbClr val="C00000"/>
                </a:solidFill>
              </a:rPr>
              <a:t>CAN</a:t>
            </a:r>
            <a:r>
              <a:rPr lang="zh-CN" altLang="en-US" sz="2800" dirty="0">
                <a:solidFill>
                  <a:srgbClr val="C00000"/>
                </a:solidFill>
              </a:rPr>
              <a:t>控制器的硬件中</a:t>
            </a:r>
            <a:r>
              <a:rPr lang="zh-CN" altLang="en-US" sz="2800" dirty="0" smtClean="0">
                <a:solidFill>
                  <a:srgbClr val="C00000"/>
                </a:solidFill>
              </a:rPr>
              <a:t>实现。</a:t>
            </a:r>
            <a:endParaRPr lang="en-US" altLang="zh-CN" sz="2800" dirty="0">
              <a:solidFill>
                <a:srgbClr val="C00000"/>
              </a:solidFill>
            </a:endParaRPr>
          </a:p>
        </p:txBody>
      </p:sp>
    </p:spTree>
    <p:extLst>
      <p:ext uri="{BB962C8B-B14F-4D97-AF65-F5344CB8AC3E}">
        <p14:creationId xmlns:p14="http://schemas.microsoft.com/office/powerpoint/2010/main" val="1450600184"/>
      </p:ext>
    </p:extLst>
  </p:cSld>
  <p:clrMapOvr>
    <a:masterClrMapping/>
  </p:clrMapOvr>
  <p:transition spd="slow">
    <p:push dir="u"/>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p:cNvSpPr>
            <a:spLocks noGrp="1"/>
          </p:cNvSpPr>
          <p:nvPr>
            <p:ph type="title"/>
          </p:nvPr>
        </p:nvSpPr>
        <p:spPr/>
        <p:txBody>
          <a:bodyPr/>
          <a:lstStyle/>
          <a:p>
            <a:r>
              <a:rPr lang="en-US" altLang="zh-CN" dirty="0"/>
              <a:t>3.2 CAN</a:t>
            </a:r>
            <a:r>
              <a:rPr lang="zh-CN" altLang="en-US" dirty="0"/>
              <a:t>协议基础</a:t>
            </a:r>
            <a:endParaRPr lang="zh-CN" altLang="en-US" dirty="0" smtClean="0"/>
          </a:p>
        </p:txBody>
      </p:sp>
      <p:sp>
        <p:nvSpPr>
          <p:cNvPr id="3" name="内容占位符 2"/>
          <p:cNvSpPr>
            <a:spLocks noGrp="1"/>
          </p:cNvSpPr>
          <p:nvPr>
            <p:ph idx="1"/>
          </p:nvPr>
        </p:nvSpPr>
        <p:spPr/>
        <p:txBody>
          <a:bodyPr/>
          <a:lstStyle/>
          <a:p>
            <a:pPr>
              <a:buFont typeface="Wingdings" panose="05000000000000000000" pitchFamily="2" charset="2"/>
              <a:buChar char="p"/>
              <a:defRPr/>
            </a:pPr>
            <a:r>
              <a:rPr lang="zh-CN" altLang="en-US" sz="2800" b="1" dirty="0" smtClean="0">
                <a:solidFill>
                  <a:srgbClr val="FF0000"/>
                </a:solidFill>
              </a:rPr>
              <a:t>信息交换模型 </a:t>
            </a:r>
            <a:r>
              <a:rPr lang="en-US" altLang="zh-CN" sz="2800" b="1" dirty="0" smtClean="0">
                <a:solidFill>
                  <a:srgbClr val="FF0000"/>
                </a:solidFill>
              </a:rPr>
              <a:t>– Producer/consumer model</a:t>
            </a:r>
            <a:endParaRPr lang="zh-CN" altLang="en-US" sz="2800" b="1" dirty="0" smtClean="0">
              <a:solidFill>
                <a:srgbClr val="FF0000"/>
              </a:solidFill>
            </a:endParaRPr>
          </a:p>
          <a:p>
            <a:pPr marL="0" indent="0">
              <a:buNone/>
              <a:defRPr/>
            </a:pPr>
            <a:r>
              <a:rPr lang="en-US" altLang="zh-CN" sz="2400" dirty="0">
                <a:solidFill>
                  <a:schemeClr val="accent3">
                    <a:lumMod val="50000"/>
                  </a:schemeClr>
                </a:solidFill>
              </a:rPr>
              <a:t> CAN</a:t>
            </a:r>
            <a:r>
              <a:rPr lang="zh-CN" altLang="en-US" sz="2400" dirty="0">
                <a:solidFill>
                  <a:schemeClr val="accent3">
                    <a:lumMod val="50000"/>
                  </a:schemeClr>
                </a:solidFill>
              </a:rPr>
              <a:t>网络上信息交换的基础是其被分配</a:t>
            </a:r>
            <a:r>
              <a:rPr lang="zh-CN" altLang="en-US" sz="2400" dirty="0" smtClean="0">
                <a:solidFill>
                  <a:schemeClr val="accent3">
                    <a:lumMod val="50000"/>
                  </a:schemeClr>
                </a:solidFill>
              </a:rPr>
              <a:t>的标识符（而非</a:t>
            </a:r>
            <a:r>
              <a:rPr lang="zh-CN" altLang="en-US" sz="2400" dirty="0">
                <a:solidFill>
                  <a:schemeClr val="accent3">
                    <a:lumMod val="50000"/>
                  </a:schemeClr>
                </a:solidFill>
              </a:rPr>
              <a:t>地址）</a:t>
            </a:r>
            <a:endParaRPr lang="en-US" altLang="zh-CN" sz="2400" dirty="0" smtClean="0">
              <a:solidFill>
                <a:schemeClr val="accent3">
                  <a:lumMod val="50000"/>
                </a:schemeClr>
              </a:solidFill>
            </a:endParaRPr>
          </a:p>
          <a:p>
            <a:pPr>
              <a:buFont typeface="Arial" panose="020B0604020202020204" pitchFamily="34" charset="0"/>
              <a:buChar char="•"/>
              <a:defRPr/>
            </a:pPr>
            <a:r>
              <a:rPr lang="zh-CN" altLang="en-US" sz="2400" dirty="0" smtClean="0">
                <a:solidFill>
                  <a:schemeClr val="accent3">
                    <a:lumMod val="50000"/>
                  </a:schemeClr>
                </a:solidFill>
              </a:rPr>
              <a:t>生产者将信息编码并使用</a:t>
            </a:r>
            <a:r>
              <a:rPr lang="en-US" altLang="zh-CN" sz="2400" dirty="0" smtClean="0">
                <a:solidFill>
                  <a:schemeClr val="accent3">
                    <a:lumMod val="50000"/>
                  </a:schemeClr>
                </a:solidFill>
              </a:rPr>
              <a:t>MAC</a:t>
            </a:r>
            <a:r>
              <a:rPr lang="zh-CN" altLang="en-US" sz="2400" dirty="0" smtClean="0">
                <a:solidFill>
                  <a:schemeClr val="accent3">
                    <a:lumMod val="50000"/>
                  </a:schemeClr>
                </a:solidFill>
              </a:rPr>
              <a:t>传输服务将相关帧发送至总线，仲裁技术用于保证不产生冲突；</a:t>
            </a:r>
            <a:endParaRPr lang="en-US" altLang="zh-CN" sz="2400" dirty="0" smtClean="0">
              <a:solidFill>
                <a:schemeClr val="accent3">
                  <a:lumMod val="50000"/>
                </a:schemeClr>
              </a:solidFill>
            </a:endParaRPr>
          </a:p>
          <a:p>
            <a:pPr>
              <a:buFont typeface="Arial" panose="020B0604020202020204" pitchFamily="34" charset="0"/>
              <a:buChar char="•"/>
              <a:defRPr/>
            </a:pPr>
            <a:r>
              <a:rPr lang="zh-CN" altLang="en-US" sz="2400" dirty="0" smtClean="0">
                <a:solidFill>
                  <a:schemeClr val="accent3">
                    <a:lumMod val="50000"/>
                  </a:schemeClr>
                </a:solidFill>
              </a:rPr>
              <a:t>物理上，总线是广播式的，从而帧在整个网络上传输，每个节点都能将帧读入其本地接收缓冲区；</a:t>
            </a:r>
            <a:endParaRPr lang="en-US" altLang="zh-CN" sz="2400" dirty="0" smtClean="0">
              <a:solidFill>
                <a:schemeClr val="accent3">
                  <a:lumMod val="50000"/>
                </a:schemeClr>
              </a:solidFill>
            </a:endParaRPr>
          </a:p>
          <a:p>
            <a:pPr>
              <a:buFont typeface="Arial" panose="020B0604020202020204" pitchFamily="34" charset="0"/>
              <a:buChar char="•"/>
              <a:defRPr/>
            </a:pPr>
            <a:r>
              <a:rPr lang="zh-CN" altLang="en-US" sz="2400" dirty="0" smtClean="0">
                <a:solidFill>
                  <a:schemeClr val="accent3">
                    <a:lumMod val="50000"/>
                  </a:schemeClr>
                </a:solidFill>
              </a:rPr>
              <a:t>每个节点的帧接收滤波功能确定此帧是否与自身相关。若相关，则帧被传至上一层（从应用角度考虑，这意味着</a:t>
            </a:r>
            <a:r>
              <a:rPr lang="en-US" altLang="zh-CN" sz="2400" dirty="0" smtClean="0">
                <a:solidFill>
                  <a:schemeClr val="accent3">
                    <a:lumMod val="50000"/>
                  </a:schemeClr>
                </a:solidFill>
              </a:rPr>
              <a:t>CAN</a:t>
            </a:r>
            <a:r>
              <a:rPr lang="zh-CN" altLang="en-US" sz="2400" dirty="0" smtClean="0">
                <a:solidFill>
                  <a:schemeClr val="accent3">
                    <a:lumMod val="50000"/>
                  </a:schemeClr>
                </a:solidFill>
              </a:rPr>
              <a:t>控制器可以对上层控制器发送中断），进而帧中的信息被解析使用；反之，此帧被抛弃。</a:t>
            </a:r>
            <a:endParaRPr lang="en-US" altLang="zh-CN" sz="2400" dirty="0">
              <a:solidFill>
                <a:schemeClr val="accent3">
                  <a:lumMod val="50000"/>
                </a:schemeClr>
              </a:solidFill>
            </a:endParaRPr>
          </a:p>
        </p:txBody>
      </p:sp>
    </p:spTree>
    <p:extLst>
      <p:ext uri="{BB962C8B-B14F-4D97-AF65-F5344CB8AC3E}">
        <p14:creationId xmlns:p14="http://schemas.microsoft.com/office/powerpoint/2010/main" val="1900464364"/>
      </p:ext>
    </p:extLst>
  </p:cSld>
  <p:clrMapOvr>
    <a:masterClrMapping/>
  </p:clrMapOvr>
  <p:transition spd="slow">
    <p:push dir="u"/>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3.2 CAN</a:t>
            </a:r>
            <a:r>
              <a:rPr lang="zh-CN" altLang="en-US" dirty="0"/>
              <a:t>协议基础</a:t>
            </a:r>
          </a:p>
        </p:txBody>
      </p:sp>
      <p:pic>
        <p:nvPicPr>
          <p:cNvPr id="4" name="内容占位符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23528" y="1268760"/>
            <a:ext cx="8303593" cy="3356665"/>
          </a:xfrm>
        </p:spPr>
      </p:pic>
      <p:sp>
        <p:nvSpPr>
          <p:cNvPr id="5" name="TextBox 4"/>
          <p:cNvSpPr txBox="1"/>
          <p:nvPr/>
        </p:nvSpPr>
        <p:spPr>
          <a:xfrm>
            <a:off x="2339752" y="4941168"/>
            <a:ext cx="4248472" cy="646331"/>
          </a:xfrm>
          <a:prstGeom prst="rect">
            <a:avLst/>
          </a:prstGeom>
          <a:noFill/>
        </p:spPr>
        <p:txBody>
          <a:bodyPr wrap="square" rtlCol="0">
            <a:spAutoFit/>
          </a:bodyPr>
          <a:lstStyle/>
          <a:p>
            <a:pPr algn="ctr"/>
            <a:r>
              <a:rPr lang="zh-CN" altLang="en-US" sz="3600" b="1" dirty="0" smtClean="0">
                <a:solidFill>
                  <a:schemeClr val="accent3">
                    <a:lumMod val="50000"/>
                  </a:schemeClr>
                </a:solidFill>
              </a:rPr>
              <a:t>生产</a:t>
            </a:r>
            <a:r>
              <a:rPr lang="en-US" altLang="zh-CN" sz="3600" b="1" dirty="0" smtClean="0">
                <a:solidFill>
                  <a:schemeClr val="accent3">
                    <a:lumMod val="50000"/>
                  </a:schemeClr>
                </a:solidFill>
              </a:rPr>
              <a:t>/</a:t>
            </a:r>
            <a:r>
              <a:rPr lang="zh-CN" altLang="en-US" sz="3600" b="1" dirty="0" smtClean="0">
                <a:solidFill>
                  <a:schemeClr val="accent3">
                    <a:lumMod val="50000"/>
                  </a:schemeClr>
                </a:solidFill>
              </a:rPr>
              <a:t>消费模型</a:t>
            </a:r>
            <a:endParaRPr lang="zh-CN" altLang="en-US" sz="3600" b="1" dirty="0">
              <a:solidFill>
                <a:schemeClr val="accent3">
                  <a:lumMod val="50000"/>
                </a:schemeClr>
              </a:solidFill>
            </a:endParaRPr>
          </a:p>
        </p:txBody>
      </p:sp>
    </p:spTree>
    <p:extLst>
      <p:ext uri="{BB962C8B-B14F-4D97-AF65-F5344CB8AC3E}">
        <p14:creationId xmlns:p14="http://schemas.microsoft.com/office/powerpoint/2010/main" val="604335231"/>
      </p:ext>
    </p:extLst>
  </p:cSld>
  <p:clrMapOvr>
    <a:masterClrMapping/>
  </p:clrMapOvr>
  <p:transition spd="slow">
    <p:push dir="u"/>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3.2 CAN</a:t>
            </a:r>
            <a:r>
              <a:rPr lang="zh-CN" altLang="en-US" dirty="0"/>
              <a:t>协议基础</a:t>
            </a:r>
          </a:p>
        </p:txBody>
      </p:sp>
      <p:sp>
        <p:nvSpPr>
          <p:cNvPr id="3" name="内容占位符 2"/>
          <p:cNvSpPr>
            <a:spLocks noGrp="1"/>
          </p:cNvSpPr>
          <p:nvPr>
            <p:ph idx="1"/>
          </p:nvPr>
        </p:nvSpPr>
        <p:spPr/>
        <p:txBody>
          <a:bodyPr/>
          <a:lstStyle/>
          <a:p>
            <a:pPr>
              <a:buFont typeface="Wingdings" panose="05000000000000000000" pitchFamily="2" charset="2"/>
              <a:buChar char="p"/>
            </a:pPr>
            <a:r>
              <a:rPr lang="zh-CN" altLang="en-US" b="1" dirty="0" smtClean="0">
                <a:solidFill>
                  <a:srgbClr val="FF0000"/>
                </a:solidFill>
              </a:rPr>
              <a:t>设备交互模型</a:t>
            </a:r>
            <a:endParaRPr lang="en-US" altLang="zh-CN" b="1" dirty="0" smtClean="0">
              <a:solidFill>
                <a:srgbClr val="FF0000"/>
              </a:solidFill>
            </a:endParaRPr>
          </a:p>
          <a:p>
            <a:pPr>
              <a:buFont typeface="Arial" panose="020B0604020202020204" pitchFamily="34" charset="0"/>
              <a:buChar char="•"/>
            </a:pPr>
            <a:r>
              <a:rPr lang="en-US" altLang="zh-CN" sz="2400" dirty="0" smtClean="0">
                <a:solidFill>
                  <a:schemeClr val="accent3">
                    <a:lumMod val="50000"/>
                  </a:schemeClr>
                </a:solidFill>
              </a:rPr>
              <a:t>CAN</a:t>
            </a:r>
            <a:r>
              <a:rPr lang="zh-CN" altLang="en-US" sz="2400" dirty="0" smtClean="0">
                <a:solidFill>
                  <a:schemeClr val="accent3">
                    <a:lumMod val="50000"/>
                  </a:schemeClr>
                </a:solidFill>
              </a:rPr>
              <a:t>适用于依据生产</a:t>
            </a:r>
            <a:r>
              <a:rPr lang="en-US" altLang="zh-CN" sz="2400" dirty="0" smtClean="0">
                <a:solidFill>
                  <a:schemeClr val="accent3">
                    <a:lumMod val="50000"/>
                  </a:schemeClr>
                </a:solidFill>
              </a:rPr>
              <a:t>/</a:t>
            </a:r>
            <a:r>
              <a:rPr lang="zh-CN" altLang="en-US" sz="2400" dirty="0" smtClean="0">
                <a:solidFill>
                  <a:schemeClr val="accent3">
                    <a:lumMod val="50000"/>
                  </a:schemeClr>
                </a:solidFill>
              </a:rPr>
              <a:t>消费模型进行设备交互的分布式系统，其中生产者节点在网络上广播数据帧，消费节点依据</a:t>
            </a:r>
            <a:r>
              <a:rPr lang="en-US" altLang="zh-CN" sz="2400" dirty="0" smtClean="0">
                <a:solidFill>
                  <a:schemeClr val="accent3">
                    <a:lumMod val="50000"/>
                  </a:schemeClr>
                </a:solidFill>
              </a:rPr>
              <a:t>ID</a:t>
            </a:r>
            <a:r>
              <a:rPr lang="zh-CN" altLang="en-US" sz="2400" dirty="0" smtClean="0">
                <a:solidFill>
                  <a:schemeClr val="accent3">
                    <a:lumMod val="50000"/>
                  </a:schemeClr>
                </a:solidFill>
              </a:rPr>
              <a:t>获得其所需要的数据，不需要单独的仲裁单元参与信息传递过程；</a:t>
            </a:r>
            <a:endParaRPr lang="en-US" altLang="zh-CN" sz="2400" dirty="0" smtClean="0">
              <a:solidFill>
                <a:schemeClr val="accent3">
                  <a:lumMod val="50000"/>
                </a:schemeClr>
              </a:solidFill>
            </a:endParaRPr>
          </a:p>
          <a:p>
            <a:pPr>
              <a:buFont typeface="Arial" panose="020B0604020202020204" pitchFamily="34" charset="0"/>
              <a:buChar char="•"/>
            </a:pPr>
            <a:r>
              <a:rPr lang="zh-CN" altLang="en-US" sz="2400" dirty="0" smtClean="0">
                <a:solidFill>
                  <a:schemeClr val="accent3">
                    <a:lumMod val="50000"/>
                  </a:schemeClr>
                </a:solidFill>
              </a:rPr>
              <a:t>在传统的使用主</a:t>
            </a:r>
            <a:r>
              <a:rPr lang="en-US" altLang="zh-CN" sz="2400" dirty="0" smtClean="0">
                <a:solidFill>
                  <a:schemeClr val="accent3">
                    <a:lumMod val="50000"/>
                  </a:schemeClr>
                </a:solidFill>
              </a:rPr>
              <a:t>/</a:t>
            </a:r>
            <a:r>
              <a:rPr lang="zh-CN" altLang="en-US" sz="2400" dirty="0" smtClean="0">
                <a:solidFill>
                  <a:schemeClr val="accent3">
                    <a:lumMod val="50000"/>
                  </a:schemeClr>
                </a:solidFill>
              </a:rPr>
              <a:t>从模式的系统互连设备中，主节点可以使用远程帧在网络上请求数据，随后数据被生产者发送至网络；</a:t>
            </a:r>
            <a:endParaRPr lang="en-US" altLang="zh-CN" sz="2400" dirty="0" smtClean="0">
              <a:solidFill>
                <a:schemeClr val="accent3">
                  <a:lumMod val="50000"/>
                </a:schemeClr>
              </a:solidFill>
            </a:endParaRPr>
          </a:p>
          <a:p>
            <a:pPr>
              <a:buFont typeface="Arial" panose="020B0604020202020204" pitchFamily="34" charset="0"/>
              <a:buChar char="•"/>
            </a:pPr>
            <a:r>
              <a:rPr lang="zh-CN" altLang="en-US" sz="2400" dirty="0">
                <a:solidFill>
                  <a:schemeClr val="accent3">
                    <a:lumMod val="50000"/>
                  </a:schemeClr>
                </a:solidFill>
              </a:rPr>
              <a:t>被请求的数据不需要立刻响应</a:t>
            </a:r>
            <a:r>
              <a:rPr lang="zh-CN" altLang="en-US" sz="2400" dirty="0" smtClean="0">
                <a:solidFill>
                  <a:schemeClr val="accent3">
                    <a:lumMod val="50000"/>
                  </a:schemeClr>
                </a:solidFill>
              </a:rPr>
              <a:t>请求，即在等待节点响应时，总线不是被占用的，此时系统带宽可以全部被其他用途使用；</a:t>
            </a:r>
            <a:endParaRPr lang="en-US" altLang="zh-CN" sz="2400" dirty="0" smtClean="0">
              <a:solidFill>
                <a:schemeClr val="accent3">
                  <a:lumMod val="50000"/>
                </a:schemeClr>
              </a:solidFill>
            </a:endParaRPr>
          </a:p>
          <a:p>
            <a:pPr>
              <a:buFont typeface="Arial" panose="020B0604020202020204" pitchFamily="34" charset="0"/>
              <a:buChar char="•"/>
            </a:pPr>
            <a:r>
              <a:rPr lang="zh-CN" altLang="en-US" sz="2400" dirty="0" smtClean="0">
                <a:solidFill>
                  <a:schemeClr val="accent3">
                    <a:lumMod val="50000"/>
                  </a:schemeClr>
                </a:solidFill>
              </a:rPr>
              <a:t>响应的数据在整个网络上进行广播，除请求节点外，对其感兴趣的其他节点也可以获得数据。</a:t>
            </a:r>
            <a:endParaRPr lang="zh-CN" altLang="en-US" sz="2400" dirty="0">
              <a:solidFill>
                <a:schemeClr val="accent3">
                  <a:lumMod val="50000"/>
                </a:schemeClr>
              </a:solidFill>
            </a:endParaRPr>
          </a:p>
        </p:txBody>
      </p:sp>
    </p:spTree>
    <p:extLst>
      <p:ext uri="{BB962C8B-B14F-4D97-AF65-F5344CB8AC3E}">
        <p14:creationId xmlns:p14="http://schemas.microsoft.com/office/powerpoint/2010/main" val="970721931"/>
      </p:ext>
    </p:extLst>
  </p:cSld>
  <p:clrMapOvr>
    <a:masterClrMapping/>
  </p:clrMapOvr>
  <p:transition spd="slow">
    <p:push dir="u"/>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3.2 CAN</a:t>
            </a:r>
            <a:r>
              <a:rPr lang="zh-CN" altLang="en-US" dirty="0"/>
              <a:t>协议基础</a:t>
            </a:r>
          </a:p>
        </p:txBody>
      </p:sp>
      <p:sp>
        <p:nvSpPr>
          <p:cNvPr id="3" name="内容占位符 2"/>
          <p:cNvSpPr>
            <a:spLocks noGrp="1"/>
          </p:cNvSpPr>
          <p:nvPr>
            <p:ph idx="1"/>
          </p:nvPr>
        </p:nvSpPr>
        <p:spPr/>
        <p:txBody>
          <a:bodyPr/>
          <a:lstStyle/>
          <a:p>
            <a:pPr>
              <a:buFont typeface="Wingdings" panose="05000000000000000000" pitchFamily="2" charset="2"/>
              <a:buChar char="p"/>
            </a:pPr>
            <a:r>
              <a:rPr lang="zh-CN" altLang="en-US" b="1" dirty="0" smtClean="0">
                <a:solidFill>
                  <a:srgbClr val="FF0000"/>
                </a:solidFill>
              </a:rPr>
              <a:t>功能实现</a:t>
            </a:r>
            <a:endParaRPr lang="en-US" altLang="zh-CN" b="1" dirty="0" smtClean="0">
              <a:solidFill>
                <a:srgbClr val="FF0000"/>
              </a:solidFill>
            </a:endParaRPr>
          </a:p>
          <a:p>
            <a:pPr>
              <a:buFont typeface="Arial" panose="020B0604020202020204" pitchFamily="34" charset="0"/>
              <a:buChar char="•"/>
            </a:pPr>
            <a:r>
              <a:rPr lang="zh-CN" altLang="en-US" sz="2400" dirty="0" smtClean="0">
                <a:solidFill>
                  <a:schemeClr val="accent3">
                    <a:lumMod val="50000"/>
                  </a:schemeClr>
                </a:solidFill>
              </a:rPr>
              <a:t>依据内部结构，</a:t>
            </a:r>
            <a:r>
              <a:rPr lang="en-US" altLang="zh-CN" sz="2400" dirty="0" smtClean="0">
                <a:solidFill>
                  <a:schemeClr val="accent3">
                    <a:lumMod val="50000"/>
                  </a:schemeClr>
                </a:solidFill>
              </a:rPr>
              <a:t>CAN</a:t>
            </a:r>
            <a:r>
              <a:rPr lang="zh-CN" altLang="en-US" sz="2400" dirty="0" smtClean="0">
                <a:solidFill>
                  <a:schemeClr val="accent3">
                    <a:lumMod val="50000"/>
                  </a:schemeClr>
                </a:solidFill>
              </a:rPr>
              <a:t>控制器可以被分为</a:t>
            </a:r>
            <a:r>
              <a:rPr lang="zh-CN" altLang="en-US" sz="2400" dirty="0" smtClean="0">
                <a:solidFill>
                  <a:srgbClr val="C00000"/>
                </a:solidFill>
              </a:rPr>
              <a:t>两类</a:t>
            </a:r>
            <a:r>
              <a:rPr lang="zh-CN" altLang="en-US" sz="2400" dirty="0" smtClean="0">
                <a:solidFill>
                  <a:schemeClr val="accent3">
                    <a:lumMod val="50000"/>
                  </a:schemeClr>
                </a:solidFill>
              </a:rPr>
              <a:t>：</a:t>
            </a:r>
            <a:r>
              <a:rPr lang="en-US" altLang="zh-CN" sz="2400" dirty="0" err="1" smtClean="0">
                <a:solidFill>
                  <a:schemeClr val="accent3">
                    <a:lumMod val="50000"/>
                  </a:schemeClr>
                </a:solidFill>
              </a:rPr>
              <a:t>BasicCAN</a:t>
            </a:r>
            <a:r>
              <a:rPr lang="zh-CN" altLang="en-US" sz="2400" dirty="0" smtClean="0">
                <a:solidFill>
                  <a:schemeClr val="accent3">
                    <a:lumMod val="50000"/>
                  </a:schemeClr>
                </a:solidFill>
              </a:rPr>
              <a:t>与</a:t>
            </a:r>
            <a:r>
              <a:rPr lang="en-US" altLang="zh-CN" sz="2400" dirty="0" err="1" smtClean="0">
                <a:solidFill>
                  <a:schemeClr val="accent3">
                    <a:lumMod val="50000"/>
                  </a:schemeClr>
                </a:solidFill>
              </a:rPr>
              <a:t>FullCAN</a:t>
            </a:r>
            <a:r>
              <a:rPr lang="zh-CN" altLang="en-US" sz="2400" dirty="0" smtClean="0">
                <a:solidFill>
                  <a:schemeClr val="accent3">
                    <a:lumMod val="50000"/>
                  </a:schemeClr>
                </a:solidFill>
              </a:rPr>
              <a:t>；</a:t>
            </a:r>
            <a:endParaRPr lang="en-US" altLang="zh-CN" sz="2400" dirty="0" smtClean="0">
              <a:solidFill>
                <a:schemeClr val="accent3">
                  <a:lumMod val="50000"/>
                </a:schemeClr>
              </a:solidFill>
            </a:endParaRPr>
          </a:p>
          <a:p>
            <a:pPr>
              <a:buFont typeface="Arial" panose="020B0604020202020204" pitchFamily="34" charset="0"/>
              <a:buChar char="•"/>
            </a:pPr>
            <a:r>
              <a:rPr lang="en-US" altLang="zh-CN" sz="2400" dirty="0" err="1" smtClean="0">
                <a:solidFill>
                  <a:schemeClr val="accent3">
                    <a:lumMod val="50000"/>
                  </a:schemeClr>
                </a:solidFill>
              </a:rPr>
              <a:t>BasicCAN</a:t>
            </a:r>
            <a:r>
              <a:rPr lang="zh-CN" altLang="en-US" sz="2400" dirty="0" smtClean="0">
                <a:solidFill>
                  <a:schemeClr val="accent3">
                    <a:lumMod val="50000"/>
                  </a:schemeClr>
                </a:solidFill>
              </a:rPr>
              <a:t>控制器提供一个发送，一个接收缓冲区，其帧过滤机制在上层应用中实现（如与</a:t>
            </a:r>
            <a:r>
              <a:rPr lang="en-US" altLang="zh-CN" sz="2400" dirty="0">
                <a:solidFill>
                  <a:schemeClr val="accent3">
                    <a:lumMod val="50000"/>
                  </a:schemeClr>
                </a:solidFill>
              </a:rPr>
              <a:t>CAN</a:t>
            </a:r>
            <a:r>
              <a:rPr lang="zh-CN" altLang="en-US" sz="2400" dirty="0" smtClean="0">
                <a:solidFill>
                  <a:schemeClr val="accent3">
                    <a:lumMod val="50000"/>
                  </a:schemeClr>
                </a:solidFill>
              </a:rPr>
              <a:t>控制器交互的主处理器）。典型芯片 </a:t>
            </a:r>
            <a:r>
              <a:rPr lang="en-US" altLang="zh-CN" sz="2400" dirty="0" smtClean="0">
                <a:solidFill>
                  <a:schemeClr val="accent3">
                    <a:lumMod val="50000"/>
                  </a:schemeClr>
                </a:solidFill>
              </a:rPr>
              <a:t>– Philips</a:t>
            </a:r>
            <a:r>
              <a:rPr lang="zh-CN" altLang="en-US" sz="2400" dirty="0">
                <a:solidFill>
                  <a:schemeClr val="accent3">
                    <a:lumMod val="50000"/>
                  </a:schemeClr>
                </a:solidFill>
              </a:rPr>
              <a:t> </a:t>
            </a:r>
            <a:r>
              <a:rPr lang="en-US" altLang="zh-CN" sz="2400" dirty="0" smtClean="0">
                <a:solidFill>
                  <a:schemeClr val="accent3">
                    <a:lumMod val="50000"/>
                  </a:schemeClr>
                </a:solidFill>
              </a:rPr>
              <a:t>PCA82C200</a:t>
            </a:r>
            <a:r>
              <a:rPr lang="zh-CN" altLang="en-US" sz="2400" dirty="0" smtClean="0">
                <a:solidFill>
                  <a:schemeClr val="accent3">
                    <a:lumMod val="50000"/>
                  </a:schemeClr>
                </a:solidFill>
              </a:rPr>
              <a:t>，</a:t>
            </a:r>
            <a:r>
              <a:rPr lang="en-US" altLang="zh-CN" sz="2400" dirty="0" smtClean="0">
                <a:solidFill>
                  <a:schemeClr val="accent3">
                    <a:lumMod val="50000"/>
                  </a:schemeClr>
                </a:solidFill>
              </a:rPr>
              <a:t>SJA1000</a:t>
            </a:r>
            <a:r>
              <a:rPr lang="zh-CN" altLang="en-US" sz="2400" dirty="0" smtClean="0">
                <a:solidFill>
                  <a:schemeClr val="accent3">
                    <a:lumMod val="50000"/>
                  </a:schemeClr>
                </a:solidFill>
              </a:rPr>
              <a:t>；</a:t>
            </a:r>
            <a:endParaRPr lang="en-US" altLang="zh-CN" sz="2400" dirty="0" smtClean="0">
              <a:solidFill>
                <a:schemeClr val="accent3">
                  <a:lumMod val="50000"/>
                </a:schemeClr>
              </a:solidFill>
            </a:endParaRPr>
          </a:p>
          <a:p>
            <a:pPr>
              <a:buFont typeface="Arial" panose="020B0604020202020204" pitchFamily="34" charset="0"/>
              <a:buChar char="•"/>
            </a:pPr>
            <a:r>
              <a:rPr lang="en-US" altLang="zh-CN" sz="2400" dirty="0" err="1" smtClean="0">
                <a:solidFill>
                  <a:schemeClr val="accent3">
                    <a:lumMod val="50000"/>
                  </a:schemeClr>
                </a:solidFill>
              </a:rPr>
              <a:t>FullCAN</a:t>
            </a:r>
            <a:r>
              <a:rPr lang="zh-CN" altLang="en-US" sz="2400" dirty="0" smtClean="0">
                <a:solidFill>
                  <a:schemeClr val="accent3">
                    <a:lumMod val="50000"/>
                  </a:schemeClr>
                </a:solidFill>
              </a:rPr>
              <a:t>的实现中，有一定数量的内部缓冲区可以被配置成接收或发送某些特定的信息。在此条件下，帧过滤功能由</a:t>
            </a:r>
            <a:r>
              <a:rPr lang="en-US" altLang="zh-CN" sz="2400" dirty="0" smtClean="0">
                <a:solidFill>
                  <a:schemeClr val="accent3">
                    <a:lumMod val="50000"/>
                  </a:schemeClr>
                </a:solidFill>
              </a:rPr>
              <a:t>CAN</a:t>
            </a:r>
            <a:r>
              <a:rPr lang="zh-CN" altLang="en-US" sz="2400" dirty="0" smtClean="0">
                <a:solidFill>
                  <a:schemeClr val="accent3">
                    <a:lumMod val="50000"/>
                  </a:schemeClr>
                </a:solidFill>
              </a:rPr>
              <a:t>控制器直接提供；总线上节点相关的帧被存入缓冲区，随后由主控制器读取。典型芯片 </a:t>
            </a:r>
            <a:r>
              <a:rPr lang="en-US" altLang="zh-CN" sz="2400" dirty="0" smtClean="0">
                <a:solidFill>
                  <a:schemeClr val="accent3">
                    <a:lumMod val="50000"/>
                  </a:schemeClr>
                </a:solidFill>
              </a:rPr>
              <a:t>– Intel 82526</a:t>
            </a:r>
            <a:r>
              <a:rPr lang="zh-CN" altLang="en-US" sz="2400" dirty="0" smtClean="0">
                <a:solidFill>
                  <a:schemeClr val="accent3">
                    <a:lumMod val="50000"/>
                  </a:schemeClr>
                </a:solidFill>
              </a:rPr>
              <a:t>，</a:t>
            </a:r>
            <a:r>
              <a:rPr lang="en-US" altLang="zh-CN" sz="2400" dirty="0" smtClean="0">
                <a:solidFill>
                  <a:schemeClr val="accent3">
                    <a:lumMod val="50000"/>
                  </a:schemeClr>
                </a:solidFill>
              </a:rPr>
              <a:t>82527</a:t>
            </a:r>
            <a:r>
              <a:rPr lang="zh-CN" altLang="en-US" sz="2400" dirty="0" smtClean="0">
                <a:solidFill>
                  <a:schemeClr val="accent3">
                    <a:lumMod val="50000"/>
                  </a:schemeClr>
                </a:solidFill>
              </a:rPr>
              <a:t>；</a:t>
            </a:r>
            <a:endParaRPr lang="en-US" altLang="zh-CN" sz="2400" dirty="0" smtClean="0">
              <a:solidFill>
                <a:schemeClr val="accent3">
                  <a:lumMod val="50000"/>
                </a:schemeClr>
              </a:solidFill>
            </a:endParaRPr>
          </a:p>
          <a:p>
            <a:pPr>
              <a:buFont typeface="Arial" panose="020B0604020202020204" pitchFamily="34" charset="0"/>
              <a:buChar char="•"/>
            </a:pPr>
            <a:endParaRPr lang="en-US" altLang="zh-CN" sz="2400" dirty="0" smtClean="0">
              <a:solidFill>
                <a:schemeClr val="accent3">
                  <a:lumMod val="50000"/>
                </a:schemeClr>
              </a:solidFill>
            </a:endParaRPr>
          </a:p>
          <a:p>
            <a:pPr>
              <a:buFont typeface="Arial" panose="020B0604020202020204" pitchFamily="34" charset="0"/>
              <a:buChar char="•"/>
            </a:pPr>
            <a:endParaRPr lang="zh-CN" altLang="en-US" sz="2400" dirty="0">
              <a:solidFill>
                <a:schemeClr val="accent3">
                  <a:lumMod val="50000"/>
                </a:schemeClr>
              </a:solidFill>
            </a:endParaRPr>
          </a:p>
        </p:txBody>
      </p:sp>
    </p:spTree>
    <p:extLst>
      <p:ext uri="{BB962C8B-B14F-4D97-AF65-F5344CB8AC3E}">
        <p14:creationId xmlns:p14="http://schemas.microsoft.com/office/powerpoint/2010/main" val="1831726115"/>
      </p:ext>
    </p:extLst>
  </p:cSld>
  <p:clrMapOvr>
    <a:masterClrMapping/>
  </p:clrMapOvr>
  <p:transition spd="slow">
    <p:push dir="u"/>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p:cNvSpPr>
            <a:spLocks noGrp="1"/>
          </p:cNvSpPr>
          <p:nvPr>
            <p:ph type="title"/>
          </p:nvPr>
        </p:nvSpPr>
        <p:spPr/>
        <p:txBody>
          <a:bodyPr/>
          <a:lstStyle/>
          <a:p>
            <a:pPr eaLnBrk="1" hangingPunct="1"/>
            <a:r>
              <a:rPr lang="zh-CN" altLang="en-US" dirty="0" smtClean="0"/>
              <a:t>第</a:t>
            </a:r>
            <a:r>
              <a:rPr lang="en-US" altLang="zh-CN" dirty="0" smtClean="0"/>
              <a:t>3</a:t>
            </a:r>
            <a:r>
              <a:rPr lang="zh-CN" altLang="en-US" dirty="0" smtClean="0"/>
              <a:t>章 </a:t>
            </a:r>
            <a:r>
              <a:rPr lang="en-US" altLang="zh-CN" dirty="0" smtClean="0"/>
              <a:t>CAN</a:t>
            </a:r>
            <a:r>
              <a:rPr lang="zh-CN" altLang="en-US" dirty="0" smtClean="0"/>
              <a:t>总线</a:t>
            </a:r>
          </a:p>
        </p:txBody>
      </p:sp>
      <p:sp>
        <p:nvSpPr>
          <p:cNvPr id="4099" name="内容占位符 2"/>
          <p:cNvSpPr>
            <a:spLocks noGrp="1"/>
          </p:cNvSpPr>
          <p:nvPr>
            <p:ph idx="1"/>
          </p:nvPr>
        </p:nvSpPr>
        <p:spPr/>
        <p:txBody>
          <a:bodyPr/>
          <a:lstStyle/>
          <a:p>
            <a:pPr eaLnBrk="1" hangingPunct="1">
              <a:defRPr/>
            </a:pPr>
            <a:r>
              <a:rPr lang="en-US" altLang="zh-CN" dirty="0" smtClean="0">
                <a:solidFill>
                  <a:schemeClr val="accent3">
                    <a:lumMod val="50000"/>
                  </a:schemeClr>
                </a:solidFill>
              </a:rPr>
              <a:t>3.1 </a:t>
            </a:r>
            <a:r>
              <a:rPr lang="zh-CN" altLang="en-US" dirty="0" smtClean="0">
                <a:solidFill>
                  <a:schemeClr val="accent3">
                    <a:lumMod val="50000"/>
                  </a:schemeClr>
                </a:solidFill>
              </a:rPr>
              <a:t>概述</a:t>
            </a:r>
            <a:endParaRPr lang="en-US" altLang="zh-CN" dirty="0" smtClean="0">
              <a:solidFill>
                <a:schemeClr val="accent3">
                  <a:lumMod val="50000"/>
                </a:schemeClr>
              </a:solidFill>
            </a:endParaRPr>
          </a:p>
          <a:p>
            <a:pPr eaLnBrk="1" hangingPunct="1">
              <a:defRPr/>
            </a:pPr>
            <a:r>
              <a:rPr lang="en-US" altLang="zh-CN" dirty="0" smtClean="0">
                <a:solidFill>
                  <a:schemeClr val="accent3">
                    <a:lumMod val="50000"/>
                  </a:schemeClr>
                </a:solidFill>
              </a:rPr>
              <a:t>3.2 </a:t>
            </a:r>
            <a:r>
              <a:rPr lang="en-US" altLang="zh-CN" dirty="0">
                <a:solidFill>
                  <a:schemeClr val="accent3">
                    <a:lumMod val="50000"/>
                  </a:schemeClr>
                </a:solidFill>
              </a:rPr>
              <a:t>CAN</a:t>
            </a:r>
            <a:r>
              <a:rPr lang="zh-CN" altLang="en-US" dirty="0">
                <a:solidFill>
                  <a:schemeClr val="accent3">
                    <a:lumMod val="50000"/>
                  </a:schemeClr>
                </a:solidFill>
              </a:rPr>
              <a:t>协议基础</a:t>
            </a:r>
            <a:endParaRPr lang="en-US" altLang="zh-CN" dirty="0" smtClean="0">
              <a:solidFill>
                <a:schemeClr val="accent3">
                  <a:lumMod val="50000"/>
                </a:schemeClr>
              </a:solidFill>
            </a:endParaRPr>
          </a:p>
          <a:p>
            <a:pPr eaLnBrk="1" hangingPunct="1">
              <a:defRPr/>
            </a:pPr>
            <a:r>
              <a:rPr lang="en-US" altLang="zh-CN" dirty="0" smtClean="0">
                <a:solidFill>
                  <a:srgbClr val="FF0000"/>
                </a:solidFill>
              </a:rPr>
              <a:t>3.3 CAN</a:t>
            </a:r>
            <a:r>
              <a:rPr lang="zh-CN" altLang="en-US" dirty="0" smtClean="0">
                <a:solidFill>
                  <a:srgbClr val="FF0000"/>
                </a:solidFill>
              </a:rPr>
              <a:t>总线的优势与不足</a:t>
            </a:r>
            <a:endParaRPr lang="zh-CN" altLang="en-US" dirty="0">
              <a:solidFill>
                <a:srgbClr val="FF0000"/>
              </a:solidFill>
            </a:endParaRPr>
          </a:p>
        </p:txBody>
      </p:sp>
    </p:spTree>
  </p:cSld>
  <p:clrMapOvr>
    <a:masterClrMapping/>
  </p:clrMapOvr>
  <p:transition spd="slow">
    <p:push dir="u"/>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 CAN</a:t>
            </a:r>
            <a:r>
              <a:rPr lang="zh-CN" altLang="en-US" dirty="0"/>
              <a:t>总线</a:t>
            </a:r>
            <a:r>
              <a:rPr lang="zh-CN" altLang="en-US" dirty="0" smtClean="0"/>
              <a:t>的</a:t>
            </a:r>
            <a:r>
              <a:rPr lang="zh-CN" altLang="en-US" dirty="0"/>
              <a:t>优势</a:t>
            </a:r>
            <a:r>
              <a:rPr lang="zh-CN" altLang="en-US" dirty="0" smtClean="0"/>
              <a:t>与不足</a:t>
            </a:r>
            <a:endParaRPr lang="zh-CN" altLang="en-US" dirty="0"/>
          </a:p>
        </p:txBody>
      </p:sp>
      <p:sp>
        <p:nvSpPr>
          <p:cNvPr id="3" name="内容占位符 2"/>
          <p:cNvSpPr>
            <a:spLocks noGrp="1"/>
          </p:cNvSpPr>
          <p:nvPr>
            <p:ph idx="1"/>
          </p:nvPr>
        </p:nvSpPr>
        <p:spPr/>
        <p:txBody>
          <a:bodyPr/>
          <a:lstStyle/>
          <a:p>
            <a:pPr marL="0" indent="0">
              <a:buNone/>
            </a:pPr>
            <a:r>
              <a:rPr lang="en-US" altLang="zh-CN" sz="2400" b="1" dirty="0" smtClean="0">
                <a:solidFill>
                  <a:schemeClr val="accent3">
                    <a:lumMod val="75000"/>
                  </a:schemeClr>
                </a:solidFill>
              </a:rPr>
              <a:t>CAN</a:t>
            </a:r>
            <a:r>
              <a:rPr lang="zh-CN" altLang="en-US" sz="2400" b="1" dirty="0" smtClean="0">
                <a:solidFill>
                  <a:schemeClr val="accent3">
                    <a:lumMod val="75000"/>
                  </a:schemeClr>
                </a:solidFill>
              </a:rPr>
              <a:t>网络中，节点可以竞争获得总线所有权，进而发送信息，其是真正的多主节点网络，在事件驱动系统中应用具有优势。</a:t>
            </a:r>
            <a:endParaRPr lang="en-US" altLang="zh-CN" sz="2400" b="1" dirty="0" smtClean="0">
              <a:solidFill>
                <a:schemeClr val="accent3">
                  <a:lumMod val="75000"/>
                </a:schemeClr>
              </a:solidFill>
            </a:endParaRPr>
          </a:p>
          <a:p>
            <a:pPr marL="0" indent="0">
              <a:buNone/>
            </a:pPr>
            <a:r>
              <a:rPr lang="en-US" altLang="zh-CN" sz="2800" b="1" dirty="0" smtClean="0">
                <a:solidFill>
                  <a:srgbClr val="FF0000"/>
                </a:solidFill>
              </a:rPr>
              <a:t>1. </a:t>
            </a:r>
            <a:r>
              <a:rPr lang="zh-CN" altLang="en-US" sz="2800" b="1" dirty="0" smtClean="0">
                <a:solidFill>
                  <a:srgbClr val="FF0000"/>
                </a:solidFill>
              </a:rPr>
              <a:t>优势</a:t>
            </a:r>
            <a:endParaRPr lang="en-US" altLang="zh-CN" sz="2800" b="1" dirty="0" smtClean="0">
              <a:solidFill>
                <a:srgbClr val="FF0000"/>
              </a:solidFill>
            </a:endParaRPr>
          </a:p>
          <a:p>
            <a:pPr>
              <a:buFont typeface="Wingdings" panose="05000000000000000000" pitchFamily="2" charset="2"/>
              <a:buChar char="p"/>
            </a:pPr>
            <a:r>
              <a:rPr lang="zh-CN" altLang="en-US" sz="2800" b="1" dirty="0" smtClean="0">
                <a:solidFill>
                  <a:srgbClr val="FF0000"/>
                </a:solidFill>
              </a:rPr>
              <a:t>与其他现场总线比较</a:t>
            </a:r>
            <a:endParaRPr lang="en-US" altLang="zh-CN" sz="2800" b="1" dirty="0" smtClean="0">
              <a:solidFill>
                <a:srgbClr val="FF0000"/>
              </a:solidFill>
            </a:endParaRPr>
          </a:p>
          <a:p>
            <a:pPr>
              <a:buFont typeface="Arial" panose="020B0604020202020204" pitchFamily="34" charset="0"/>
              <a:buChar char="•"/>
            </a:pPr>
            <a:r>
              <a:rPr lang="zh-CN" altLang="en-US" sz="2400" dirty="0">
                <a:solidFill>
                  <a:schemeClr val="accent3">
                    <a:lumMod val="50000"/>
                  </a:schemeClr>
                </a:solidFill>
              </a:rPr>
              <a:t>与使用</a:t>
            </a:r>
            <a:r>
              <a:rPr lang="zh-CN" altLang="en-US" sz="2400" dirty="0" smtClean="0">
                <a:solidFill>
                  <a:srgbClr val="C00000"/>
                </a:solidFill>
              </a:rPr>
              <a:t>令牌访问</a:t>
            </a:r>
            <a:r>
              <a:rPr lang="zh-CN" altLang="en-US" sz="2400" dirty="0">
                <a:solidFill>
                  <a:schemeClr val="accent3">
                    <a:lumMod val="50000"/>
                  </a:schemeClr>
                </a:solidFill>
              </a:rPr>
              <a:t>技术的协议相比（如</a:t>
            </a:r>
            <a:r>
              <a:rPr lang="en-US" altLang="zh-CN" sz="2400" dirty="0">
                <a:solidFill>
                  <a:schemeClr val="accent3">
                    <a:lumMod val="50000"/>
                  </a:schemeClr>
                </a:solidFill>
              </a:rPr>
              <a:t>PROFIBUS</a:t>
            </a:r>
            <a:r>
              <a:rPr lang="zh-CN" altLang="en-US" sz="2400" dirty="0">
                <a:solidFill>
                  <a:schemeClr val="accent3">
                    <a:lumMod val="50000"/>
                  </a:schemeClr>
                </a:solidFill>
              </a:rPr>
              <a:t>），</a:t>
            </a:r>
            <a:r>
              <a:rPr lang="en-US" altLang="zh-CN" sz="2400" dirty="0">
                <a:solidFill>
                  <a:schemeClr val="accent3">
                    <a:lumMod val="50000"/>
                  </a:schemeClr>
                </a:solidFill>
              </a:rPr>
              <a:t>CAN</a:t>
            </a:r>
            <a:r>
              <a:rPr lang="zh-CN" altLang="en-US" sz="2400" dirty="0">
                <a:solidFill>
                  <a:schemeClr val="accent3">
                    <a:lumMod val="50000"/>
                  </a:schemeClr>
                </a:solidFill>
              </a:rPr>
              <a:t>更简单更鲁棒，其不需建立或维护逻辑环，也不需管理主站间令牌的循环传递；</a:t>
            </a:r>
            <a:endParaRPr lang="en-US" altLang="zh-CN" sz="2400" dirty="0">
              <a:solidFill>
                <a:schemeClr val="accent3">
                  <a:lumMod val="50000"/>
                </a:schemeClr>
              </a:solidFill>
            </a:endParaRPr>
          </a:p>
          <a:p>
            <a:pPr>
              <a:buFont typeface="Arial" panose="020B0604020202020204" pitchFamily="34" charset="0"/>
              <a:buChar char="•"/>
            </a:pPr>
            <a:r>
              <a:rPr lang="zh-CN" altLang="en-US" sz="2400" dirty="0">
                <a:solidFill>
                  <a:schemeClr val="accent3">
                    <a:lumMod val="50000"/>
                  </a:schemeClr>
                </a:solidFill>
              </a:rPr>
              <a:t>与使用</a:t>
            </a:r>
            <a:r>
              <a:rPr lang="zh-CN" altLang="en-US" sz="2400" dirty="0" smtClean="0">
                <a:solidFill>
                  <a:srgbClr val="C00000"/>
                </a:solidFill>
              </a:rPr>
              <a:t>时分复用</a:t>
            </a:r>
            <a:r>
              <a:rPr lang="zh-CN" altLang="en-US" sz="2400" dirty="0">
                <a:solidFill>
                  <a:schemeClr val="accent3">
                    <a:lumMod val="50000"/>
                  </a:schemeClr>
                </a:solidFill>
              </a:rPr>
              <a:t>或</a:t>
            </a:r>
            <a:r>
              <a:rPr lang="zh-CN" altLang="en-US" sz="2400" dirty="0" smtClean="0">
                <a:solidFill>
                  <a:srgbClr val="C00000"/>
                </a:solidFill>
              </a:rPr>
              <a:t>组合消息</a:t>
            </a:r>
            <a:r>
              <a:rPr lang="zh-CN" altLang="en-US" sz="2400" dirty="0">
                <a:solidFill>
                  <a:schemeClr val="accent3">
                    <a:lumMod val="50000"/>
                  </a:schemeClr>
                </a:solidFill>
              </a:rPr>
              <a:t>技术的协议相比（如</a:t>
            </a:r>
            <a:r>
              <a:rPr lang="en-US" altLang="zh-CN" sz="2400" dirty="0">
                <a:solidFill>
                  <a:schemeClr val="accent3">
                    <a:lumMod val="50000"/>
                  </a:schemeClr>
                </a:solidFill>
              </a:rPr>
              <a:t>SERCOS</a:t>
            </a:r>
            <a:r>
              <a:rPr lang="zh-CN" altLang="en-US" sz="2400" dirty="0">
                <a:solidFill>
                  <a:schemeClr val="accent3">
                    <a:lumMod val="50000"/>
                  </a:schemeClr>
                </a:solidFill>
              </a:rPr>
              <a:t>与</a:t>
            </a:r>
            <a:r>
              <a:rPr lang="en-US" altLang="zh-CN" sz="2400" dirty="0">
                <a:solidFill>
                  <a:schemeClr val="accent3">
                    <a:lumMod val="50000"/>
                  </a:schemeClr>
                </a:solidFill>
              </a:rPr>
              <a:t>INTERBUS</a:t>
            </a:r>
            <a:r>
              <a:rPr lang="zh-CN" altLang="en-US" sz="2400" dirty="0">
                <a:solidFill>
                  <a:schemeClr val="accent3">
                    <a:lumMod val="50000"/>
                  </a:schemeClr>
                </a:solidFill>
              </a:rPr>
              <a:t>），</a:t>
            </a:r>
            <a:r>
              <a:rPr lang="en-US" altLang="zh-CN" sz="2400" dirty="0">
                <a:solidFill>
                  <a:schemeClr val="accent3">
                    <a:lumMod val="50000"/>
                  </a:schemeClr>
                </a:solidFill>
              </a:rPr>
              <a:t>CAN</a:t>
            </a:r>
            <a:r>
              <a:rPr lang="zh-CN" altLang="en-US" sz="2400" dirty="0">
                <a:solidFill>
                  <a:schemeClr val="accent3">
                    <a:lumMod val="50000"/>
                  </a:schemeClr>
                </a:solidFill>
              </a:rPr>
              <a:t>更灵活，其不需事先知道消息传递；</a:t>
            </a:r>
            <a:endParaRPr lang="en-US" altLang="zh-CN" sz="2400" dirty="0">
              <a:solidFill>
                <a:schemeClr val="accent3">
                  <a:lumMod val="50000"/>
                </a:schemeClr>
              </a:solidFill>
            </a:endParaRPr>
          </a:p>
          <a:p>
            <a:pPr>
              <a:buFont typeface="Arial" panose="020B0604020202020204" pitchFamily="34" charset="0"/>
              <a:buChar char="•"/>
            </a:pPr>
            <a:r>
              <a:rPr lang="zh-CN" altLang="en-US" sz="2400" dirty="0">
                <a:solidFill>
                  <a:schemeClr val="accent3">
                    <a:lumMod val="50000"/>
                  </a:schemeClr>
                </a:solidFill>
              </a:rPr>
              <a:t>与使用</a:t>
            </a:r>
            <a:r>
              <a:rPr lang="zh-CN" altLang="en-US" sz="2400" dirty="0" smtClean="0">
                <a:solidFill>
                  <a:srgbClr val="C00000"/>
                </a:solidFill>
              </a:rPr>
              <a:t>集中仲裁</a:t>
            </a:r>
            <a:r>
              <a:rPr lang="zh-CN" altLang="en-US" sz="2400" dirty="0">
                <a:solidFill>
                  <a:schemeClr val="accent3">
                    <a:lumMod val="50000"/>
                  </a:schemeClr>
                </a:solidFill>
              </a:rPr>
              <a:t>技术的协议相比（如</a:t>
            </a:r>
            <a:r>
              <a:rPr lang="en-US" altLang="zh-CN" sz="2400" dirty="0">
                <a:solidFill>
                  <a:schemeClr val="accent3">
                    <a:lumMod val="50000"/>
                  </a:schemeClr>
                </a:solidFill>
              </a:rPr>
              <a:t>FIP</a:t>
            </a:r>
            <a:r>
              <a:rPr lang="zh-CN" altLang="en-US" sz="2400" dirty="0">
                <a:solidFill>
                  <a:schemeClr val="accent3">
                    <a:lumMod val="50000"/>
                  </a:schemeClr>
                </a:solidFill>
              </a:rPr>
              <a:t>），</a:t>
            </a:r>
            <a:r>
              <a:rPr lang="en-US" altLang="zh-CN" sz="2400" dirty="0">
                <a:solidFill>
                  <a:schemeClr val="accent3">
                    <a:lumMod val="50000"/>
                  </a:schemeClr>
                </a:solidFill>
              </a:rPr>
              <a:t>CAN</a:t>
            </a:r>
            <a:r>
              <a:rPr lang="zh-CN" altLang="en-US" sz="2400" dirty="0">
                <a:solidFill>
                  <a:schemeClr val="accent3">
                    <a:lumMod val="50000"/>
                  </a:schemeClr>
                </a:solidFill>
              </a:rPr>
              <a:t>不需要网络上的节点来充当仲裁单元，提高了系统可靠性；</a:t>
            </a:r>
            <a:endParaRPr lang="en-US" altLang="zh-CN" sz="2400" dirty="0">
              <a:solidFill>
                <a:schemeClr val="accent3">
                  <a:lumMod val="50000"/>
                </a:schemeClr>
              </a:solidFill>
            </a:endParaRPr>
          </a:p>
          <a:p>
            <a:pPr>
              <a:buFont typeface="Arial" panose="020B0604020202020204" pitchFamily="34" charset="0"/>
              <a:buChar char="•"/>
            </a:pPr>
            <a:endParaRPr lang="zh-CN" altLang="en-US" sz="2000" dirty="0">
              <a:solidFill>
                <a:schemeClr val="accent3">
                  <a:lumMod val="75000"/>
                </a:schemeClr>
              </a:solidFill>
            </a:endParaRPr>
          </a:p>
        </p:txBody>
      </p:sp>
    </p:spTree>
    <p:extLst>
      <p:ext uri="{BB962C8B-B14F-4D97-AF65-F5344CB8AC3E}">
        <p14:creationId xmlns:p14="http://schemas.microsoft.com/office/powerpoint/2010/main" val="1146988440"/>
      </p:ext>
    </p:extLst>
  </p:cSld>
  <p:clrMapOvr>
    <a:masterClrMapping/>
  </p:clrMapOvr>
  <p:transition spd="slow">
    <p:push dir="u"/>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 CAN</a:t>
            </a:r>
            <a:r>
              <a:rPr lang="zh-CN" altLang="en-US" dirty="0"/>
              <a:t>总线的优势与不足</a:t>
            </a:r>
          </a:p>
        </p:txBody>
      </p:sp>
      <p:sp>
        <p:nvSpPr>
          <p:cNvPr id="3" name="内容占位符 2"/>
          <p:cNvSpPr>
            <a:spLocks noGrp="1"/>
          </p:cNvSpPr>
          <p:nvPr>
            <p:ph idx="1"/>
          </p:nvPr>
        </p:nvSpPr>
        <p:spPr/>
        <p:txBody>
          <a:bodyPr/>
          <a:lstStyle/>
          <a:p>
            <a:pPr>
              <a:buFont typeface="Arial" panose="020B0604020202020204" pitchFamily="34" charset="0"/>
              <a:buChar char="•"/>
            </a:pPr>
            <a:r>
              <a:rPr lang="zh-CN" altLang="en-US" sz="2400" dirty="0" smtClean="0"/>
              <a:t>从</a:t>
            </a:r>
            <a:r>
              <a:rPr lang="en-US" altLang="zh-CN" sz="2400" dirty="0" smtClean="0">
                <a:solidFill>
                  <a:srgbClr val="C00000"/>
                </a:solidFill>
              </a:rPr>
              <a:t>MAC</a:t>
            </a:r>
            <a:r>
              <a:rPr lang="zh-CN" altLang="en-US" sz="2400" dirty="0" smtClean="0">
                <a:solidFill>
                  <a:srgbClr val="C00000"/>
                </a:solidFill>
              </a:rPr>
              <a:t>机制</a:t>
            </a:r>
            <a:r>
              <a:rPr lang="zh-CN" altLang="en-US" sz="2400" dirty="0" smtClean="0"/>
              <a:t>上看，所有的</a:t>
            </a:r>
            <a:r>
              <a:rPr lang="en-US" altLang="zh-CN" sz="2400" dirty="0" smtClean="0"/>
              <a:t>CAN</a:t>
            </a:r>
            <a:r>
              <a:rPr lang="zh-CN" altLang="en-US" sz="2400" dirty="0" smtClean="0"/>
              <a:t>节点都可以为主节点，从而网络中</a:t>
            </a:r>
            <a:r>
              <a:rPr lang="zh-CN" altLang="en-US" sz="2400" dirty="0" smtClean="0">
                <a:solidFill>
                  <a:srgbClr val="C00000"/>
                </a:solidFill>
              </a:rPr>
              <a:t>异步事件的通知</a:t>
            </a:r>
            <a:r>
              <a:rPr lang="zh-CN" altLang="en-US" sz="2400" dirty="0" smtClean="0"/>
              <a:t>（如报警、错误等）非常简单；</a:t>
            </a:r>
            <a:endParaRPr lang="en-US" altLang="zh-CN" sz="2400" dirty="0" smtClean="0"/>
          </a:p>
          <a:p>
            <a:pPr>
              <a:buFont typeface="Arial" panose="020B0604020202020204" pitchFamily="34" charset="0"/>
              <a:buChar char="•"/>
            </a:pPr>
            <a:r>
              <a:rPr lang="zh-CN" altLang="en-US" sz="2400" dirty="0" smtClean="0"/>
              <a:t>从</a:t>
            </a:r>
            <a:r>
              <a:rPr lang="zh-CN" altLang="en-US" sz="2400" dirty="0" smtClean="0">
                <a:solidFill>
                  <a:srgbClr val="C00000"/>
                </a:solidFill>
              </a:rPr>
              <a:t>仲裁机制</a:t>
            </a:r>
            <a:r>
              <a:rPr lang="zh-CN" altLang="en-US" sz="2400" dirty="0" smtClean="0"/>
              <a:t>上看，尽管与大多数通信协议一样，</a:t>
            </a:r>
            <a:r>
              <a:rPr lang="en-US" altLang="zh-CN" sz="2400" dirty="0" smtClean="0"/>
              <a:t>CAN</a:t>
            </a:r>
            <a:r>
              <a:rPr lang="zh-CN" altLang="en-US" sz="2400" dirty="0" smtClean="0">
                <a:solidFill>
                  <a:srgbClr val="C00000"/>
                </a:solidFill>
              </a:rPr>
              <a:t>是非抢占式</a:t>
            </a:r>
            <a:r>
              <a:rPr lang="zh-CN" altLang="en-US" sz="2400" dirty="0" smtClean="0"/>
              <a:t>的，但由于</a:t>
            </a:r>
            <a:r>
              <a:rPr lang="en-US" altLang="zh-CN" sz="2400" dirty="0" smtClean="0"/>
              <a:t>CAN</a:t>
            </a:r>
            <a:r>
              <a:rPr lang="zh-CN" altLang="en-US" sz="2400" dirty="0" smtClean="0"/>
              <a:t>的</a:t>
            </a:r>
            <a:r>
              <a:rPr lang="zh-CN" altLang="en-US" sz="2400" dirty="0" smtClean="0">
                <a:solidFill>
                  <a:srgbClr val="C00000"/>
                </a:solidFill>
              </a:rPr>
              <a:t>帧非常小</a:t>
            </a:r>
            <a:r>
              <a:rPr lang="zh-CN" altLang="en-US" sz="2400" dirty="0" smtClean="0"/>
              <a:t>，已占用总线的</a:t>
            </a:r>
            <a:r>
              <a:rPr lang="zh-CN" altLang="en-US" sz="2400" dirty="0"/>
              <a:t>低</a:t>
            </a:r>
            <a:r>
              <a:rPr lang="zh-CN" altLang="en-US" sz="2400" dirty="0" smtClean="0"/>
              <a:t>优先级节点传输带来的</a:t>
            </a:r>
            <a:r>
              <a:rPr lang="zh-CN" altLang="en-US" sz="2400" dirty="0" smtClean="0">
                <a:solidFill>
                  <a:srgbClr val="C00000"/>
                </a:solidFill>
              </a:rPr>
              <a:t>滞后很短</a:t>
            </a:r>
            <a:r>
              <a:rPr lang="zh-CN" altLang="en-US" sz="2400" dirty="0" smtClean="0"/>
              <a:t>。</a:t>
            </a:r>
            <a:endParaRPr lang="en-US" altLang="zh-CN" sz="2400" dirty="0" smtClean="0"/>
          </a:p>
          <a:p>
            <a:pPr>
              <a:buFont typeface="Wingdings" panose="05000000000000000000" pitchFamily="2" charset="2"/>
              <a:buChar char="p"/>
            </a:pPr>
            <a:r>
              <a:rPr lang="zh-CN" altLang="en-US" sz="2800" b="1" dirty="0" smtClean="0">
                <a:solidFill>
                  <a:srgbClr val="FF0000"/>
                </a:solidFill>
              </a:rPr>
              <a:t>与新的解决方案比较</a:t>
            </a:r>
            <a:endParaRPr lang="en-US" altLang="zh-CN" sz="2800" b="1" dirty="0">
              <a:solidFill>
                <a:srgbClr val="FF0000"/>
              </a:solidFill>
            </a:endParaRPr>
          </a:p>
          <a:p>
            <a:pPr>
              <a:buFont typeface="Arial" panose="020B0604020202020204" pitchFamily="34" charset="0"/>
              <a:buChar char="•"/>
            </a:pPr>
            <a:r>
              <a:rPr lang="zh-CN" altLang="en-US" sz="2400" dirty="0" smtClean="0">
                <a:solidFill>
                  <a:srgbClr val="C00000"/>
                </a:solidFill>
              </a:rPr>
              <a:t>实时以太网具</a:t>
            </a:r>
            <a:r>
              <a:rPr lang="zh-CN" altLang="en-US" sz="2400" dirty="0" smtClean="0"/>
              <a:t>有更高的比特率，非常适合于工业对象及工厂自动化环境中，但由于其成本高，</a:t>
            </a:r>
            <a:r>
              <a:rPr lang="zh-CN" altLang="en-US" sz="2400" dirty="0"/>
              <a:t>目前</a:t>
            </a:r>
            <a:r>
              <a:rPr lang="zh-CN" altLang="en-US" sz="2400" dirty="0" smtClean="0"/>
              <a:t>在</a:t>
            </a:r>
            <a:r>
              <a:rPr lang="en-US" altLang="zh-CN" sz="2400" dirty="0" smtClean="0"/>
              <a:t>CAN</a:t>
            </a:r>
            <a:r>
              <a:rPr lang="zh-CN" altLang="en-US" sz="2400" dirty="0" smtClean="0"/>
              <a:t>应用广泛的网络化嵌入式系统中应用不广；</a:t>
            </a:r>
            <a:endParaRPr lang="en-US" altLang="zh-CN" sz="2400" dirty="0" smtClean="0"/>
          </a:p>
          <a:p>
            <a:pPr>
              <a:buFont typeface="Arial" panose="020B0604020202020204" pitchFamily="34" charset="0"/>
              <a:buChar char="•"/>
            </a:pPr>
            <a:r>
              <a:rPr lang="zh-CN" altLang="en-US" sz="2400" dirty="0" smtClean="0"/>
              <a:t>与</a:t>
            </a:r>
            <a:r>
              <a:rPr lang="en-US" altLang="zh-CN" sz="2400" dirty="0">
                <a:solidFill>
                  <a:srgbClr val="C00000"/>
                </a:solidFill>
              </a:rPr>
              <a:t>TTP/C</a:t>
            </a:r>
            <a:r>
              <a:rPr lang="en-US" altLang="zh-CN" sz="2400" dirty="0"/>
              <a:t>(Time Triggered </a:t>
            </a:r>
            <a:r>
              <a:rPr lang="en-US" altLang="zh-CN" sz="2400" dirty="0" smtClean="0"/>
              <a:t>Protocol-Class C)</a:t>
            </a:r>
            <a:r>
              <a:rPr lang="zh-CN" altLang="en-US" sz="2400" dirty="0" smtClean="0"/>
              <a:t>或</a:t>
            </a:r>
            <a:r>
              <a:rPr lang="en-US" altLang="zh-CN" sz="2400" dirty="0" err="1" smtClean="0">
                <a:solidFill>
                  <a:srgbClr val="C00000"/>
                </a:solidFill>
              </a:rPr>
              <a:t>FlexRay</a:t>
            </a:r>
            <a:r>
              <a:rPr lang="zh-CN" altLang="en-US" sz="2400" dirty="0" smtClean="0"/>
              <a:t>此类新的车载网络相比，</a:t>
            </a:r>
            <a:r>
              <a:rPr lang="en-US" altLang="zh-CN" sz="2400" dirty="0" smtClean="0"/>
              <a:t>CAN</a:t>
            </a:r>
            <a:r>
              <a:rPr lang="zh-CN" altLang="en-US" sz="2400" dirty="0" smtClean="0"/>
              <a:t>更便宜，更简单；</a:t>
            </a:r>
            <a:endParaRPr lang="zh-CN" altLang="en-US" sz="2400" dirty="0"/>
          </a:p>
        </p:txBody>
      </p:sp>
    </p:spTree>
    <p:extLst>
      <p:ext uri="{BB962C8B-B14F-4D97-AF65-F5344CB8AC3E}">
        <p14:creationId xmlns:p14="http://schemas.microsoft.com/office/powerpoint/2010/main" val="4147591070"/>
      </p:ext>
    </p:extLst>
  </p:cSld>
  <p:clrMapOvr>
    <a:masterClrMapping/>
  </p:clrMapOvr>
  <p:transition spd="slow">
    <p:push dir="u"/>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 CAN</a:t>
            </a:r>
            <a:r>
              <a:rPr lang="zh-CN" altLang="en-US" dirty="0"/>
              <a:t>总线的优势与不足</a:t>
            </a:r>
          </a:p>
        </p:txBody>
      </p:sp>
      <p:sp>
        <p:nvSpPr>
          <p:cNvPr id="3" name="内容占位符 2"/>
          <p:cNvSpPr>
            <a:spLocks noGrp="1"/>
          </p:cNvSpPr>
          <p:nvPr>
            <p:ph idx="1"/>
          </p:nvPr>
        </p:nvSpPr>
        <p:spPr/>
        <p:txBody>
          <a:bodyPr/>
          <a:lstStyle/>
          <a:p>
            <a:pPr marL="0" indent="0">
              <a:buNone/>
            </a:pPr>
            <a:r>
              <a:rPr lang="en-US" altLang="zh-CN" sz="2800" b="1" dirty="0">
                <a:solidFill>
                  <a:srgbClr val="FF0000"/>
                </a:solidFill>
              </a:rPr>
              <a:t>2. </a:t>
            </a:r>
            <a:r>
              <a:rPr lang="zh-CN" altLang="en-US" sz="2800" b="1" dirty="0" smtClean="0">
                <a:solidFill>
                  <a:srgbClr val="FF0000"/>
                </a:solidFill>
              </a:rPr>
              <a:t>不足</a:t>
            </a:r>
            <a:endParaRPr lang="en-US" altLang="zh-CN" sz="2800" b="1" dirty="0" smtClean="0">
              <a:solidFill>
                <a:srgbClr val="FF0000"/>
              </a:solidFill>
            </a:endParaRPr>
          </a:p>
          <a:p>
            <a:pPr>
              <a:buFont typeface="Wingdings" panose="05000000000000000000" pitchFamily="2" charset="2"/>
              <a:buChar char="p"/>
            </a:pPr>
            <a:r>
              <a:rPr lang="zh-CN" altLang="en-US" sz="2800" b="1" dirty="0" smtClean="0">
                <a:solidFill>
                  <a:srgbClr val="FF0000"/>
                </a:solidFill>
              </a:rPr>
              <a:t>传输性能</a:t>
            </a:r>
            <a:endParaRPr lang="en-US" altLang="zh-CN" sz="2800" b="1" dirty="0" smtClean="0">
              <a:solidFill>
                <a:srgbClr val="FF0000"/>
              </a:solidFill>
            </a:endParaRPr>
          </a:p>
          <a:p>
            <a:pPr>
              <a:buFont typeface="Arial" panose="020B0604020202020204" pitchFamily="34" charset="0"/>
              <a:buChar char="•"/>
            </a:pPr>
            <a:r>
              <a:rPr lang="en-US" altLang="zh-CN" sz="2400" dirty="0" smtClean="0">
                <a:solidFill>
                  <a:schemeClr val="accent3">
                    <a:lumMod val="50000"/>
                  </a:schemeClr>
                </a:solidFill>
              </a:rPr>
              <a:t>CAN</a:t>
            </a:r>
            <a:r>
              <a:rPr lang="zh-CN" altLang="en-US" sz="2400" dirty="0" smtClean="0">
                <a:solidFill>
                  <a:schemeClr val="accent3">
                    <a:lumMod val="50000"/>
                  </a:schemeClr>
                </a:solidFill>
              </a:rPr>
              <a:t>中为了实现仲裁机制，在某个节点</a:t>
            </a:r>
            <a:r>
              <a:rPr lang="zh-CN" altLang="en-US" sz="2400" dirty="0" smtClean="0">
                <a:solidFill>
                  <a:srgbClr val="C00000"/>
                </a:solidFill>
              </a:rPr>
              <a:t>采样总线电平</a:t>
            </a:r>
            <a:r>
              <a:rPr lang="zh-CN" altLang="en-US" sz="2400" dirty="0" smtClean="0">
                <a:solidFill>
                  <a:schemeClr val="accent3">
                    <a:lumMod val="50000"/>
                  </a:schemeClr>
                </a:solidFill>
              </a:rPr>
              <a:t>时，需要等待总线上信号从总线一端节点传输到另一端；</a:t>
            </a:r>
            <a:endParaRPr lang="en-US" altLang="zh-CN" sz="2400" dirty="0" smtClean="0">
              <a:solidFill>
                <a:schemeClr val="accent3">
                  <a:lumMod val="50000"/>
                </a:schemeClr>
              </a:solidFill>
            </a:endParaRPr>
          </a:p>
          <a:p>
            <a:pPr>
              <a:buFont typeface="Arial" panose="020B0604020202020204" pitchFamily="34" charset="0"/>
              <a:buChar char="•"/>
            </a:pPr>
            <a:r>
              <a:rPr lang="zh-CN" altLang="en-US" sz="2400" dirty="0" smtClean="0">
                <a:solidFill>
                  <a:schemeClr val="accent3">
                    <a:lumMod val="50000"/>
                  </a:schemeClr>
                </a:solidFill>
              </a:rPr>
              <a:t>信号端到端的传输滞后需小于</a:t>
            </a:r>
            <a:r>
              <a:rPr lang="zh-CN" altLang="en-US" sz="2400" dirty="0" smtClean="0">
                <a:solidFill>
                  <a:srgbClr val="C00000"/>
                </a:solidFill>
              </a:rPr>
              <a:t>位时间</a:t>
            </a:r>
            <a:r>
              <a:rPr lang="zh-CN" altLang="en-US" sz="2400" dirty="0" smtClean="0">
                <a:solidFill>
                  <a:schemeClr val="accent3">
                    <a:lumMod val="50000"/>
                  </a:schemeClr>
                </a:solidFill>
              </a:rPr>
              <a:t>的一半；</a:t>
            </a:r>
            <a:endParaRPr lang="en-US" altLang="zh-CN" sz="2400" dirty="0" smtClean="0">
              <a:solidFill>
                <a:schemeClr val="accent3">
                  <a:lumMod val="50000"/>
                </a:schemeClr>
              </a:solidFill>
            </a:endParaRPr>
          </a:p>
          <a:p>
            <a:pPr>
              <a:buFont typeface="Arial" panose="020B0604020202020204" pitchFamily="34" charset="0"/>
              <a:buChar char="•"/>
            </a:pPr>
            <a:r>
              <a:rPr lang="zh-CN" altLang="en-US" sz="2400" dirty="0" smtClean="0">
                <a:solidFill>
                  <a:schemeClr val="accent3">
                    <a:lumMod val="50000"/>
                  </a:schemeClr>
                </a:solidFill>
              </a:rPr>
              <a:t>信号传输速度固定</a:t>
            </a:r>
            <a:r>
              <a:rPr lang="en-US" altLang="zh-CN" sz="2400" dirty="0" smtClean="0">
                <a:solidFill>
                  <a:schemeClr val="accent3">
                    <a:lumMod val="50000"/>
                  </a:schemeClr>
                </a:solidFill>
              </a:rPr>
              <a:t>(</a:t>
            </a:r>
            <a:r>
              <a:rPr lang="zh-CN" altLang="en-US" sz="2400" dirty="0" smtClean="0">
                <a:solidFill>
                  <a:schemeClr val="accent3">
                    <a:lumMod val="50000"/>
                  </a:schemeClr>
                </a:solidFill>
              </a:rPr>
              <a:t>铜线</a:t>
            </a:r>
            <a:r>
              <a:rPr lang="zh-CN" altLang="en-US" sz="2400" dirty="0">
                <a:solidFill>
                  <a:schemeClr val="accent3">
                    <a:lumMod val="50000"/>
                  </a:schemeClr>
                </a:solidFill>
              </a:rPr>
              <a:t>约</a:t>
            </a:r>
            <a:r>
              <a:rPr lang="en-US" altLang="zh-CN" sz="2400" dirty="0" smtClean="0">
                <a:solidFill>
                  <a:schemeClr val="accent3">
                    <a:lumMod val="50000"/>
                  </a:schemeClr>
                </a:solidFill>
              </a:rPr>
              <a:t>200m/us)</a:t>
            </a:r>
            <a:r>
              <a:rPr lang="zh-CN" altLang="en-US" sz="2400" dirty="0" smtClean="0">
                <a:solidFill>
                  <a:schemeClr val="accent3">
                    <a:lumMod val="50000"/>
                  </a:schemeClr>
                </a:solidFill>
              </a:rPr>
              <a:t>，从而总线最大长度有限且依赖于网络的比特率；</a:t>
            </a:r>
            <a:endParaRPr lang="en-US" altLang="zh-CN" sz="2400" dirty="0" smtClean="0">
              <a:solidFill>
                <a:schemeClr val="accent3">
                  <a:lumMod val="50000"/>
                </a:schemeClr>
              </a:solidFill>
            </a:endParaRPr>
          </a:p>
          <a:p>
            <a:pPr>
              <a:buFont typeface="Arial" panose="020B0604020202020204" pitchFamily="34" charset="0"/>
              <a:buChar char="•"/>
            </a:pPr>
            <a:r>
              <a:rPr lang="zh-CN" altLang="en-US" sz="2400" dirty="0" smtClean="0">
                <a:solidFill>
                  <a:schemeClr val="accent3">
                    <a:lumMod val="50000"/>
                  </a:schemeClr>
                </a:solidFill>
              </a:rPr>
              <a:t>一般来说，如下条件可以满足</a:t>
            </a:r>
            <a:r>
              <a:rPr lang="en-US" altLang="zh-CN" sz="2400" dirty="0" smtClean="0">
                <a:solidFill>
                  <a:schemeClr val="accent3">
                    <a:lumMod val="50000"/>
                  </a:schemeClr>
                </a:solidFill>
              </a:rPr>
              <a:t>CAN</a:t>
            </a:r>
            <a:r>
              <a:rPr lang="zh-CN" altLang="en-US" sz="2400" dirty="0" smtClean="0">
                <a:solidFill>
                  <a:schemeClr val="accent3">
                    <a:lumMod val="50000"/>
                  </a:schemeClr>
                </a:solidFill>
              </a:rPr>
              <a:t>总线仲裁机制正常工作要求</a:t>
            </a:r>
            <a:endParaRPr lang="en-US" altLang="zh-CN" sz="2400" dirty="0" smtClean="0">
              <a:solidFill>
                <a:schemeClr val="accent3">
                  <a:lumMod val="50000"/>
                </a:schemeClr>
              </a:solidFill>
            </a:endParaRPr>
          </a:p>
          <a:p>
            <a:pPr marL="0" indent="0" algn="ctr">
              <a:buNone/>
            </a:pPr>
            <a:r>
              <a:rPr lang="en-US" altLang="zh-CN" sz="2000" i="1" dirty="0" err="1" smtClean="0">
                <a:solidFill>
                  <a:srgbClr val="C00000"/>
                </a:solidFill>
              </a:rPr>
              <a:t>T</a:t>
            </a:r>
            <a:r>
              <a:rPr lang="en-US" altLang="zh-CN" sz="2000" baseline="-25000" dirty="0" err="1" smtClean="0">
                <a:solidFill>
                  <a:srgbClr val="C00000"/>
                </a:solidFill>
              </a:rPr>
              <a:t>prop_seg</a:t>
            </a:r>
            <a:r>
              <a:rPr lang="en-US" altLang="zh-CN" sz="2000" dirty="0" smtClean="0">
                <a:solidFill>
                  <a:srgbClr val="C00000"/>
                </a:solidFill>
              </a:rPr>
              <a:t>&gt;2(</a:t>
            </a:r>
            <a:r>
              <a:rPr lang="en-US" altLang="zh-CN" sz="2000" i="1" dirty="0" err="1" smtClean="0">
                <a:solidFill>
                  <a:srgbClr val="C00000"/>
                </a:solidFill>
              </a:rPr>
              <a:t>T</a:t>
            </a:r>
            <a:r>
              <a:rPr lang="en-US" altLang="zh-CN" sz="2000" baseline="-25000" dirty="0" err="1" smtClean="0">
                <a:solidFill>
                  <a:srgbClr val="C00000"/>
                </a:solidFill>
              </a:rPr>
              <a:t>CC</a:t>
            </a:r>
            <a:r>
              <a:rPr lang="en-US" altLang="zh-CN" sz="2000" dirty="0" err="1" smtClean="0">
                <a:solidFill>
                  <a:srgbClr val="C00000"/>
                </a:solidFill>
              </a:rPr>
              <a:t>+</a:t>
            </a:r>
            <a:r>
              <a:rPr lang="en-US" altLang="zh-CN" sz="2000" i="1" dirty="0" err="1" smtClean="0">
                <a:solidFill>
                  <a:srgbClr val="C00000"/>
                </a:solidFill>
              </a:rPr>
              <a:t>T</a:t>
            </a:r>
            <a:r>
              <a:rPr lang="en-US" altLang="zh-CN" sz="2000" baseline="-25000" dirty="0" err="1" smtClean="0">
                <a:solidFill>
                  <a:srgbClr val="C00000"/>
                </a:solidFill>
              </a:rPr>
              <a:t>TR</a:t>
            </a:r>
            <a:r>
              <a:rPr lang="en-US" altLang="zh-CN" sz="2000" dirty="0" err="1" smtClean="0">
                <a:solidFill>
                  <a:srgbClr val="C00000"/>
                </a:solidFill>
              </a:rPr>
              <a:t>+</a:t>
            </a:r>
            <a:r>
              <a:rPr lang="en-US" altLang="zh-CN" sz="2000" i="1" dirty="0" err="1" smtClean="0">
                <a:solidFill>
                  <a:srgbClr val="C00000"/>
                </a:solidFill>
              </a:rPr>
              <a:t>T</a:t>
            </a:r>
            <a:r>
              <a:rPr lang="en-US" altLang="zh-CN" sz="2000" baseline="-25000" dirty="0" err="1" smtClean="0">
                <a:solidFill>
                  <a:srgbClr val="C00000"/>
                </a:solidFill>
              </a:rPr>
              <a:t>OC</a:t>
            </a:r>
            <a:r>
              <a:rPr lang="en-US" altLang="zh-CN" sz="2000" dirty="0" err="1" smtClean="0">
                <a:solidFill>
                  <a:srgbClr val="C00000"/>
                </a:solidFill>
              </a:rPr>
              <a:t>+</a:t>
            </a:r>
            <a:r>
              <a:rPr lang="en-US" altLang="zh-CN" sz="2000" i="1" dirty="0" err="1" smtClean="0">
                <a:solidFill>
                  <a:srgbClr val="C00000"/>
                </a:solidFill>
              </a:rPr>
              <a:t>L</a:t>
            </a:r>
            <a:r>
              <a:rPr lang="en-US" altLang="zh-CN" sz="2000" baseline="-25000" dirty="0" err="1" smtClean="0">
                <a:solidFill>
                  <a:srgbClr val="C00000"/>
                </a:solidFill>
              </a:rPr>
              <a:t>MAX</a:t>
            </a:r>
            <a:r>
              <a:rPr lang="en-US" altLang="zh-CN" sz="2000" dirty="0" err="1" smtClean="0">
                <a:solidFill>
                  <a:srgbClr val="C00000"/>
                </a:solidFill>
              </a:rPr>
              <a:t>∙</a:t>
            </a:r>
            <a:r>
              <a:rPr lang="en-US" altLang="zh-CN" sz="2000" i="1" dirty="0" err="1" smtClean="0">
                <a:solidFill>
                  <a:srgbClr val="C00000"/>
                </a:solidFill>
              </a:rPr>
              <a:t>t</a:t>
            </a:r>
            <a:r>
              <a:rPr lang="en-US" altLang="zh-CN" sz="2000" baseline="-25000" dirty="0" err="1" smtClean="0">
                <a:solidFill>
                  <a:srgbClr val="C00000"/>
                </a:solidFill>
              </a:rPr>
              <a:t>p</a:t>
            </a:r>
            <a:r>
              <a:rPr lang="en-US" altLang="zh-CN" sz="2000" dirty="0" smtClean="0">
                <a:solidFill>
                  <a:srgbClr val="C00000"/>
                </a:solidFill>
              </a:rPr>
              <a:t>)</a:t>
            </a:r>
          </a:p>
          <a:p>
            <a:pPr marL="0" indent="0" algn="l">
              <a:buNone/>
            </a:pPr>
            <a:r>
              <a:rPr lang="en-US" altLang="zh-CN" sz="2000" i="1" dirty="0" err="1" smtClean="0">
                <a:solidFill>
                  <a:srgbClr val="C00000"/>
                </a:solidFill>
              </a:rPr>
              <a:t>T</a:t>
            </a:r>
            <a:r>
              <a:rPr lang="en-US" altLang="zh-CN" sz="2000" baseline="-25000" dirty="0" err="1" smtClean="0">
                <a:solidFill>
                  <a:srgbClr val="C00000"/>
                </a:solidFill>
              </a:rPr>
              <a:t>prop_seg</a:t>
            </a:r>
            <a:r>
              <a:rPr lang="en-US" altLang="zh-CN" sz="2000" baseline="-25000" dirty="0" smtClean="0">
                <a:solidFill>
                  <a:srgbClr val="C00000"/>
                </a:solidFill>
              </a:rPr>
              <a:t> </a:t>
            </a:r>
            <a:r>
              <a:rPr lang="en-US" altLang="zh-CN" sz="2000" baseline="30000" dirty="0" smtClean="0">
                <a:solidFill>
                  <a:srgbClr val="C00000"/>
                </a:solidFill>
              </a:rPr>
              <a:t>–</a:t>
            </a:r>
            <a:r>
              <a:rPr lang="en-US" altLang="zh-CN" sz="2000" dirty="0" smtClean="0">
                <a:solidFill>
                  <a:srgbClr val="C00000"/>
                </a:solidFill>
              </a:rPr>
              <a:t> </a:t>
            </a:r>
            <a:r>
              <a:rPr lang="zh-CN" altLang="en-US" sz="2000" dirty="0" smtClean="0">
                <a:solidFill>
                  <a:srgbClr val="C00000"/>
                </a:solidFill>
              </a:rPr>
              <a:t>信号滞后量；</a:t>
            </a:r>
            <a:r>
              <a:rPr lang="en-US" altLang="zh-CN" sz="2000" i="1" dirty="0" smtClean="0">
                <a:solidFill>
                  <a:srgbClr val="C00000"/>
                </a:solidFill>
              </a:rPr>
              <a:t>L</a:t>
            </a:r>
            <a:r>
              <a:rPr lang="en-US" altLang="zh-CN" sz="2000" baseline="-25000" dirty="0" smtClean="0">
                <a:solidFill>
                  <a:srgbClr val="C00000"/>
                </a:solidFill>
              </a:rPr>
              <a:t>MAX </a:t>
            </a:r>
            <a:r>
              <a:rPr lang="en-US" altLang="zh-CN" sz="2000" baseline="30000" dirty="0" smtClean="0">
                <a:solidFill>
                  <a:srgbClr val="C00000"/>
                </a:solidFill>
              </a:rPr>
              <a:t> --</a:t>
            </a:r>
            <a:r>
              <a:rPr lang="en-US" altLang="zh-CN" sz="2000" dirty="0" smtClean="0">
                <a:solidFill>
                  <a:srgbClr val="C00000"/>
                </a:solidFill>
              </a:rPr>
              <a:t> </a:t>
            </a:r>
            <a:r>
              <a:rPr lang="zh-CN" altLang="en-US" sz="2000" dirty="0" smtClean="0">
                <a:solidFill>
                  <a:srgbClr val="C00000"/>
                </a:solidFill>
              </a:rPr>
              <a:t>总线两端最大距离；</a:t>
            </a:r>
            <a:r>
              <a:rPr lang="en-US" altLang="zh-CN" sz="2000" dirty="0" smtClean="0">
                <a:solidFill>
                  <a:srgbClr val="C00000"/>
                </a:solidFill>
              </a:rPr>
              <a:t> </a:t>
            </a:r>
          </a:p>
          <a:p>
            <a:pPr marL="0" indent="0" algn="l">
              <a:buNone/>
            </a:pPr>
            <a:r>
              <a:rPr lang="en-US" altLang="zh-CN" sz="2000" i="1" dirty="0" err="1" smtClean="0">
                <a:solidFill>
                  <a:srgbClr val="C00000"/>
                </a:solidFill>
              </a:rPr>
              <a:t>t</a:t>
            </a:r>
            <a:r>
              <a:rPr lang="en-US" altLang="zh-CN" sz="2000" baseline="-25000" dirty="0" err="1" smtClean="0">
                <a:solidFill>
                  <a:srgbClr val="C00000"/>
                </a:solidFill>
              </a:rPr>
              <a:t>p</a:t>
            </a:r>
            <a:r>
              <a:rPr lang="en-US" altLang="zh-CN" sz="2000" baseline="30000" dirty="0" smtClean="0">
                <a:solidFill>
                  <a:srgbClr val="C00000"/>
                </a:solidFill>
              </a:rPr>
              <a:t> – </a:t>
            </a:r>
            <a:r>
              <a:rPr lang="zh-CN" altLang="en-US" sz="2000" dirty="0">
                <a:solidFill>
                  <a:srgbClr val="C00000"/>
                </a:solidFill>
              </a:rPr>
              <a:t>线</a:t>
            </a:r>
            <a:r>
              <a:rPr lang="zh-CN" altLang="en-US" sz="2000" dirty="0" smtClean="0">
                <a:solidFill>
                  <a:srgbClr val="C00000"/>
                </a:solidFill>
              </a:rPr>
              <a:t>缆上电线号的传输滞后（约</a:t>
            </a:r>
            <a:r>
              <a:rPr lang="en-US" altLang="zh-CN" sz="2000" dirty="0" smtClean="0">
                <a:solidFill>
                  <a:srgbClr val="C00000"/>
                </a:solidFill>
              </a:rPr>
              <a:t>5ns/m</a:t>
            </a:r>
            <a:r>
              <a:rPr lang="zh-CN" altLang="en-US" sz="2000" dirty="0" smtClean="0">
                <a:solidFill>
                  <a:srgbClr val="C00000"/>
                </a:solidFill>
              </a:rPr>
              <a:t>）</a:t>
            </a:r>
            <a:endParaRPr lang="en-US" altLang="zh-CN" sz="2000" dirty="0" smtClean="0">
              <a:solidFill>
                <a:srgbClr val="C00000"/>
              </a:solidFill>
            </a:endParaRPr>
          </a:p>
          <a:p>
            <a:pPr marL="0" indent="0" algn="l">
              <a:buNone/>
            </a:pPr>
            <a:r>
              <a:rPr lang="en-US" altLang="zh-CN" sz="2000" i="1" dirty="0" smtClean="0">
                <a:solidFill>
                  <a:srgbClr val="C00000"/>
                </a:solidFill>
              </a:rPr>
              <a:t>T</a:t>
            </a:r>
            <a:r>
              <a:rPr lang="en-US" altLang="zh-CN" sz="2000" baseline="-25000" dirty="0" smtClean="0">
                <a:solidFill>
                  <a:srgbClr val="C00000"/>
                </a:solidFill>
              </a:rPr>
              <a:t>CC</a:t>
            </a:r>
            <a:r>
              <a:rPr lang="en-US" altLang="zh-CN" sz="2000" dirty="0" smtClean="0">
                <a:solidFill>
                  <a:srgbClr val="C00000"/>
                </a:solidFill>
              </a:rPr>
              <a:t>/</a:t>
            </a:r>
            <a:r>
              <a:rPr lang="en-US" altLang="zh-CN" sz="2000" i="1" dirty="0" smtClean="0">
                <a:solidFill>
                  <a:srgbClr val="C00000"/>
                </a:solidFill>
              </a:rPr>
              <a:t>T</a:t>
            </a:r>
            <a:r>
              <a:rPr lang="en-US" altLang="zh-CN" sz="2000" baseline="-25000" dirty="0" smtClean="0">
                <a:solidFill>
                  <a:srgbClr val="C00000"/>
                </a:solidFill>
              </a:rPr>
              <a:t>TR</a:t>
            </a:r>
            <a:r>
              <a:rPr lang="en-US" altLang="zh-CN" sz="2000" dirty="0" smtClean="0">
                <a:solidFill>
                  <a:srgbClr val="C00000"/>
                </a:solidFill>
              </a:rPr>
              <a:t>/</a:t>
            </a:r>
            <a:r>
              <a:rPr lang="en-US" altLang="zh-CN" sz="2000" i="1" dirty="0" smtClean="0">
                <a:solidFill>
                  <a:srgbClr val="C00000"/>
                </a:solidFill>
              </a:rPr>
              <a:t>T</a:t>
            </a:r>
            <a:r>
              <a:rPr lang="en-US" altLang="zh-CN" sz="2000" baseline="-25000" dirty="0" smtClean="0">
                <a:solidFill>
                  <a:srgbClr val="C00000"/>
                </a:solidFill>
              </a:rPr>
              <a:t>OC </a:t>
            </a:r>
            <a:r>
              <a:rPr lang="en-US" altLang="zh-CN" sz="2000" dirty="0" smtClean="0">
                <a:solidFill>
                  <a:srgbClr val="C00000"/>
                </a:solidFill>
              </a:rPr>
              <a:t>– </a:t>
            </a:r>
            <a:r>
              <a:rPr lang="zh-CN" altLang="en-US" sz="2000" dirty="0" smtClean="0">
                <a:solidFill>
                  <a:srgbClr val="C00000"/>
                </a:solidFill>
              </a:rPr>
              <a:t>分别为两端节点设备中</a:t>
            </a:r>
            <a:r>
              <a:rPr lang="en-US" altLang="zh-CN" sz="2000" dirty="0" smtClean="0">
                <a:solidFill>
                  <a:srgbClr val="C00000"/>
                </a:solidFill>
              </a:rPr>
              <a:t>CAN</a:t>
            </a:r>
            <a:r>
              <a:rPr lang="zh-CN" altLang="en-US" sz="2000" dirty="0" smtClean="0">
                <a:solidFill>
                  <a:srgbClr val="C00000"/>
                </a:solidFill>
              </a:rPr>
              <a:t>控制器</a:t>
            </a:r>
            <a:r>
              <a:rPr lang="en-US" altLang="zh-CN" sz="2000" dirty="0" smtClean="0">
                <a:solidFill>
                  <a:srgbClr val="C00000"/>
                </a:solidFill>
              </a:rPr>
              <a:t>(~50ns)</a:t>
            </a:r>
            <a:r>
              <a:rPr lang="zh-CN" altLang="en-US" sz="2000" dirty="0" smtClean="0">
                <a:solidFill>
                  <a:srgbClr val="C00000"/>
                </a:solidFill>
              </a:rPr>
              <a:t>，</a:t>
            </a:r>
            <a:r>
              <a:rPr lang="en-US" altLang="zh-CN" sz="2000" dirty="0" smtClean="0">
                <a:solidFill>
                  <a:srgbClr val="C00000"/>
                </a:solidFill>
              </a:rPr>
              <a:t>CAN</a:t>
            </a:r>
            <a:r>
              <a:rPr lang="zh-CN" altLang="en-US" sz="2000" dirty="0" smtClean="0">
                <a:solidFill>
                  <a:srgbClr val="C00000"/>
                </a:solidFill>
              </a:rPr>
              <a:t>收发器</a:t>
            </a:r>
            <a:r>
              <a:rPr lang="en-US" altLang="zh-CN" sz="2000" dirty="0" smtClean="0">
                <a:solidFill>
                  <a:srgbClr val="C00000"/>
                </a:solidFill>
              </a:rPr>
              <a:t>(~120 –          </a:t>
            </a:r>
          </a:p>
          <a:p>
            <a:pPr marL="0" indent="0" algn="l">
              <a:buNone/>
            </a:pPr>
            <a:r>
              <a:rPr lang="en-US" altLang="zh-CN" sz="2000" dirty="0">
                <a:solidFill>
                  <a:srgbClr val="C00000"/>
                </a:solidFill>
              </a:rPr>
              <a:t> </a:t>
            </a:r>
            <a:r>
              <a:rPr lang="en-US" altLang="zh-CN" sz="2000" dirty="0" smtClean="0">
                <a:solidFill>
                  <a:srgbClr val="C00000"/>
                </a:solidFill>
              </a:rPr>
              <a:t>                       250ns)</a:t>
            </a:r>
            <a:r>
              <a:rPr lang="zh-CN" altLang="en-US" sz="2000" dirty="0" smtClean="0">
                <a:solidFill>
                  <a:srgbClr val="C00000"/>
                </a:solidFill>
              </a:rPr>
              <a:t>以及光耦</a:t>
            </a:r>
            <a:r>
              <a:rPr lang="en-US" altLang="zh-CN" sz="2000" dirty="0" smtClean="0">
                <a:solidFill>
                  <a:srgbClr val="C00000"/>
                </a:solidFill>
              </a:rPr>
              <a:t>(40-140ns)</a:t>
            </a:r>
            <a:r>
              <a:rPr lang="zh-CN" altLang="en-US" sz="2000" dirty="0" smtClean="0">
                <a:solidFill>
                  <a:srgbClr val="C00000"/>
                </a:solidFill>
              </a:rPr>
              <a:t>带来的信号滞后</a:t>
            </a:r>
            <a:endParaRPr lang="zh-CN" altLang="en-US" sz="2000" dirty="0">
              <a:solidFill>
                <a:schemeClr val="accent5">
                  <a:lumMod val="50000"/>
                </a:schemeClr>
              </a:solidFill>
            </a:endParaRPr>
          </a:p>
        </p:txBody>
      </p:sp>
    </p:spTree>
    <p:extLst>
      <p:ext uri="{BB962C8B-B14F-4D97-AF65-F5344CB8AC3E}">
        <p14:creationId xmlns:p14="http://schemas.microsoft.com/office/powerpoint/2010/main" val="3212946762"/>
      </p:ext>
    </p:extLst>
  </p:cSld>
  <p:clrMapOvr>
    <a:masterClrMapping/>
  </p:clrMapOvr>
  <p:transition spd="slow">
    <p:push dir="u"/>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 CAN</a:t>
            </a:r>
            <a:r>
              <a:rPr lang="zh-CN" altLang="en-US" dirty="0"/>
              <a:t>总线的优势与不足</a:t>
            </a:r>
          </a:p>
        </p:txBody>
      </p:sp>
      <p:sp>
        <p:nvSpPr>
          <p:cNvPr id="3" name="内容占位符 2"/>
          <p:cNvSpPr>
            <a:spLocks noGrp="1"/>
          </p:cNvSpPr>
          <p:nvPr>
            <p:ph idx="1"/>
          </p:nvPr>
        </p:nvSpPr>
        <p:spPr/>
        <p:txBody>
          <a:bodyPr/>
          <a:lstStyle/>
          <a:p>
            <a:pPr>
              <a:buFont typeface="Wingdings" panose="05000000000000000000" pitchFamily="2" charset="2"/>
              <a:buChar char="p"/>
            </a:pPr>
            <a:r>
              <a:rPr lang="zh-CN" altLang="en-US" sz="2800" b="1" dirty="0" smtClean="0">
                <a:solidFill>
                  <a:srgbClr val="FF0000"/>
                </a:solidFill>
              </a:rPr>
              <a:t>传输确定性</a:t>
            </a:r>
            <a:endParaRPr lang="en-US" altLang="zh-CN" sz="2800" b="1" dirty="0" smtClean="0">
              <a:solidFill>
                <a:srgbClr val="FF0000"/>
              </a:solidFill>
            </a:endParaRPr>
          </a:p>
          <a:p>
            <a:pPr>
              <a:buFont typeface="Arial" panose="020B0604020202020204" pitchFamily="34" charset="0"/>
              <a:buChar char="•"/>
            </a:pPr>
            <a:r>
              <a:rPr lang="en-US" altLang="zh-CN" sz="2400" dirty="0" smtClean="0">
                <a:solidFill>
                  <a:schemeClr val="accent3">
                    <a:lumMod val="50000"/>
                  </a:schemeClr>
                </a:solidFill>
              </a:rPr>
              <a:t>MAC</a:t>
            </a:r>
            <a:r>
              <a:rPr lang="zh-CN" altLang="en-US" sz="2400" dirty="0" smtClean="0">
                <a:solidFill>
                  <a:schemeClr val="accent3">
                    <a:lumMod val="50000"/>
                  </a:schemeClr>
                </a:solidFill>
              </a:rPr>
              <a:t>机制保证了传输优先级最高节点信息，信息传输延迟有上界；</a:t>
            </a:r>
            <a:endParaRPr lang="en-US" altLang="zh-CN" sz="2400" dirty="0" smtClean="0">
              <a:solidFill>
                <a:schemeClr val="accent3">
                  <a:lumMod val="50000"/>
                </a:schemeClr>
              </a:solidFill>
            </a:endParaRPr>
          </a:p>
          <a:p>
            <a:pPr>
              <a:buFont typeface="Arial" panose="020B0604020202020204" pitchFamily="34" charset="0"/>
              <a:buChar char="•"/>
            </a:pPr>
            <a:r>
              <a:rPr lang="zh-CN" altLang="en-US" sz="2400" dirty="0" smtClean="0">
                <a:solidFill>
                  <a:schemeClr val="accent3">
                    <a:lumMod val="50000"/>
                  </a:schemeClr>
                </a:solidFill>
              </a:rPr>
              <a:t>由于节点自身决定何时发送消息（</a:t>
            </a:r>
            <a:r>
              <a:rPr lang="zh-CN" altLang="en-US" sz="2400" dirty="0" smtClean="0">
                <a:solidFill>
                  <a:srgbClr val="C00000"/>
                </a:solidFill>
              </a:rPr>
              <a:t>事件驱动</a:t>
            </a:r>
            <a:r>
              <a:rPr lang="zh-CN" altLang="en-US" sz="2400" dirty="0" smtClean="0">
                <a:solidFill>
                  <a:schemeClr val="accent3">
                    <a:lumMod val="50000"/>
                  </a:schemeClr>
                </a:solidFill>
              </a:rPr>
              <a:t>系统运行方式），无法提前预知特定消息何时发送（由于其他更高优先级消息的影响）；</a:t>
            </a:r>
            <a:endParaRPr lang="en-US" altLang="zh-CN" sz="2400" dirty="0" smtClean="0">
              <a:solidFill>
                <a:schemeClr val="accent3">
                  <a:lumMod val="50000"/>
                </a:schemeClr>
              </a:solidFill>
            </a:endParaRPr>
          </a:p>
          <a:p>
            <a:pPr>
              <a:buFont typeface="Arial" panose="020B0604020202020204" pitchFamily="34" charset="0"/>
              <a:buChar char="•"/>
            </a:pPr>
            <a:r>
              <a:rPr lang="zh-CN" altLang="en-US" sz="2400" dirty="0" smtClean="0">
                <a:solidFill>
                  <a:schemeClr val="accent3">
                    <a:lumMod val="50000"/>
                  </a:schemeClr>
                </a:solidFill>
              </a:rPr>
              <a:t>此外，</a:t>
            </a:r>
            <a:r>
              <a:rPr lang="en-US" altLang="zh-CN" sz="2400" dirty="0" smtClean="0">
                <a:solidFill>
                  <a:schemeClr val="accent3">
                    <a:lumMod val="50000"/>
                  </a:schemeClr>
                </a:solidFill>
              </a:rPr>
              <a:t>CAN</a:t>
            </a:r>
            <a:r>
              <a:rPr lang="zh-CN" altLang="en-US" sz="2400" dirty="0" smtClean="0">
                <a:solidFill>
                  <a:schemeClr val="accent3">
                    <a:lumMod val="50000"/>
                  </a:schemeClr>
                </a:solidFill>
              </a:rPr>
              <a:t>没有确保系统的</a:t>
            </a:r>
            <a:r>
              <a:rPr lang="zh-CN" altLang="en-US" sz="2400" dirty="0" smtClean="0">
                <a:solidFill>
                  <a:srgbClr val="C00000"/>
                </a:solidFill>
              </a:rPr>
              <a:t>可组合性</a:t>
            </a:r>
            <a:r>
              <a:rPr lang="zh-CN" altLang="en-US" sz="2400" dirty="0" smtClean="0">
                <a:solidFill>
                  <a:schemeClr val="accent3">
                    <a:lumMod val="50000"/>
                  </a:schemeClr>
                </a:solidFill>
              </a:rPr>
              <a:t>。独立开发的多个子系统，在组成成为一个更大规模系统时，可能无法满足信息的传输时间约束（传输确定性），即便每个子系统都已单独测试且合格，同时总系统带宽充分满足数据交换需求。</a:t>
            </a:r>
            <a:endParaRPr lang="zh-CN" altLang="en-US" sz="2400" dirty="0">
              <a:solidFill>
                <a:schemeClr val="accent3">
                  <a:lumMod val="50000"/>
                </a:schemeClr>
              </a:solidFill>
            </a:endParaRPr>
          </a:p>
        </p:txBody>
      </p:sp>
    </p:spTree>
    <p:extLst>
      <p:ext uri="{BB962C8B-B14F-4D97-AF65-F5344CB8AC3E}">
        <p14:creationId xmlns:p14="http://schemas.microsoft.com/office/powerpoint/2010/main" val="578870707"/>
      </p:ext>
    </p:extLst>
  </p:cSld>
  <p:clrMapOvr>
    <a:masterClrMapping/>
  </p:clrMapOvr>
  <p:transition spd="slow">
    <p:push dir="u"/>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 CAN</a:t>
            </a:r>
            <a:r>
              <a:rPr lang="zh-CN" altLang="en-US" dirty="0"/>
              <a:t>总线的优势与不足</a:t>
            </a:r>
          </a:p>
        </p:txBody>
      </p:sp>
      <p:sp>
        <p:nvSpPr>
          <p:cNvPr id="3" name="内容占位符 2"/>
          <p:cNvSpPr>
            <a:spLocks noGrp="1"/>
          </p:cNvSpPr>
          <p:nvPr>
            <p:ph idx="1"/>
          </p:nvPr>
        </p:nvSpPr>
        <p:spPr/>
        <p:txBody>
          <a:bodyPr/>
          <a:lstStyle/>
          <a:p>
            <a:pPr>
              <a:buFont typeface="Wingdings" panose="05000000000000000000" pitchFamily="2" charset="2"/>
              <a:buChar char="p"/>
            </a:pPr>
            <a:r>
              <a:rPr lang="zh-CN" altLang="en-US" sz="2800" b="1" dirty="0" smtClean="0">
                <a:solidFill>
                  <a:srgbClr val="FF0000"/>
                </a:solidFill>
              </a:rPr>
              <a:t>系统可信性</a:t>
            </a:r>
            <a:endParaRPr lang="en-US" altLang="zh-CN" sz="2800" b="1" dirty="0" smtClean="0">
              <a:solidFill>
                <a:srgbClr val="FF0000"/>
              </a:solidFill>
            </a:endParaRPr>
          </a:p>
          <a:p>
            <a:pPr>
              <a:buFont typeface="Arial" panose="020B0604020202020204" pitchFamily="34" charset="0"/>
              <a:buChar char="•"/>
            </a:pPr>
            <a:r>
              <a:rPr lang="zh-CN" altLang="en-US" sz="2400" dirty="0" smtClean="0">
                <a:solidFill>
                  <a:schemeClr val="accent3">
                    <a:lumMod val="50000"/>
                  </a:schemeClr>
                </a:solidFill>
              </a:rPr>
              <a:t>在通信错误可能对设备或人员造成伤害的系统中，应选择</a:t>
            </a:r>
            <a:r>
              <a:rPr lang="zh-CN" altLang="en-US" sz="2400" dirty="0" smtClean="0">
                <a:solidFill>
                  <a:srgbClr val="C00000"/>
                </a:solidFill>
              </a:rPr>
              <a:t>高可信性</a:t>
            </a:r>
            <a:r>
              <a:rPr lang="zh-CN" altLang="en-US" sz="2400" dirty="0" smtClean="0">
                <a:solidFill>
                  <a:schemeClr val="accent3">
                    <a:lumMod val="50000"/>
                  </a:schemeClr>
                </a:solidFill>
              </a:rPr>
              <a:t>的网络；</a:t>
            </a:r>
            <a:endParaRPr lang="en-US" altLang="zh-CN" sz="2400" dirty="0" smtClean="0">
              <a:solidFill>
                <a:schemeClr val="accent3">
                  <a:lumMod val="50000"/>
                </a:schemeClr>
              </a:solidFill>
            </a:endParaRPr>
          </a:p>
          <a:p>
            <a:pPr>
              <a:buFont typeface="Arial" panose="020B0604020202020204" pitchFamily="34" charset="0"/>
              <a:buChar char="•"/>
            </a:pPr>
            <a:r>
              <a:rPr lang="zh-CN" altLang="en-US" sz="2400" dirty="0" smtClean="0">
                <a:solidFill>
                  <a:schemeClr val="accent3">
                    <a:lumMod val="50000"/>
                  </a:schemeClr>
                </a:solidFill>
              </a:rPr>
              <a:t>可信的错误检测需要同时在信息</a:t>
            </a:r>
            <a:r>
              <a:rPr lang="zh-CN" altLang="en-US" sz="2400" dirty="0" smtClean="0">
                <a:solidFill>
                  <a:srgbClr val="C00000"/>
                </a:solidFill>
              </a:rPr>
              <a:t>值域</a:t>
            </a:r>
            <a:r>
              <a:rPr lang="zh-CN" altLang="en-US" sz="2400" dirty="0" smtClean="0">
                <a:solidFill>
                  <a:schemeClr val="accent3">
                    <a:lumMod val="50000"/>
                  </a:schemeClr>
                </a:solidFill>
              </a:rPr>
              <a:t>与</a:t>
            </a:r>
            <a:r>
              <a:rPr lang="zh-CN" altLang="en-US" sz="2400" dirty="0" smtClean="0">
                <a:solidFill>
                  <a:srgbClr val="C00000"/>
                </a:solidFill>
              </a:rPr>
              <a:t>时间域</a:t>
            </a:r>
            <a:r>
              <a:rPr lang="zh-CN" altLang="en-US" sz="2400" dirty="0" smtClean="0">
                <a:solidFill>
                  <a:schemeClr val="accent3">
                    <a:lumMod val="50000"/>
                  </a:schemeClr>
                </a:solidFill>
              </a:rPr>
              <a:t>进行，</a:t>
            </a:r>
            <a:r>
              <a:rPr lang="en-US" altLang="zh-CN" sz="2400" dirty="0" smtClean="0">
                <a:solidFill>
                  <a:srgbClr val="C00000"/>
                </a:solidFill>
              </a:rPr>
              <a:t>CRC</a:t>
            </a:r>
            <a:r>
              <a:rPr lang="zh-CN" altLang="en-US" sz="2400" dirty="0" smtClean="0">
                <a:solidFill>
                  <a:srgbClr val="C00000"/>
                </a:solidFill>
              </a:rPr>
              <a:t>校验</a:t>
            </a:r>
            <a:r>
              <a:rPr lang="zh-CN" altLang="en-US" sz="2400" dirty="0" smtClean="0">
                <a:solidFill>
                  <a:schemeClr val="accent3">
                    <a:lumMod val="50000"/>
                  </a:schemeClr>
                </a:solidFill>
              </a:rPr>
              <a:t>能检测传输过程中信息值上的错误，但</a:t>
            </a:r>
            <a:r>
              <a:rPr lang="en-US" altLang="zh-CN" sz="2400" dirty="0" smtClean="0">
                <a:solidFill>
                  <a:schemeClr val="accent3">
                    <a:lumMod val="50000"/>
                  </a:schemeClr>
                </a:solidFill>
              </a:rPr>
              <a:t>CAN</a:t>
            </a:r>
            <a:r>
              <a:rPr lang="zh-CN" altLang="en-US" sz="2400" dirty="0" smtClean="0">
                <a:solidFill>
                  <a:schemeClr val="accent3">
                    <a:lumMod val="50000"/>
                  </a:schemeClr>
                </a:solidFill>
              </a:rPr>
              <a:t>中的</a:t>
            </a:r>
            <a:r>
              <a:rPr lang="zh-CN" altLang="en-US" sz="2400" dirty="0" smtClean="0">
                <a:solidFill>
                  <a:srgbClr val="C00000"/>
                </a:solidFill>
              </a:rPr>
              <a:t>事件驱动</a:t>
            </a:r>
            <a:r>
              <a:rPr lang="zh-CN" altLang="en-US" sz="2400" dirty="0" smtClean="0">
                <a:solidFill>
                  <a:schemeClr val="accent3">
                    <a:lumMod val="50000"/>
                  </a:schemeClr>
                </a:solidFill>
              </a:rPr>
              <a:t>传输方式没有</a:t>
            </a:r>
            <a:r>
              <a:rPr lang="zh-CN" altLang="en-US" sz="2400" dirty="0" smtClean="0">
                <a:solidFill>
                  <a:srgbClr val="C00000"/>
                </a:solidFill>
              </a:rPr>
              <a:t>时间驱动</a:t>
            </a:r>
            <a:r>
              <a:rPr lang="zh-CN" altLang="en-US" sz="2400" dirty="0" smtClean="0">
                <a:solidFill>
                  <a:schemeClr val="accent3">
                    <a:lumMod val="50000"/>
                  </a:schemeClr>
                </a:solidFill>
              </a:rPr>
              <a:t>方式可靠；</a:t>
            </a:r>
            <a:endParaRPr lang="en-US" altLang="zh-CN" sz="2400" dirty="0" smtClean="0">
              <a:solidFill>
                <a:schemeClr val="accent3">
                  <a:lumMod val="50000"/>
                </a:schemeClr>
              </a:solidFill>
            </a:endParaRPr>
          </a:p>
          <a:p>
            <a:pPr>
              <a:buFont typeface="Arial" panose="020B0604020202020204" pitchFamily="34" charset="0"/>
              <a:buChar char="•"/>
            </a:pPr>
            <a:r>
              <a:rPr lang="zh-CN" altLang="en-US" sz="2400" dirty="0" smtClean="0">
                <a:solidFill>
                  <a:schemeClr val="accent3">
                    <a:lumMod val="50000"/>
                  </a:schemeClr>
                </a:solidFill>
              </a:rPr>
              <a:t>由于软件错误，故障节点可能持续在总线上发送高优先级信息，从而拖慢整个网络。由于其是由逻辑错误而不是物理故障因此，因此无法被</a:t>
            </a:r>
            <a:r>
              <a:rPr lang="en-US" altLang="zh-CN" sz="2400" dirty="0" smtClean="0">
                <a:solidFill>
                  <a:schemeClr val="accent3">
                    <a:lumMod val="50000"/>
                  </a:schemeClr>
                </a:solidFill>
              </a:rPr>
              <a:t>CAN</a:t>
            </a:r>
            <a:r>
              <a:rPr lang="zh-CN" altLang="en-US" sz="2400" dirty="0" smtClean="0">
                <a:solidFill>
                  <a:schemeClr val="accent3">
                    <a:lumMod val="50000"/>
                  </a:schemeClr>
                </a:solidFill>
              </a:rPr>
              <a:t>中的故障界定机制发现。</a:t>
            </a:r>
            <a:endParaRPr lang="zh-CN" altLang="en-US" sz="2400" dirty="0">
              <a:solidFill>
                <a:schemeClr val="accent3">
                  <a:lumMod val="50000"/>
                </a:schemeClr>
              </a:solidFill>
            </a:endParaRPr>
          </a:p>
        </p:txBody>
      </p:sp>
    </p:spTree>
    <p:extLst>
      <p:ext uri="{BB962C8B-B14F-4D97-AF65-F5344CB8AC3E}">
        <p14:creationId xmlns:p14="http://schemas.microsoft.com/office/powerpoint/2010/main" val="2136874439"/>
      </p:ext>
    </p:extLst>
  </p:cSld>
  <p:clrMapOvr>
    <a:masterClrMapping/>
  </p:clrMapOvr>
  <p:transition spd="slow">
    <p:push dir="u"/>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标题 1"/>
          <p:cNvSpPr>
            <a:spLocks noGrp="1"/>
          </p:cNvSpPr>
          <p:nvPr>
            <p:ph type="title"/>
          </p:nvPr>
        </p:nvSpPr>
        <p:spPr/>
        <p:txBody>
          <a:bodyPr/>
          <a:lstStyle/>
          <a:p>
            <a:pPr eaLnBrk="1" hangingPunct="1"/>
            <a:r>
              <a:rPr lang="zh-CN" altLang="en-US" smtClean="0"/>
              <a:t>第</a:t>
            </a:r>
            <a:r>
              <a:rPr lang="en-US" altLang="zh-CN" smtClean="0"/>
              <a:t>3</a:t>
            </a:r>
            <a:r>
              <a:rPr lang="zh-CN" altLang="en-US" smtClean="0"/>
              <a:t>章 </a:t>
            </a:r>
            <a:r>
              <a:rPr lang="en-US" altLang="zh-CN" smtClean="0"/>
              <a:t>CAN</a:t>
            </a:r>
            <a:r>
              <a:rPr lang="zh-CN" altLang="en-US" smtClean="0"/>
              <a:t>总线</a:t>
            </a:r>
          </a:p>
        </p:txBody>
      </p:sp>
      <p:sp>
        <p:nvSpPr>
          <p:cNvPr id="4099" name="内容占位符 2"/>
          <p:cNvSpPr>
            <a:spLocks noGrp="1"/>
          </p:cNvSpPr>
          <p:nvPr>
            <p:ph idx="1"/>
          </p:nvPr>
        </p:nvSpPr>
        <p:spPr/>
        <p:txBody>
          <a:bodyPr/>
          <a:lstStyle/>
          <a:p>
            <a:pPr eaLnBrk="1" hangingPunct="1">
              <a:defRPr/>
            </a:pPr>
            <a:r>
              <a:rPr lang="en-US" altLang="zh-CN" dirty="0" smtClean="0">
                <a:solidFill>
                  <a:schemeClr val="accent3">
                    <a:lumMod val="50000"/>
                  </a:schemeClr>
                </a:solidFill>
              </a:rPr>
              <a:t>3.1 </a:t>
            </a:r>
            <a:r>
              <a:rPr lang="zh-CN" altLang="en-US" dirty="0" smtClean="0">
                <a:solidFill>
                  <a:schemeClr val="accent3">
                    <a:lumMod val="50000"/>
                  </a:schemeClr>
                </a:solidFill>
              </a:rPr>
              <a:t>概述</a:t>
            </a:r>
            <a:endParaRPr lang="en-US" altLang="zh-CN" dirty="0" smtClean="0">
              <a:solidFill>
                <a:schemeClr val="accent3">
                  <a:lumMod val="50000"/>
                </a:schemeClr>
              </a:solidFill>
            </a:endParaRPr>
          </a:p>
          <a:p>
            <a:pPr eaLnBrk="1" hangingPunct="1">
              <a:defRPr/>
            </a:pPr>
            <a:r>
              <a:rPr lang="en-US" altLang="zh-CN" dirty="0" smtClean="0">
                <a:solidFill>
                  <a:schemeClr val="accent3">
                    <a:lumMod val="50000"/>
                  </a:schemeClr>
                </a:solidFill>
              </a:rPr>
              <a:t>3.2 CAN</a:t>
            </a:r>
            <a:r>
              <a:rPr lang="zh-CN" altLang="en-US" dirty="0" smtClean="0">
                <a:solidFill>
                  <a:schemeClr val="accent3">
                    <a:lumMod val="50000"/>
                  </a:schemeClr>
                </a:solidFill>
              </a:rPr>
              <a:t>技术规范</a:t>
            </a:r>
            <a:endParaRPr lang="en-US" altLang="zh-CN" dirty="0" smtClean="0">
              <a:solidFill>
                <a:schemeClr val="accent3">
                  <a:lumMod val="50000"/>
                </a:schemeClr>
              </a:solidFill>
            </a:endParaRPr>
          </a:p>
          <a:p>
            <a:pPr eaLnBrk="1" hangingPunct="1">
              <a:defRPr/>
            </a:pPr>
            <a:r>
              <a:rPr lang="en-US" altLang="zh-CN" dirty="0">
                <a:solidFill>
                  <a:schemeClr val="accent3">
                    <a:lumMod val="50000"/>
                  </a:schemeClr>
                </a:solidFill>
              </a:rPr>
              <a:t>3.3 CAN</a:t>
            </a:r>
            <a:r>
              <a:rPr lang="zh-CN" altLang="en-US" dirty="0">
                <a:solidFill>
                  <a:schemeClr val="accent3">
                    <a:lumMod val="50000"/>
                  </a:schemeClr>
                </a:solidFill>
              </a:rPr>
              <a:t>总线的优势与</a:t>
            </a:r>
            <a:r>
              <a:rPr lang="zh-CN" altLang="en-US" dirty="0" smtClean="0">
                <a:solidFill>
                  <a:schemeClr val="accent3">
                    <a:lumMod val="50000"/>
                  </a:schemeClr>
                </a:solidFill>
              </a:rPr>
              <a:t>不足</a:t>
            </a:r>
            <a:endParaRPr lang="en-US" altLang="zh-CN" dirty="0" smtClean="0">
              <a:solidFill>
                <a:schemeClr val="accent3">
                  <a:lumMod val="50000"/>
                </a:schemeClr>
              </a:solidFill>
            </a:endParaRPr>
          </a:p>
          <a:p>
            <a:pPr eaLnBrk="1" hangingPunct="1">
              <a:defRPr/>
            </a:pPr>
            <a:r>
              <a:rPr lang="en-US" altLang="zh-CN" dirty="0" smtClean="0">
                <a:solidFill>
                  <a:srgbClr val="FF0000"/>
                </a:solidFill>
              </a:rPr>
              <a:t>3.4 </a:t>
            </a:r>
            <a:r>
              <a:rPr lang="en-US" altLang="zh-CN" dirty="0" err="1" smtClean="0">
                <a:solidFill>
                  <a:srgbClr val="FF0000"/>
                </a:solidFill>
              </a:rPr>
              <a:t>CANopen</a:t>
            </a:r>
            <a:r>
              <a:rPr lang="zh-CN" altLang="en-US" dirty="0" smtClean="0">
                <a:solidFill>
                  <a:srgbClr val="FF0000"/>
                </a:solidFill>
              </a:rPr>
              <a:t>协议</a:t>
            </a:r>
            <a:endParaRPr lang="zh-CN" altLang="en-US" dirty="0">
              <a:solidFill>
                <a:srgbClr val="FF0000"/>
              </a:solidFill>
            </a:endParaRPr>
          </a:p>
        </p:txBody>
      </p:sp>
    </p:spTree>
  </p:cSld>
  <p:clrMapOvr>
    <a:masterClrMapping/>
  </p:clrMapOvr>
  <p:transition spd="slow">
    <p:push dir="u"/>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标题 1"/>
          <p:cNvSpPr>
            <a:spLocks noGrp="1"/>
          </p:cNvSpPr>
          <p:nvPr>
            <p:ph type="title"/>
          </p:nvPr>
        </p:nvSpPr>
        <p:spPr/>
        <p:txBody>
          <a:bodyPr/>
          <a:lstStyle/>
          <a:p>
            <a:r>
              <a:rPr lang="en-US" altLang="zh-CN" dirty="0" smtClean="0"/>
              <a:t>3.4 </a:t>
            </a:r>
            <a:r>
              <a:rPr lang="en-US" altLang="zh-CN" dirty="0" err="1" smtClean="0"/>
              <a:t>CANopen</a:t>
            </a:r>
            <a:endParaRPr lang="zh-CN" altLang="en-US" dirty="0" smtClean="0"/>
          </a:p>
        </p:txBody>
      </p:sp>
      <p:sp>
        <p:nvSpPr>
          <p:cNvPr id="93187" name="内容占位符 2"/>
          <p:cNvSpPr>
            <a:spLocks noGrp="1"/>
          </p:cNvSpPr>
          <p:nvPr>
            <p:ph idx="1"/>
          </p:nvPr>
        </p:nvSpPr>
        <p:spPr/>
        <p:txBody>
          <a:bodyPr/>
          <a:lstStyle/>
          <a:p>
            <a:pPr>
              <a:buFont typeface="Arial" panose="020B0604020202020204" pitchFamily="34" charset="0"/>
              <a:buChar char="•"/>
            </a:pPr>
            <a:r>
              <a:rPr lang="zh-CN" altLang="en-US" sz="2400" dirty="0" smtClean="0">
                <a:solidFill>
                  <a:schemeClr val="accent3">
                    <a:lumMod val="50000"/>
                  </a:schemeClr>
                </a:solidFill>
              </a:rPr>
              <a:t>几乎所有</a:t>
            </a:r>
            <a:r>
              <a:rPr lang="en-US" altLang="zh-CN" sz="2400" dirty="0" smtClean="0">
                <a:solidFill>
                  <a:schemeClr val="accent3">
                    <a:lumMod val="50000"/>
                  </a:schemeClr>
                </a:solidFill>
              </a:rPr>
              <a:t>CAN</a:t>
            </a:r>
            <a:r>
              <a:rPr lang="zh-CN" altLang="en-US" sz="2400" dirty="0" smtClean="0">
                <a:solidFill>
                  <a:schemeClr val="accent3">
                    <a:lumMod val="50000"/>
                  </a:schemeClr>
                </a:solidFill>
              </a:rPr>
              <a:t>数据链路层的功能都直接在通信硬件上实现，许多控制系统中的应用过程可以直接访问</a:t>
            </a:r>
            <a:r>
              <a:rPr lang="en-US" altLang="zh-CN" sz="2400" dirty="0" smtClean="0">
                <a:solidFill>
                  <a:schemeClr val="accent3">
                    <a:lumMod val="50000"/>
                  </a:schemeClr>
                </a:solidFill>
              </a:rPr>
              <a:t>CAN</a:t>
            </a:r>
            <a:r>
              <a:rPr lang="zh-CN" altLang="en-US" sz="2400" dirty="0" smtClean="0">
                <a:solidFill>
                  <a:schemeClr val="accent3">
                    <a:lumMod val="50000"/>
                  </a:schemeClr>
                </a:solidFill>
              </a:rPr>
              <a:t>控制器，但数据链路层只提供基本通信服务，可能无法满足复杂应用需求；</a:t>
            </a:r>
            <a:endParaRPr lang="en-US" altLang="zh-CN" sz="2400" dirty="0" smtClean="0">
              <a:solidFill>
                <a:schemeClr val="accent3">
                  <a:lumMod val="50000"/>
                </a:schemeClr>
              </a:solidFill>
            </a:endParaRPr>
          </a:p>
          <a:p>
            <a:pPr>
              <a:buFont typeface="Arial" panose="020B0604020202020204" pitchFamily="34" charset="0"/>
              <a:buChar char="•"/>
            </a:pPr>
            <a:r>
              <a:rPr lang="zh-CN" altLang="en-US" sz="2400" dirty="0" smtClean="0">
                <a:solidFill>
                  <a:schemeClr val="accent3">
                    <a:lumMod val="50000"/>
                  </a:schemeClr>
                </a:solidFill>
              </a:rPr>
              <a:t>为了加快自动化与网络系统的实施，</a:t>
            </a:r>
            <a:r>
              <a:rPr lang="en-US" altLang="zh-CN" sz="2400" dirty="0" err="1" smtClean="0">
                <a:solidFill>
                  <a:schemeClr val="accent3">
                    <a:lumMod val="50000"/>
                  </a:schemeClr>
                </a:solidFill>
              </a:rPr>
              <a:t>CANopen</a:t>
            </a:r>
            <a:r>
              <a:rPr lang="zh-CN" altLang="en-US" sz="2400" dirty="0">
                <a:solidFill>
                  <a:schemeClr val="accent3">
                    <a:lumMod val="50000"/>
                  </a:schemeClr>
                </a:solidFill>
              </a:rPr>
              <a:t>基于</a:t>
            </a:r>
            <a:r>
              <a:rPr lang="en-US" altLang="zh-CN" sz="2400" dirty="0" smtClean="0">
                <a:solidFill>
                  <a:schemeClr val="accent3">
                    <a:lumMod val="50000"/>
                  </a:schemeClr>
                </a:solidFill>
              </a:rPr>
              <a:t>CAN</a:t>
            </a:r>
            <a:r>
              <a:rPr lang="zh-CN" altLang="en-US" sz="2400" dirty="0" smtClean="0">
                <a:solidFill>
                  <a:schemeClr val="accent3">
                    <a:lumMod val="50000"/>
                  </a:schemeClr>
                </a:solidFill>
              </a:rPr>
              <a:t>的信息传递机制定义了</a:t>
            </a:r>
            <a:r>
              <a:rPr lang="zh-CN" altLang="en-US" sz="2400" dirty="0" smtClean="0">
                <a:solidFill>
                  <a:srgbClr val="C00000"/>
                </a:solidFill>
              </a:rPr>
              <a:t>应用层</a:t>
            </a:r>
            <a:r>
              <a:rPr lang="zh-CN" altLang="en-US" sz="2400" dirty="0" smtClean="0">
                <a:solidFill>
                  <a:schemeClr val="accent3">
                    <a:lumMod val="50000"/>
                  </a:schemeClr>
                </a:solidFill>
              </a:rPr>
              <a:t>，提供一套定义良好、可在设备间进行</a:t>
            </a:r>
            <a:r>
              <a:rPr lang="zh-CN" altLang="en-US" sz="2400" dirty="0" smtClean="0">
                <a:solidFill>
                  <a:srgbClr val="C00000"/>
                </a:solidFill>
              </a:rPr>
              <a:t>标准化交互</a:t>
            </a:r>
            <a:r>
              <a:rPr lang="zh-CN" altLang="en-US" sz="2400" dirty="0" smtClean="0">
                <a:solidFill>
                  <a:schemeClr val="accent3">
                    <a:lumMod val="50000"/>
                  </a:schemeClr>
                </a:solidFill>
              </a:rPr>
              <a:t>的服务原语。</a:t>
            </a:r>
            <a:endParaRPr lang="en-US" altLang="zh-CN" dirty="0" smtClean="0">
              <a:solidFill>
                <a:schemeClr val="accent3">
                  <a:lumMod val="50000"/>
                </a:schemeClr>
              </a:solidFill>
            </a:endParaRPr>
          </a:p>
          <a:p>
            <a:pPr marL="0" indent="0">
              <a:buNone/>
            </a:pPr>
            <a:r>
              <a:rPr lang="en-US" altLang="zh-CN" b="1" dirty="0" smtClean="0">
                <a:solidFill>
                  <a:srgbClr val="FF0000"/>
                </a:solidFill>
              </a:rPr>
              <a:t>1. </a:t>
            </a:r>
            <a:r>
              <a:rPr lang="en-US" altLang="zh-CN" b="1" dirty="0" err="1" smtClean="0">
                <a:solidFill>
                  <a:srgbClr val="FF0000"/>
                </a:solidFill>
              </a:rPr>
              <a:t>CANopen</a:t>
            </a:r>
            <a:r>
              <a:rPr lang="zh-CN" altLang="en-US" b="1" dirty="0" smtClean="0">
                <a:solidFill>
                  <a:srgbClr val="FF0000"/>
                </a:solidFill>
              </a:rPr>
              <a:t>协议基础</a:t>
            </a:r>
            <a:endParaRPr lang="en-US" altLang="zh-CN" b="1" dirty="0" smtClean="0">
              <a:solidFill>
                <a:srgbClr val="FF0000"/>
              </a:solidFill>
            </a:endParaRPr>
          </a:p>
          <a:p>
            <a:pPr>
              <a:buFont typeface="Arial" panose="020B0604020202020204" pitchFamily="34" charset="0"/>
              <a:buChar char="•"/>
            </a:pPr>
            <a:r>
              <a:rPr lang="en-US" altLang="zh-CN" sz="2400" dirty="0" err="1" smtClean="0">
                <a:solidFill>
                  <a:schemeClr val="accent3">
                    <a:lumMod val="50000"/>
                  </a:schemeClr>
                </a:solidFill>
              </a:rPr>
              <a:t>CANopen</a:t>
            </a:r>
            <a:r>
              <a:rPr lang="zh-CN" altLang="en-US" sz="2400" dirty="0" smtClean="0">
                <a:solidFill>
                  <a:schemeClr val="accent3">
                    <a:lumMod val="50000"/>
                  </a:schemeClr>
                </a:solidFill>
              </a:rPr>
              <a:t>是以</a:t>
            </a:r>
            <a:r>
              <a:rPr lang="en-US" altLang="zh-CN" sz="2400" dirty="0" smtClean="0">
                <a:solidFill>
                  <a:schemeClr val="accent3">
                    <a:lumMod val="50000"/>
                  </a:schemeClr>
                </a:solidFill>
              </a:rPr>
              <a:t>CAN</a:t>
            </a:r>
            <a:r>
              <a:rPr lang="zh-CN" altLang="en-US" sz="2400" dirty="0" smtClean="0">
                <a:solidFill>
                  <a:schemeClr val="accent3">
                    <a:lumMod val="50000"/>
                  </a:schemeClr>
                </a:solidFill>
              </a:rPr>
              <a:t>为基础的应用层协议；</a:t>
            </a:r>
            <a:endParaRPr lang="en-US" altLang="zh-CN" sz="2400" dirty="0">
              <a:solidFill>
                <a:schemeClr val="accent3">
                  <a:lumMod val="50000"/>
                </a:schemeClr>
              </a:solidFill>
            </a:endParaRPr>
          </a:p>
          <a:p>
            <a:pPr>
              <a:buFont typeface="Arial" panose="020B0604020202020204" pitchFamily="34" charset="0"/>
              <a:buChar char="•"/>
            </a:pPr>
            <a:r>
              <a:rPr lang="en-US" altLang="zh-CN" sz="2400" dirty="0" err="1" smtClean="0">
                <a:solidFill>
                  <a:schemeClr val="accent3">
                    <a:lumMod val="50000"/>
                  </a:schemeClr>
                </a:solidFill>
              </a:rPr>
              <a:t>CANopen</a:t>
            </a:r>
            <a:r>
              <a:rPr lang="zh-CN" altLang="en-US" sz="2400" dirty="0">
                <a:solidFill>
                  <a:schemeClr val="accent3">
                    <a:lumMod val="50000"/>
                  </a:schemeClr>
                </a:solidFill>
              </a:rPr>
              <a:t>将</a:t>
            </a:r>
            <a:r>
              <a:rPr lang="zh-CN" altLang="en-US" sz="2400" dirty="0" smtClean="0">
                <a:solidFill>
                  <a:schemeClr val="accent3">
                    <a:lumMod val="50000"/>
                  </a:schemeClr>
                </a:solidFill>
              </a:rPr>
              <a:t>开发者与</a:t>
            </a:r>
            <a:r>
              <a:rPr lang="en-US" altLang="zh-CN" sz="2400" dirty="0" smtClean="0">
                <a:solidFill>
                  <a:schemeClr val="accent3">
                    <a:lumMod val="50000"/>
                  </a:schemeClr>
                </a:solidFill>
              </a:rPr>
              <a:t>CAN</a:t>
            </a:r>
            <a:r>
              <a:rPr lang="zh-CN" altLang="en-US" sz="2400" dirty="0" smtClean="0">
                <a:solidFill>
                  <a:schemeClr val="accent3">
                    <a:lumMod val="50000"/>
                  </a:schemeClr>
                </a:solidFill>
              </a:rPr>
              <a:t>的具体细节相隔离；</a:t>
            </a:r>
            <a:endParaRPr lang="en-US" altLang="zh-CN" sz="2400" dirty="0" smtClean="0">
              <a:solidFill>
                <a:schemeClr val="accent3">
                  <a:lumMod val="50000"/>
                </a:schemeClr>
              </a:solidFill>
            </a:endParaRPr>
          </a:p>
          <a:p>
            <a:pPr>
              <a:buFont typeface="Arial" panose="020B0604020202020204" pitchFamily="34" charset="0"/>
              <a:buChar char="•"/>
            </a:pPr>
            <a:r>
              <a:rPr lang="en-US" altLang="zh-CN" sz="2400" dirty="0" err="1" smtClean="0">
                <a:solidFill>
                  <a:schemeClr val="accent3">
                    <a:lumMod val="50000"/>
                  </a:schemeClr>
                </a:solidFill>
              </a:rPr>
              <a:t>CANopen</a:t>
            </a:r>
            <a:r>
              <a:rPr lang="zh-CN" altLang="en-US" sz="2400" dirty="0" smtClean="0">
                <a:solidFill>
                  <a:schemeClr val="accent3">
                    <a:lumMod val="50000"/>
                  </a:schemeClr>
                </a:solidFill>
              </a:rPr>
              <a:t>定义了标准化通信对象，用以处理实时数据、配置数据以及网络管理。</a:t>
            </a:r>
            <a:endParaRPr lang="en-US" altLang="zh-CN" sz="2400" dirty="0">
              <a:solidFill>
                <a:schemeClr val="accent3">
                  <a:lumMod val="50000"/>
                </a:schemeClr>
              </a:solidFill>
            </a:endParaRPr>
          </a:p>
          <a:p>
            <a:pPr marL="0" indent="0">
              <a:buNone/>
            </a:pPr>
            <a:endParaRPr lang="zh-CN" altLang="en-US" b="1" dirty="0" smtClean="0">
              <a:solidFill>
                <a:srgbClr val="FF0000"/>
              </a:solidFill>
            </a:endParaRPr>
          </a:p>
        </p:txBody>
      </p:sp>
    </p:spTree>
  </p:cSld>
  <p:clrMapOvr>
    <a:masterClrMapping/>
  </p:clrMapOvr>
  <p:transition spd="slow">
    <p:push dir="u"/>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 </a:t>
            </a:r>
            <a:r>
              <a:rPr lang="en-US" altLang="zh-CN" dirty="0" err="1"/>
              <a:t>CANopen</a:t>
            </a:r>
            <a:endParaRPr lang="zh-CN" altLang="en-US" dirty="0"/>
          </a:p>
        </p:txBody>
      </p:sp>
      <p:sp>
        <p:nvSpPr>
          <p:cNvPr id="3" name="内容占位符 2"/>
          <p:cNvSpPr>
            <a:spLocks noGrp="1"/>
          </p:cNvSpPr>
          <p:nvPr>
            <p:ph idx="1"/>
          </p:nvPr>
        </p:nvSpPr>
        <p:spPr/>
        <p:txBody>
          <a:bodyPr/>
          <a:lstStyle/>
          <a:p>
            <a:pPr>
              <a:buFont typeface="Wingdings" panose="05000000000000000000" pitchFamily="2" charset="2"/>
              <a:buChar char="p"/>
            </a:pPr>
            <a:r>
              <a:rPr lang="en-US" altLang="zh-CN" sz="2800" b="1" dirty="0" smtClean="0">
                <a:solidFill>
                  <a:srgbClr val="FF0000"/>
                </a:solidFill>
              </a:rPr>
              <a:t> </a:t>
            </a:r>
            <a:r>
              <a:rPr lang="zh-CN" altLang="en-US" sz="2800" b="1" dirty="0" smtClean="0">
                <a:solidFill>
                  <a:srgbClr val="FF0000"/>
                </a:solidFill>
              </a:rPr>
              <a:t>通信对象（</a:t>
            </a:r>
            <a:r>
              <a:rPr lang="en-US" altLang="zh-CN" sz="2800" b="1" dirty="0" smtClean="0">
                <a:solidFill>
                  <a:srgbClr val="FF0000"/>
                </a:solidFill>
              </a:rPr>
              <a:t>Communication Objects - COBs</a:t>
            </a:r>
            <a:r>
              <a:rPr lang="zh-CN" altLang="en-US" sz="2800" b="1" dirty="0" smtClean="0">
                <a:solidFill>
                  <a:srgbClr val="FF0000"/>
                </a:solidFill>
              </a:rPr>
              <a:t>）</a:t>
            </a:r>
            <a:endParaRPr lang="en-US" altLang="zh-CN" sz="2800" b="1" dirty="0" smtClean="0">
              <a:solidFill>
                <a:srgbClr val="FF0000"/>
              </a:solidFill>
            </a:endParaRPr>
          </a:p>
          <a:p>
            <a:pPr>
              <a:buFont typeface="Arial" panose="020B0604020202020204" pitchFamily="34" charset="0"/>
              <a:buChar char="•"/>
            </a:pPr>
            <a:r>
              <a:rPr lang="zh-CN" altLang="en-US" sz="2400" dirty="0">
                <a:solidFill>
                  <a:schemeClr val="accent3">
                    <a:lumMod val="50000"/>
                  </a:schemeClr>
                </a:solidFill>
              </a:rPr>
              <a:t>在</a:t>
            </a:r>
            <a:r>
              <a:rPr lang="en-US" altLang="zh-CN" sz="2400" dirty="0" err="1">
                <a:solidFill>
                  <a:schemeClr val="accent3">
                    <a:lumMod val="50000"/>
                  </a:schemeClr>
                </a:solidFill>
              </a:rPr>
              <a:t>CANopen</a:t>
            </a:r>
            <a:r>
              <a:rPr lang="zh-CN" altLang="en-US" sz="2400" dirty="0" smtClean="0">
                <a:solidFill>
                  <a:schemeClr val="accent3">
                    <a:lumMod val="50000"/>
                  </a:schemeClr>
                </a:solidFill>
              </a:rPr>
              <a:t>中，信息通过</a:t>
            </a:r>
            <a:r>
              <a:rPr lang="en-US" altLang="zh-CN" sz="2400" dirty="0" smtClean="0">
                <a:solidFill>
                  <a:schemeClr val="accent3">
                    <a:lumMod val="50000"/>
                  </a:schemeClr>
                </a:solidFill>
              </a:rPr>
              <a:t>COBs</a:t>
            </a:r>
            <a:r>
              <a:rPr lang="zh-CN" altLang="en-US" sz="2400" dirty="0" smtClean="0">
                <a:solidFill>
                  <a:schemeClr val="accent3">
                    <a:lumMod val="50000"/>
                  </a:schemeClr>
                </a:solidFill>
              </a:rPr>
              <a:t>交换；应用层服务包括许多实现</a:t>
            </a:r>
            <a:r>
              <a:rPr lang="zh-CN" altLang="en-US" sz="2400" dirty="0" smtClean="0">
                <a:solidFill>
                  <a:srgbClr val="C00000"/>
                </a:solidFill>
              </a:rPr>
              <a:t>不同功能</a:t>
            </a:r>
            <a:r>
              <a:rPr lang="zh-CN" altLang="en-US" sz="2400" dirty="0" smtClean="0">
                <a:solidFill>
                  <a:schemeClr val="accent3">
                    <a:lumMod val="50000"/>
                  </a:schemeClr>
                </a:solidFill>
              </a:rPr>
              <a:t>的</a:t>
            </a:r>
            <a:r>
              <a:rPr lang="en-US" altLang="zh-CN" sz="2400" dirty="0" smtClean="0">
                <a:solidFill>
                  <a:schemeClr val="accent3">
                    <a:lumMod val="50000"/>
                  </a:schemeClr>
                </a:solidFill>
              </a:rPr>
              <a:t>COBs</a:t>
            </a:r>
            <a:r>
              <a:rPr lang="zh-CN" altLang="en-US" sz="2400" dirty="0" smtClean="0">
                <a:solidFill>
                  <a:schemeClr val="accent3">
                    <a:lumMod val="50000"/>
                  </a:schemeClr>
                </a:solidFill>
              </a:rPr>
              <a:t>；</a:t>
            </a:r>
            <a:endParaRPr lang="en-US" altLang="zh-CN" sz="2400" dirty="0" smtClean="0">
              <a:solidFill>
                <a:schemeClr val="accent3">
                  <a:lumMod val="50000"/>
                </a:schemeClr>
              </a:solidFill>
            </a:endParaRPr>
          </a:p>
          <a:p>
            <a:pPr marL="514350" indent="-457200">
              <a:buFont typeface="+mj-ea"/>
              <a:buAutoNum type="circleNumDbPlain"/>
            </a:pPr>
            <a:r>
              <a:rPr lang="zh-CN" altLang="en-US" sz="2400" dirty="0" smtClean="0">
                <a:solidFill>
                  <a:srgbClr val="C00000"/>
                </a:solidFill>
              </a:rPr>
              <a:t>过程数据对象</a:t>
            </a:r>
            <a:r>
              <a:rPr lang="zh-CN" altLang="en-US" sz="2400" dirty="0" smtClean="0">
                <a:solidFill>
                  <a:schemeClr val="accent3">
                    <a:lumMod val="50000"/>
                  </a:schemeClr>
                </a:solidFill>
              </a:rPr>
              <a:t>：用于实时数据交换，如控制物理系统使用的传感器测量值，执行器控制指令值）；</a:t>
            </a:r>
            <a:endParaRPr lang="en-US" altLang="zh-CN" sz="2400" dirty="0" smtClean="0">
              <a:solidFill>
                <a:schemeClr val="accent3">
                  <a:lumMod val="50000"/>
                </a:schemeClr>
              </a:solidFill>
            </a:endParaRPr>
          </a:p>
          <a:p>
            <a:pPr marL="514350" indent="-457200">
              <a:buFont typeface="+mj-ea"/>
              <a:buAutoNum type="circleNumDbPlain"/>
            </a:pPr>
            <a:r>
              <a:rPr lang="zh-CN" altLang="en-US" sz="2400" dirty="0" smtClean="0">
                <a:solidFill>
                  <a:srgbClr val="C00000"/>
                </a:solidFill>
              </a:rPr>
              <a:t>服务数据对象</a:t>
            </a:r>
            <a:r>
              <a:rPr lang="zh-CN" altLang="en-US" sz="2400" dirty="0" smtClean="0">
                <a:solidFill>
                  <a:schemeClr val="accent3">
                    <a:lumMod val="50000"/>
                  </a:schemeClr>
                </a:solidFill>
              </a:rPr>
              <a:t>：用于非实时通信，如设备参数设置、诊断；</a:t>
            </a:r>
            <a:endParaRPr lang="en-US" altLang="zh-CN" sz="2400" dirty="0" smtClean="0">
              <a:solidFill>
                <a:schemeClr val="accent3">
                  <a:lumMod val="50000"/>
                </a:schemeClr>
              </a:solidFill>
            </a:endParaRPr>
          </a:p>
          <a:p>
            <a:pPr marL="514350" indent="-457200">
              <a:buFont typeface="+mj-ea"/>
              <a:buAutoNum type="circleNumDbPlain"/>
            </a:pPr>
            <a:r>
              <a:rPr lang="zh-CN" altLang="en-US" sz="2400" dirty="0">
                <a:solidFill>
                  <a:srgbClr val="C00000"/>
                </a:solidFill>
              </a:rPr>
              <a:t>突发</a:t>
            </a:r>
            <a:r>
              <a:rPr lang="zh-CN" altLang="en-US" sz="2400" dirty="0" smtClean="0">
                <a:solidFill>
                  <a:srgbClr val="C00000"/>
                </a:solidFill>
              </a:rPr>
              <a:t>对象</a:t>
            </a:r>
            <a:r>
              <a:rPr lang="zh-CN" altLang="en-US" sz="2400" dirty="0" smtClean="0">
                <a:solidFill>
                  <a:schemeClr val="accent3">
                    <a:lumMod val="50000"/>
                  </a:schemeClr>
                </a:solidFill>
              </a:rPr>
              <a:t>：用于异步通知错误条件的发生；</a:t>
            </a:r>
            <a:endParaRPr lang="en-US" altLang="zh-CN" sz="2400" dirty="0">
              <a:solidFill>
                <a:schemeClr val="accent3">
                  <a:lumMod val="50000"/>
                </a:schemeClr>
              </a:solidFill>
            </a:endParaRPr>
          </a:p>
          <a:p>
            <a:pPr marL="514350" indent="-457200">
              <a:buFont typeface="+mj-ea"/>
              <a:buAutoNum type="circleNumDbPlain"/>
            </a:pPr>
            <a:r>
              <a:rPr lang="zh-CN" altLang="en-US" sz="2400" dirty="0" smtClean="0">
                <a:solidFill>
                  <a:srgbClr val="C00000"/>
                </a:solidFill>
              </a:rPr>
              <a:t>同步对象</a:t>
            </a:r>
            <a:r>
              <a:rPr lang="zh-CN" altLang="en-US" sz="2400" dirty="0" smtClean="0">
                <a:solidFill>
                  <a:schemeClr val="accent3">
                    <a:lumMod val="50000"/>
                  </a:schemeClr>
                </a:solidFill>
              </a:rPr>
              <a:t>：用于在系统中同步与协调操作；</a:t>
            </a:r>
            <a:endParaRPr lang="en-US" altLang="zh-CN" sz="2400" dirty="0" smtClean="0">
              <a:solidFill>
                <a:schemeClr val="accent3">
                  <a:lumMod val="50000"/>
                </a:schemeClr>
              </a:solidFill>
            </a:endParaRPr>
          </a:p>
          <a:p>
            <a:pPr marL="514350" indent="-457200">
              <a:buFont typeface="+mj-ea"/>
              <a:buAutoNum type="circleNumDbPlain"/>
            </a:pPr>
            <a:r>
              <a:rPr lang="zh-CN" altLang="en-US" sz="2400" dirty="0">
                <a:solidFill>
                  <a:srgbClr val="C00000"/>
                </a:solidFill>
              </a:rPr>
              <a:t>时间</a:t>
            </a:r>
            <a:r>
              <a:rPr lang="zh-CN" altLang="en-US" sz="2400" dirty="0" smtClean="0">
                <a:solidFill>
                  <a:srgbClr val="C00000"/>
                </a:solidFill>
              </a:rPr>
              <a:t>戳对象</a:t>
            </a:r>
            <a:r>
              <a:rPr lang="zh-CN" altLang="en-US" sz="2400" dirty="0" smtClean="0">
                <a:solidFill>
                  <a:schemeClr val="accent3">
                    <a:lumMod val="50000"/>
                  </a:schemeClr>
                </a:solidFill>
              </a:rPr>
              <a:t>：用于广播全系统时间信息，设备可利用其调整本地时间；</a:t>
            </a:r>
            <a:endParaRPr lang="en-US" altLang="zh-CN" sz="2400" dirty="0" smtClean="0">
              <a:solidFill>
                <a:schemeClr val="accent3">
                  <a:lumMod val="50000"/>
                </a:schemeClr>
              </a:solidFill>
            </a:endParaRPr>
          </a:p>
          <a:p>
            <a:pPr marL="514350" indent="-457200">
              <a:buFont typeface="+mj-ea"/>
              <a:buAutoNum type="circleNumDbPlain"/>
            </a:pPr>
            <a:r>
              <a:rPr lang="zh-CN" altLang="en-US" sz="2400" dirty="0" smtClean="0">
                <a:solidFill>
                  <a:srgbClr val="C00000"/>
                </a:solidFill>
              </a:rPr>
              <a:t>网络管理对象</a:t>
            </a:r>
            <a:r>
              <a:rPr lang="zh-CN" altLang="en-US" sz="2400" dirty="0" smtClean="0">
                <a:solidFill>
                  <a:schemeClr val="accent3">
                    <a:lumMod val="50000"/>
                  </a:schemeClr>
                </a:solidFill>
              </a:rPr>
              <a:t>：用于提供网络管理服务，如确定设备在线或离线；</a:t>
            </a:r>
            <a:endParaRPr lang="en-US" altLang="zh-CN" sz="2400" dirty="0" smtClean="0">
              <a:solidFill>
                <a:schemeClr val="accent3">
                  <a:lumMod val="50000"/>
                </a:schemeClr>
              </a:solidFill>
            </a:endParaRPr>
          </a:p>
          <a:p>
            <a:pPr>
              <a:buFont typeface="Arial" panose="020B0604020202020204" pitchFamily="34" charset="0"/>
              <a:buChar char="•"/>
            </a:pPr>
            <a:endParaRPr lang="zh-CN" altLang="en-US" sz="2400" dirty="0">
              <a:solidFill>
                <a:schemeClr val="accent3">
                  <a:lumMod val="50000"/>
                </a:schemeClr>
              </a:solidFill>
            </a:endParaRPr>
          </a:p>
        </p:txBody>
      </p:sp>
    </p:spTree>
    <p:extLst>
      <p:ext uri="{BB962C8B-B14F-4D97-AF65-F5344CB8AC3E}">
        <p14:creationId xmlns:p14="http://schemas.microsoft.com/office/powerpoint/2010/main" val="106301273"/>
      </p:ext>
    </p:extLst>
  </p:cSld>
  <p:clrMapOvr>
    <a:masterClrMapping/>
  </p:clrMapOvr>
  <p:transition spd="slow">
    <p:push dir="u"/>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 </a:t>
            </a:r>
            <a:r>
              <a:rPr lang="en-US" altLang="zh-CN" dirty="0" err="1"/>
              <a:t>CANopen</a:t>
            </a:r>
            <a:endParaRPr lang="zh-CN" altLang="en-US" dirty="0"/>
          </a:p>
        </p:txBody>
      </p:sp>
      <p:sp>
        <p:nvSpPr>
          <p:cNvPr id="3" name="内容占位符 2"/>
          <p:cNvSpPr>
            <a:spLocks noGrp="1"/>
          </p:cNvSpPr>
          <p:nvPr>
            <p:ph idx="1"/>
          </p:nvPr>
        </p:nvSpPr>
        <p:spPr/>
        <p:txBody>
          <a:bodyPr/>
          <a:lstStyle/>
          <a:p>
            <a:pPr>
              <a:buFont typeface="Wingdings" panose="05000000000000000000" pitchFamily="2" charset="2"/>
              <a:buChar char="p"/>
            </a:pPr>
            <a:r>
              <a:rPr lang="en-US" altLang="zh-CN" sz="2800" b="1" dirty="0" smtClean="0">
                <a:solidFill>
                  <a:srgbClr val="FF0000"/>
                </a:solidFill>
              </a:rPr>
              <a:t> </a:t>
            </a:r>
            <a:r>
              <a:rPr lang="zh-CN" altLang="en-US" sz="2800" b="1" dirty="0">
                <a:solidFill>
                  <a:srgbClr val="FF0000"/>
                </a:solidFill>
              </a:rPr>
              <a:t>通信协议</a:t>
            </a:r>
            <a:endParaRPr lang="en-US" altLang="zh-CN" sz="2800" b="1" dirty="0">
              <a:solidFill>
                <a:srgbClr val="FF0000"/>
              </a:solidFill>
            </a:endParaRPr>
          </a:p>
          <a:p>
            <a:pPr>
              <a:buFont typeface="Arial" panose="020B0604020202020204" pitchFamily="34" charset="0"/>
              <a:buChar char="•"/>
            </a:pPr>
            <a:r>
              <a:rPr lang="en-US" altLang="zh-CN" sz="2400" dirty="0" smtClean="0"/>
              <a:t>CAN</a:t>
            </a:r>
            <a:r>
              <a:rPr lang="zh-CN" altLang="en-US" sz="2400" dirty="0" smtClean="0"/>
              <a:t>的基础是生产</a:t>
            </a:r>
            <a:r>
              <a:rPr lang="en-US" altLang="zh-CN" sz="2400" dirty="0" smtClean="0"/>
              <a:t>/</a:t>
            </a:r>
            <a:r>
              <a:rPr lang="zh-CN" altLang="en-US" sz="2400" dirty="0" smtClean="0"/>
              <a:t>消费交互模型以及对象地址，但对于应用层服务来说，其不是与设备交互的最佳选择；</a:t>
            </a:r>
            <a:endParaRPr lang="en-US" altLang="zh-CN" sz="2400" dirty="0" smtClean="0"/>
          </a:p>
          <a:p>
            <a:pPr>
              <a:buFont typeface="Arial" panose="020B0604020202020204" pitchFamily="34" charset="0"/>
              <a:buChar char="•"/>
            </a:pPr>
            <a:r>
              <a:rPr lang="en-US" altLang="zh-CN" sz="2400" dirty="0" err="1" smtClean="0"/>
              <a:t>CANopen</a:t>
            </a:r>
            <a:r>
              <a:rPr lang="zh-CN" altLang="en-US" sz="2400" dirty="0" smtClean="0"/>
              <a:t>中，额外定义了</a:t>
            </a:r>
            <a:r>
              <a:rPr lang="zh-CN" altLang="en-US" sz="2400" dirty="0" smtClean="0">
                <a:solidFill>
                  <a:srgbClr val="C00000"/>
                </a:solidFill>
              </a:rPr>
              <a:t>主</a:t>
            </a:r>
            <a:r>
              <a:rPr lang="en-US" altLang="zh-CN" sz="2400" dirty="0" smtClean="0">
                <a:solidFill>
                  <a:srgbClr val="C00000"/>
                </a:solidFill>
              </a:rPr>
              <a:t>/</a:t>
            </a:r>
            <a:r>
              <a:rPr lang="zh-CN" altLang="en-US" sz="2400" dirty="0" smtClean="0">
                <a:solidFill>
                  <a:srgbClr val="C00000"/>
                </a:solidFill>
              </a:rPr>
              <a:t>从</a:t>
            </a:r>
            <a:r>
              <a:rPr lang="zh-CN" altLang="en-US" sz="2400" dirty="0" smtClean="0"/>
              <a:t>、</a:t>
            </a:r>
            <a:r>
              <a:rPr lang="zh-CN" altLang="en-US" sz="2400" dirty="0" smtClean="0">
                <a:solidFill>
                  <a:srgbClr val="C00000"/>
                </a:solidFill>
              </a:rPr>
              <a:t>客户端</a:t>
            </a:r>
            <a:r>
              <a:rPr lang="en-US" altLang="zh-CN" sz="2400" dirty="0" smtClean="0">
                <a:solidFill>
                  <a:srgbClr val="C00000"/>
                </a:solidFill>
              </a:rPr>
              <a:t>/</a:t>
            </a:r>
            <a:r>
              <a:rPr lang="zh-CN" altLang="en-US" sz="2400" dirty="0" smtClean="0">
                <a:solidFill>
                  <a:srgbClr val="C00000"/>
                </a:solidFill>
              </a:rPr>
              <a:t>服务器</a:t>
            </a:r>
            <a:r>
              <a:rPr lang="zh-CN" altLang="en-US" sz="2400" dirty="0" smtClean="0"/>
              <a:t>两种协议；</a:t>
            </a:r>
            <a:endParaRPr lang="en-US" altLang="zh-CN" sz="2400" dirty="0" smtClean="0"/>
          </a:p>
          <a:p>
            <a:pPr>
              <a:buFont typeface="Arial" panose="020B0604020202020204" pitchFamily="34" charset="0"/>
              <a:buChar char="•"/>
            </a:pPr>
            <a:r>
              <a:rPr lang="zh-CN" altLang="en-US" sz="2400" dirty="0" smtClean="0"/>
              <a:t>处理</a:t>
            </a:r>
            <a:r>
              <a:rPr lang="zh-CN" altLang="en-US" sz="2400" dirty="0" smtClean="0">
                <a:solidFill>
                  <a:srgbClr val="C00000"/>
                </a:solidFill>
              </a:rPr>
              <a:t>网络管理</a:t>
            </a:r>
            <a:r>
              <a:rPr lang="zh-CN" altLang="en-US" sz="2400" dirty="0" smtClean="0"/>
              <a:t>任务，</a:t>
            </a:r>
            <a:r>
              <a:rPr lang="zh-CN" altLang="en-US" sz="2400" dirty="0"/>
              <a:t>主</a:t>
            </a:r>
            <a:r>
              <a:rPr lang="en-US" altLang="zh-CN" sz="2400" dirty="0"/>
              <a:t>/</a:t>
            </a:r>
            <a:r>
              <a:rPr lang="zh-CN" altLang="en-US" sz="2400" dirty="0"/>
              <a:t>从</a:t>
            </a:r>
            <a:r>
              <a:rPr lang="zh-CN" altLang="en-US" sz="2400" dirty="0" smtClean="0"/>
              <a:t>协议更好；</a:t>
            </a:r>
            <a:r>
              <a:rPr lang="en-US" altLang="zh-CN" sz="2400" dirty="0" err="1" smtClean="0"/>
              <a:t>CANopen</a:t>
            </a:r>
            <a:r>
              <a:rPr lang="zh-CN" altLang="en-US" sz="2400" dirty="0" smtClean="0"/>
              <a:t>网络中，每个设备都由一个</a:t>
            </a:r>
            <a:r>
              <a:rPr lang="en-US" altLang="zh-CN" sz="2400" dirty="0" smtClean="0"/>
              <a:t>7</a:t>
            </a:r>
            <a:r>
              <a:rPr lang="zh-CN" altLang="en-US" sz="2400" dirty="0" smtClean="0"/>
              <a:t>位节点地址标识（</a:t>
            </a:r>
            <a:r>
              <a:rPr lang="en-US" altLang="zh-CN" sz="2400" dirty="0" smtClean="0"/>
              <a:t>1~127</a:t>
            </a:r>
            <a:r>
              <a:rPr lang="zh-CN" altLang="en-US" sz="2400" dirty="0" smtClean="0"/>
              <a:t>），其皆提供预先定义的主</a:t>
            </a:r>
            <a:r>
              <a:rPr lang="en-US" altLang="zh-CN" sz="2400" dirty="0" smtClean="0"/>
              <a:t>-</a:t>
            </a:r>
            <a:r>
              <a:rPr lang="zh-CN" altLang="en-US" sz="2400" dirty="0" smtClean="0"/>
              <a:t>从连接集合，从而在初始化后实现</a:t>
            </a:r>
            <a:r>
              <a:rPr lang="en-US" altLang="zh-CN" sz="2400" dirty="0" smtClean="0"/>
              <a:t>CAN-ID</a:t>
            </a:r>
            <a:r>
              <a:rPr lang="zh-CN" altLang="en-US" sz="2400" dirty="0" smtClean="0"/>
              <a:t>至</a:t>
            </a:r>
            <a:r>
              <a:rPr lang="en-US" altLang="zh-CN" sz="2400" dirty="0" smtClean="0"/>
              <a:t>COBs</a:t>
            </a:r>
            <a:r>
              <a:rPr lang="zh-CN" altLang="en-US" sz="2400" dirty="0" smtClean="0"/>
              <a:t>的标准分配方案。</a:t>
            </a:r>
            <a:endParaRPr lang="en-US" altLang="zh-CN" sz="2400" dirty="0" smtClean="0"/>
          </a:p>
          <a:p>
            <a:pPr>
              <a:buFont typeface="Arial" panose="020B0604020202020204" pitchFamily="34" charset="0"/>
              <a:buChar char="•"/>
            </a:pPr>
            <a:r>
              <a:rPr lang="zh-CN" altLang="en-US" sz="2400" dirty="0" smtClean="0">
                <a:solidFill>
                  <a:srgbClr val="C00000"/>
                </a:solidFill>
              </a:rPr>
              <a:t>设备配置</a:t>
            </a:r>
            <a:r>
              <a:rPr lang="zh-CN" altLang="en-US" sz="2400" dirty="0" smtClean="0"/>
              <a:t>通过客户端</a:t>
            </a:r>
            <a:r>
              <a:rPr lang="en-US" altLang="zh-CN" sz="2400" dirty="0" smtClean="0"/>
              <a:t>/</a:t>
            </a:r>
            <a:r>
              <a:rPr lang="zh-CN" altLang="en-US" sz="2400" dirty="0" smtClean="0"/>
              <a:t>服务器协议，在点对点连接基础上实现。</a:t>
            </a:r>
            <a:endParaRPr lang="zh-CN" altLang="en-US" sz="2400" dirty="0"/>
          </a:p>
        </p:txBody>
      </p:sp>
    </p:spTree>
    <p:extLst>
      <p:ext uri="{BB962C8B-B14F-4D97-AF65-F5344CB8AC3E}">
        <p14:creationId xmlns:p14="http://schemas.microsoft.com/office/powerpoint/2010/main" val="2096084413"/>
      </p:ext>
    </p:extLst>
  </p:cSld>
  <p:clrMapOvr>
    <a:masterClrMapping/>
  </p:clrMapOvr>
  <p:transition spd="slow">
    <p:push dir="u"/>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 </a:t>
            </a:r>
            <a:r>
              <a:rPr lang="en-US" altLang="zh-CN" dirty="0" err="1"/>
              <a:t>CANopen</a:t>
            </a:r>
            <a:endParaRPr lang="zh-CN" altLang="en-US" dirty="0"/>
          </a:p>
        </p:txBody>
      </p:sp>
      <p:sp>
        <p:nvSpPr>
          <p:cNvPr id="3" name="内容占位符 2"/>
          <p:cNvSpPr>
            <a:spLocks noGrp="1"/>
          </p:cNvSpPr>
          <p:nvPr>
            <p:ph idx="1"/>
          </p:nvPr>
        </p:nvSpPr>
        <p:spPr/>
        <p:txBody>
          <a:bodyPr/>
          <a:lstStyle/>
          <a:p>
            <a:pPr marL="0" indent="0">
              <a:buNone/>
            </a:pPr>
            <a:r>
              <a:rPr lang="en-US" altLang="zh-CN" b="1" dirty="0">
                <a:solidFill>
                  <a:srgbClr val="FF0000"/>
                </a:solidFill>
              </a:rPr>
              <a:t>2. </a:t>
            </a:r>
            <a:r>
              <a:rPr lang="zh-CN" altLang="en-US" b="1" dirty="0">
                <a:solidFill>
                  <a:srgbClr val="FF0000"/>
                </a:solidFill>
              </a:rPr>
              <a:t>设备</a:t>
            </a:r>
            <a:r>
              <a:rPr lang="zh-CN" altLang="en-US" b="1" dirty="0" smtClean="0">
                <a:solidFill>
                  <a:srgbClr val="FF0000"/>
                </a:solidFill>
              </a:rPr>
              <a:t>模型</a:t>
            </a:r>
            <a:endParaRPr lang="en-US" altLang="zh-CN" b="1" dirty="0" smtClean="0">
              <a:solidFill>
                <a:srgbClr val="FF0000"/>
              </a:solidFill>
            </a:endParaRPr>
          </a:p>
          <a:p>
            <a:pPr>
              <a:buFont typeface="Arial" panose="020B0604020202020204" pitchFamily="34" charset="0"/>
              <a:buChar char="•"/>
            </a:pPr>
            <a:r>
              <a:rPr lang="en-US" altLang="zh-CN" sz="2400" b="1" dirty="0" err="1" smtClean="0">
                <a:solidFill>
                  <a:schemeClr val="accent3">
                    <a:lumMod val="50000"/>
                  </a:schemeClr>
                </a:solidFill>
              </a:rPr>
              <a:t>CANopen</a:t>
            </a:r>
            <a:r>
              <a:rPr lang="zh-CN" altLang="en-US" sz="2400" b="1" dirty="0" smtClean="0">
                <a:solidFill>
                  <a:schemeClr val="accent3">
                    <a:lumMod val="50000"/>
                  </a:schemeClr>
                </a:solidFill>
              </a:rPr>
              <a:t>设备的</a:t>
            </a:r>
            <a:r>
              <a:rPr lang="zh-CN" altLang="en-US" sz="2400" b="1" dirty="0" smtClean="0">
                <a:solidFill>
                  <a:srgbClr val="C00000"/>
                </a:solidFill>
              </a:rPr>
              <a:t>行为由</a:t>
            </a:r>
            <a:r>
              <a:rPr lang="zh-CN" altLang="en-US" sz="2400" b="1" dirty="0" smtClean="0">
                <a:solidFill>
                  <a:schemeClr val="accent3">
                    <a:lumMod val="50000"/>
                  </a:schemeClr>
                </a:solidFill>
              </a:rPr>
              <a:t>一定数量的</a:t>
            </a:r>
            <a:r>
              <a:rPr lang="zh-CN" altLang="en-US" sz="2400" b="1" dirty="0" smtClean="0">
                <a:solidFill>
                  <a:srgbClr val="C00000"/>
                </a:solidFill>
              </a:rPr>
              <a:t>对象完全描述</a:t>
            </a:r>
            <a:r>
              <a:rPr lang="zh-CN" altLang="en-US" sz="2400" b="1" dirty="0" smtClean="0">
                <a:solidFill>
                  <a:schemeClr val="accent3">
                    <a:lumMod val="50000"/>
                  </a:schemeClr>
                </a:solidFill>
              </a:rPr>
              <a:t>；</a:t>
            </a:r>
            <a:endParaRPr lang="en-US" altLang="zh-CN" sz="2400" b="1" dirty="0" smtClean="0">
              <a:solidFill>
                <a:schemeClr val="accent3">
                  <a:lumMod val="50000"/>
                </a:schemeClr>
              </a:solidFill>
            </a:endParaRPr>
          </a:p>
          <a:p>
            <a:pPr>
              <a:buFont typeface="Arial" panose="020B0604020202020204" pitchFamily="34" charset="0"/>
              <a:buChar char="•"/>
            </a:pPr>
            <a:r>
              <a:rPr lang="zh-CN" altLang="en-US" sz="2400" b="1" dirty="0" smtClean="0">
                <a:solidFill>
                  <a:srgbClr val="C00000"/>
                </a:solidFill>
              </a:rPr>
              <a:t>每个对象</a:t>
            </a:r>
            <a:r>
              <a:rPr lang="zh-CN" altLang="en-US" sz="2400" b="1" dirty="0" smtClean="0">
                <a:solidFill>
                  <a:schemeClr val="accent3">
                    <a:lumMod val="50000"/>
                  </a:schemeClr>
                </a:solidFill>
              </a:rPr>
              <a:t>负责设备的</a:t>
            </a:r>
            <a:r>
              <a:rPr lang="zh-CN" altLang="en-US" sz="2400" b="1" dirty="0" smtClean="0">
                <a:solidFill>
                  <a:srgbClr val="C00000"/>
                </a:solidFill>
              </a:rPr>
              <a:t>某个特定方面</a:t>
            </a:r>
            <a:r>
              <a:rPr lang="zh-CN" altLang="en-US" sz="2400" b="1" dirty="0" smtClean="0">
                <a:solidFill>
                  <a:schemeClr val="accent3">
                    <a:lumMod val="50000"/>
                  </a:schemeClr>
                </a:solidFill>
              </a:rPr>
              <a:t>，如设备配置，</a:t>
            </a:r>
            <a:r>
              <a:rPr lang="en-US" altLang="zh-CN" sz="2400" b="1" dirty="0" smtClean="0">
                <a:solidFill>
                  <a:schemeClr val="accent3">
                    <a:lumMod val="50000"/>
                  </a:schemeClr>
                </a:solidFill>
              </a:rPr>
              <a:t>CAN</a:t>
            </a:r>
            <a:r>
              <a:rPr lang="zh-CN" altLang="en-US" sz="2400" b="1" dirty="0" smtClean="0">
                <a:solidFill>
                  <a:schemeClr val="accent3">
                    <a:lumMod val="50000"/>
                  </a:schemeClr>
                </a:solidFill>
              </a:rPr>
              <a:t>总线通信，与被控物理系统交互</a:t>
            </a:r>
            <a:r>
              <a:rPr lang="zh-CN" altLang="en-US" sz="2400" b="1" dirty="0">
                <a:solidFill>
                  <a:schemeClr val="accent3">
                    <a:lumMod val="50000"/>
                  </a:schemeClr>
                </a:solidFill>
              </a:rPr>
              <a:t>的</a:t>
            </a:r>
            <a:r>
              <a:rPr lang="zh-CN" altLang="en-US" sz="2400" b="1" dirty="0" smtClean="0">
                <a:solidFill>
                  <a:schemeClr val="accent3">
                    <a:lumMod val="50000"/>
                  </a:schemeClr>
                </a:solidFill>
              </a:rPr>
              <a:t>功能（定义设备类型，制造商名称，硬件与软件版本等）</a:t>
            </a:r>
            <a:endParaRPr lang="en-US" altLang="zh-CN" sz="2400" b="1" dirty="0" smtClean="0">
              <a:solidFill>
                <a:schemeClr val="accent3">
                  <a:lumMod val="50000"/>
                </a:schemeClr>
              </a:solidFill>
            </a:endParaRPr>
          </a:p>
          <a:p>
            <a:pPr>
              <a:buFont typeface="Arial" panose="020B0604020202020204" pitchFamily="34" charset="0"/>
              <a:buChar char="•"/>
            </a:pPr>
            <a:r>
              <a:rPr lang="zh-CN" altLang="en-US" sz="2400" b="1" dirty="0" smtClean="0">
                <a:solidFill>
                  <a:srgbClr val="C00000"/>
                </a:solidFill>
              </a:rPr>
              <a:t>所有</a:t>
            </a:r>
            <a:r>
              <a:rPr lang="zh-CN" altLang="en-US" sz="2400" b="1" dirty="0" smtClean="0">
                <a:solidFill>
                  <a:schemeClr val="accent3">
                    <a:lumMod val="50000"/>
                  </a:schemeClr>
                </a:solidFill>
              </a:rPr>
              <a:t>与给定设备相关的</a:t>
            </a:r>
            <a:r>
              <a:rPr lang="zh-CN" altLang="en-US" sz="2400" b="1" dirty="0" smtClean="0">
                <a:solidFill>
                  <a:srgbClr val="C00000"/>
                </a:solidFill>
              </a:rPr>
              <a:t>对象</a:t>
            </a:r>
            <a:r>
              <a:rPr lang="zh-CN" altLang="en-US" sz="2400" b="1" dirty="0" smtClean="0">
                <a:solidFill>
                  <a:schemeClr val="accent3">
                    <a:lumMod val="50000"/>
                  </a:schemeClr>
                </a:solidFill>
              </a:rPr>
              <a:t>都保存在</a:t>
            </a:r>
            <a:r>
              <a:rPr lang="zh-CN" altLang="en-US" sz="2400" b="1" dirty="0" smtClean="0">
                <a:solidFill>
                  <a:srgbClr val="C00000"/>
                </a:solidFill>
              </a:rPr>
              <a:t>对象词典</a:t>
            </a:r>
            <a:r>
              <a:rPr lang="zh-CN" altLang="en-US" sz="2400" b="1" dirty="0" smtClean="0">
                <a:solidFill>
                  <a:schemeClr val="accent3">
                    <a:lumMod val="50000"/>
                  </a:schemeClr>
                </a:solidFill>
              </a:rPr>
              <a:t>（</a:t>
            </a:r>
            <a:r>
              <a:rPr lang="en-US" altLang="zh-CN" sz="2400" b="1" dirty="0" smtClean="0">
                <a:solidFill>
                  <a:schemeClr val="accent3">
                    <a:lumMod val="50000"/>
                  </a:schemeClr>
                </a:solidFill>
              </a:rPr>
              <a:t>object dictionary</a:t>
            </a:r>
            <a:r>
              <a:rPr lang="zh-CN" altLang="en-US" sz="2400" b="1" dirty="0" smtClean="0">
                <a:solidFill>
                  <a:schemeClr val="accent3">
                    <a:lumMod val="50000"/>
                  </a:schemeClr>
                </a:solidFill>
              </a:rPr>
              <a:t>）中；</a:t>
            </a:r>
            <a:endParaRPr lang="en-US" altLang="zh-CN" sz="2400" b="1" dirty="0">
              <a:solidFill>
                <a:schemeClr val="accent3">
                  <a:lumMod val="50000"/>
                </a:schemeClr>
              </a:solidFill>
            </a:endParaRPr>
          </a:p>
          <a:p>
            <a:pPr>
              <a:buFont typeface="Arial" panose="020B0604020202020204" pitchFamily="34" charset="0"/>
              <a:buChar char="•"/>
            </a:pPr>
            <a:r>
              <a:rPr lang="en-US" altLang="zh-CN" sz="2400" b="1" dirty="0" smtClean="0">
                <a:solidFill>
                  <a:schemeClr val="accent3">
                    <a:lumMod val="50000"/>
                  </a:schemeClr>
                </a:solidFill>
              </a:rPr>
              <a:t>CAN</a:t>
            </a:r>
            <a:r>
              <a:rPr lang="zh-CN" altLang="en-US" sz="2400" b="1" dirty="0" smtClean="0">
                <a:solidFill>
                  <a:schemeClr val="accent3">
                    <a:lumMod val="50000"/>
                  </a:schemeClr>
                </a:solidFill>
              </a:rPr>
              <a:t>上的帧交换与作用于物理系统上的本地应用之间的交互是通过对象词典进行的；</a:t>
            </a:r>
            <a:endParaRPr lang="en-US" altLang="zh-CN" sz="2400" b="1" dirty="0" smtClean="0">
              <a:solidFill>
                <a:schemeClr val="accent3">
                  <a:lumMod val="50000"/>
                </a:schemeClr>
              </a:solidFill>
            </a:endParaRPr>
          </a:p>
          <a:p>
            <a:pPr marL="0" indent="0">
              <a:buNone/>
            </a:pPr>
            <a:r>
              <a:rPr lang="zh-CN" altLang="en-US" sz="2400" b="1" dirty="0" smtClean="0">
                <a:solidFill>
                  <a:schemeClr val="accent3">
                    <a:lumMod val="50000"/>
                  </a:schemeClr>
                </a:solidFill>
              </a:rPr>
              <a:t>（</a:t>
            </a:r>
            <a:r>
              <a:rPr lang="en-US" altLang="zh-CN" sz="2400" b="1" dirty="0" err="1" smtClean="0">
                <a:solidFill>
                  <a:srgbClr val="C00000"/>
                </a:solidFill>
              </a:rPr>
              <a:t>CANopen</a:t>
            </a:r>
            <a:r>
              <a:rPr lang="zh-CN" altLang="en-US" sz="2400" b="1" dirty="0" smtClean="0">
                <a:solidFill>
                  <a:srgbClr val="C00000"/>
                </a:solidFill>
              </a:rPr>
              <a:t>设备模型</a:t>
            </a:r>
            <a:r>
              <a:rPr lang="zh-CN" altLang="en-US" sz="2400" b="1" dirty="0">
                <a:solidFill>
                  <a:schemeClr val="accent3">
                    <a:lumMod val="50000"/>
                  </a:schemeClr>
                </a:solidFill>
              </a:rPr>
              <a:t>见</a:t>
            </a:r>
            <a:r>
              <a:rPr lang="zh-CN" altLang="en-US" sz="2400" b="1" dirty="0" smtClean="0">
                <a:solidFill>
                  <a:schemeClr val="accent3">
                    <a:lumMod val="50000"/>
                  </a:schemeClr>
                </a:solidFill>
              </a:rPr>
              <a:t>下页</a:t>
            </a:r>
            <a:r>
              <a:rPr lang="zh-CN" altLang="en-US" sz="2400" b="1" dirty="0">
                <a:solidFill>
                  <a:schemeClr val="accent3">
                    <a:lumMod val="50000"/>
                  </a:schemeClr>
                </a:solidFill>
              </a:rPr>
              <a:t>图</a:t>
            </a:r>
            <a:r>
              <a:rPr lang="zh-CN" altLang="en-US" sz="2400" b="1" dirty="0" smtClean="0">
                <a:solidFill>
                  <a:schemeClr val="accent3">
                    <a:lumMod val="50000"/>
                  </a:schemeClr>
                </a:solidFill>
              </a:rPr>
              <a:t>）</a:t>
            </a:r>
            <a:endParaRPr lang="en-US" altLang="zh-CN" sz="2400" b="1" dirty="0" smtClean="0">
              <a:solidFill>
                <a:schemeClr val="accent3">
                  <a:lumMod val="50000"/>
                </a:schemeClr>
              </a:solidFill>
            </a:endParaRPr>
          </a:p>
          <a:p>
            <a:pPr marL="0" indent="0">
              <a:buNone/>
            </a:pPr>
            <a:endParaRPr lang="en-US" altLang="zh-CN" sz="2400" b="1" dirty="0" smtClean="0">
              <a:solidFill>
                <a:schemeClr val="accent3">
                  <a:lumMod val="50000"/>
                </a:schemeClr>
              </a:solidFill>
            </a:endParaRPr>
          </a:p>
        </p:txBody>
      </p:sp>
    </p:spTree>
    <p:extLst>
      <p:ext uri="{BB962C8B-B14F-4D97-AF65-F5344CB8AC3E}">
        <p14:creationId xmlns:p14="http://schemas.microsoft.com/office/powerpoint/2010/main" val="3373154503"/>
      </p:ext>
    </p:extLst>
  </p:cSld>
  <p:clrMapOvr>
    <a:masterClrMapping/>
  </p:clrMapOvr>
  <p:transition spd="slow">
    <p:push dir="u"/>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 </a:t>
            </a:r>
            <a:r>
              <a:rPr lang="en-US" altLang="zh-CN" dirty="0" err="1"/>
              <a:t>CANopen</a:t>
            </a:r>
            <a:endParaRPr lang="zh-CN" altLang="en-US" dirty="0"/>
          </a:p>
        </p:txBody>
      </p:sp>
      <p:pic>
        <p:nvPicPr>
          <p:cNvPr id="4" name="内容占位符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79512" y="1196752"/>
            <a:ext cx="8640960" cy="3831521"/>
          </a:xfrm>
        </p:spPr>
      </p:pic>
      <p:sp>
        <p:nvSpPr>
          <p:cNvPr id="5" name="TextBox 4"/>
          <p:cNvSpPr txBox="1"/>
          <p:nvPr/>
        </p:nvSpPr>
        <p:spPr>
          <a:xfrm>
            <a:off x="3131840" y="5301208"/>
            <a:ext cx="3312368" cy="523220"/>
          </a:xfrm>
          <a:prstGeom prst="rect">
            <a:avLst/>
          </a:prstGeom>
          <a:noFill/>
        </p:spPr>
        <p:txBody>
          <a:bodyPr wrap="square" rtlCol="0">
            <a:spAutoFit/>
          </a:bodyPr>
          <a:lstStyle/>
          <a:p>
            <a:pPr algn="ctr"/>
            <a:r>
              <a:rPr lang="en-US" altLang="zh-CN" sz="2800" b="1" dirty="0" err="1" smtClean="0">
                <a:solidFill>
                  <a:schemeClr val="accent3">
                    <a:lumMod val="50000"/>
                  </a:schemeClr>
                </a:solidFill>
              </a:rPr>
              <a:t>CANopen</a:t>
            </a:r>
            <a:r>
              <a:rPr lang="zh-CN" altLang="en-US" sz="2800" b="1" dirty="0" smtClean="0">
                <a:solidFill>
                  <a:schemeClr val="accent3">
                    <a:lumMod val="50000"/>
                  </a:schemeClr>
                </a:solidFill>
              </a:rPr>
              <a:t>设备模型</a:t>
            </a:r>
            <a:endParaRPr lang="zh-CN" altLang="en-US" sz="2800" b="1" dirty="0">
              <a:solidFill>
                <a:schemeClr val="accent3">
                  <a:lumMod val="50000"/>
                </a:schemeClr>
              </a:solidFill>
            </a:endParaRPr>
          </a:p>
        </p:txBody>
      </p:sp>
    </p:spTree>
    <p:extLst>
      <p:ext uri="{BB962C8B-B14F-4D97-AF65-F5344CB8AC3E}">
        <p14:creationId xmlns:p14="http://schemas.microsoft.com/office/powerpoint/2010/main" val="977962881"/>
      </p:ext>
    </p:extLst>
  </p:cSld>
  <p:clrMapOvr>
    <a:masterClrMapping/>
  </p:clrMapOvr>
  <p:transition spd="slow">
    <p:push dir="u"/>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 </a:t>
            </a:r>
            <a:r>
              <a:rPr lang="en-US" altLang="zh-CN" dirty="0" err="1"/>
              <a:t>CANopen</a:t>
            </a:r>
            <a:endParaRPr lang="zh-CN" altLang="en-US" dirty="0"/>
          </a:p>
        </p:txBody>
      </p:sp>
      <p:sp>
        <p:nvSpPr>
          <p:cNvPr id="3" name="内容占位符 2"/>
          <p:cNvSpPr>
            <a:spLocks noGrp="1"/>
          </p:cNvSpPr>
          <p:nvPr>
            <p:ph idx="1"/>
          </p:nvPr>
        </p:nvSpPr>
        <p:spPr/>
        <p:txBody>
          <a:bodyPr/>
          <a:lstStyle/>
          <a:p>
            <a:pPr>
              <a:buFont typeface="Wingdings" panose="05000000000000000000" pitchFamily="2" charset="2"/>
              <a:buChar char="p"/>
            </a:pPr>
            <a:r>
              <a:rPr lang="zh-CN" altLang="en-US" sz="2800" b="1" dirty="0" smtClean="0">
                <a:solidFill>
                  <a:srgbClr val="FF0000"/>
                </a:solidFill>
              </a:rPr>
              <a:t>对象字典 </a:t>
            </a:r>
            <a:r>
              <a:rPr lang="en-US" altLang="zh-CN" sz="2800" b="1" dirty="0" smtClean="0">
                <a:solidFill>
                  <a:srgbClr val="FF0000"/>
                </a:solidFill>
              </a:rPr>
              <a:t>– Object Dictionary</a:t>
            </a:r>
          </a:p>
          <a:p>
            <a:pPr>
              <a:buFont typeface="Arial" panose="020B0604020202020204" pitchFamily="34" charset="0"/>
              <a:buChar char="•"/>
            </a:pPr>
            <a:r>
              <a:rPr lang="zh-CN" altLang="en-US" sz="2400" dirty="0"/>
              <a:t>对象字典可以看作是存储设备相关信息的一个</a:t>
            </a:r>
            <a:r>
              <a:rPr lang="zh-CN" altLang="en-US" sz="2400" dirty="0" smtClean="0"/>
              <a:t>表，用于保存设备参数与过程数据；</a:t>
            </a:r>
            <a:endParaRPr lang="en-US" altLang="zh-CN" sz="2400" dirty="0" smtClean="0"/>
          </a:p>
          <a:p>
            <a:pPr>
              <a:buFont typeface="Arial" panose="020B0604020202020204" pitchFamily="34" charset="0"/>
              <a:buChar char="•"/>
            </a:pPr>
            <a:r>
              <a:rPr lang="zh-CN" altLang="en-US" sz="2400" dirty="0" smtClean="0"/>
              <a:t>对象字典可以包含最大</a:t>
            </a:r>
            <a:r>
              <a:rPr lang="en-US" altLang="zh-CN" sz="2400" dirty="0" smtClean="0"/>
              <a:t>65536</a:t>
            </a:r>
            <a:r>
              <a:rPr lang="zh-CN" altLang="en-US" sz="2400" dirty="0" smtClean="0"/>
              <a:t>个不同对象，每个对象具有唯一</a:t>
            </a:r>
            <a:r>
              <a:rPr lang="en-US" altLang="zh-CN" sz="2400" dirty="0" smtClean="0"/>
              <a:t>16</a:t>
            </a:r>
            <a:r>
              <a:rPr lang="zh-CN" altLang="en-US" sz="2400" dirty="0" smtClean="0"/>
              <a:t>位地址，每个对象可以是简单（布尔、整数、浮点及字符串等）或复杂（数组或记录）类型；</a:t>
            </a:r>
            <a:endParaRPr lang="en-US" altLang="zh-CN" sz="2400" dirty="0" smtClean="0"/>
          </a:p>
          <a:p>
            <a:pPr>
              <a:buFont typeface="Arial" panose="020B0604020202020204" pitchFamily="34" charset="0"/>
              <a:buChar char="•"/>
            </a:pPr>
            <a:r>
              <a:rPr lang="zh-CN" altLang="en-US" sz="2400" dirty="0" smtClean="0"/>
              <a:t>复杂类型最多</a:t>
            </a:r>
            <a:r>
              <a:rPr lang="zh-CN" altLang="en-US" sz="2400" dirty="0"/>
              <a:t>包含</a:t>
            </a:r>
            <a:r>
              <a:rPr lang="en-US" altLang="zh-CN" sz="2400" dirty="0" smtClean="0"/>
              <a:t>256</a:t>
            </a:r>
            <a:r>
              <a:rPr lang="zh-CN" altLang="en-US" sz="2400" dirty="0" smtClean="0"/>
              <a:t>个子项，每个子项以</a:t>
            </a:r>
            <a:r>
              <a:rPr lang="en-US" altLang="zh-CN" sz="2400" dirty="0" smtClean="0"/>
              <a:t>8</a:t>
            </a:r>
            <a:r>
              <a:rPr lang="zh-CN" altLang="en-US" sz="2400" dirty="0" smtClean="0"/>
              <a:t>位子索引标识；</a:t>
            </a:r>
            <a:endParaRPr lang="en-US" altLang="zh-CN" sz="2400" dirty="0" smtClean="0"/>
          </a:p>
          <a:p>
            <a:pPr>
              <a:buFont typeface="Arial" panose="020B0604020202020204" pitchFamily="34" charset="0"/>
              <a:buChar char="•"/>
            </a:pPr>
            <a:endParaRPr lang="en-US" altLang="zh-CN" sz="2400" dirty="0" smtClean="0"/>
          </a:p>
          <a:p>
            <a:pPr>
              <a:buFont typeface="Arial" panose="020B0604020202020204" pitchFamily="34" charset="0"/>
              <a:buChar char="•"/>
            </a:pPr>
            <a:endParaRPr lang="en-US" altLang="zh-CN" sz="2400" dirty="0" smtClean="0"/>
          </a:p>
          <a:p>
            <a:pPr>
              <a:buFont typeface="Arial" panose="020B0604020202020204" pitchFamily="34" charset="0"/>
              <a:buChar char="•"/>
            </a:pPr>
            <a:endParaRPr lang="zh-CN" altLang="en-US" sz="2400" dirty="0"/>
          </a:p>
        </p:txBody>
      </p:sp>
    </p:spTree>
    <p:extLst>
      <p:ext uri="{BB962C8B-B14F-4D97-AF65-F5344CB8AC3E}">
        <p14:creationId xmlns:p14="http://schemas.microsoft.com/office/powerpoint/2010/main" val="3995419656"/>
      </p:ext>
    </p:extLst>
  </p:cSld>
  <p:clrMapOvr>
    <a:masterClrMapping/>
  </p:clrMapOvr>
  <p:transition spd="slow">
    <p:push dir="u"/>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 </a:t>
            </a:r>
            <a:r>
              <a:rPr lang="en-US" altLang="zh-CN" dirty="0" err="1"/>
              <a:t>CANopen</a:t>
            </a:r>
            <a:endParaRPr lang="zh-CN" altLang="en-US" dirty="0"/>
          </a:p>
        </p:txBody>
      </p:sp>
      <p:sp>
        <p:nvSpPr>
          <p:cNvPr id="3" name="内容占位符 2"/>
          <p:cNvSpPr>
            <a:spLocks noGrp="1"/>
          </p:cNvSpPr>
          <p:nvPr>
            <p:ph idx="1"/>
          </p:nvPr>
        </p:nvSpPr>
        <p:spPr/>
        <p:txBody>
          <a:bodyPr/>
          <a:lstStyle/>
          <a:p>
            <a:pPr>
              <a:buFont typeface="Wingdings" panose="05000000000000000000" pitchFamily="2" charset="2"/>
              <a:buChar char="p"/>
            </a:pPr>
            <a:r>
              <a:rPr lang="zh-CN" altLang="en-US" sz="2800" b="1" dirty="0">
                <a:solidFill>
                  <a:srgbClr val="FF0000"/>
                </a:solidFill>
              </a:rPr>
              <a:t>对象字典结构</a:t>
            </a:r>
            <a:endParaRPr lang="en-US" altLang="zh-CN" sz="2800" b="1" dirty="0">
              <a:solidFill>
                <a:srgbClr val="FF0000"/>
              </a:solidFill>
            </a:endParaRPr>
          </a:p>
          <a:p>
            <a:pPr marL="0" indent="0">
              <a:buNone/>
            </a:pPr>
            <a:r>
              <a:rPr lang="zh-CN" altLang="en-US" sz="2400" dirty="0" smtClean="0"/>
              <a:t>依据记录的索引值，对象字典被划分为单独的区域，用于存储不同类型的信息：</a:t>
            </a:r>
            <a:endParaRPr lang="en-US" altLang="zh-CN" sz="2400" dirty="0" smtClean="0"/>
          </a:p>
          <a:p>
            <a:pPr>
              <a:buFont typeface="Arial" panose="020B0604020202020204" pitchFamily="34" charset="0"/>
              <a:buChar char="•"/>
            </a:pPr>
            <a:r>
              <a:rPr lang="en-US" altLang="zh-CN" sz="2400" dirty="0" smtClean="0"/>
              <a:t>1000</a:t>
            </a:r>
            <a:r>
              <a:rPr lang="en-US" altLang="zh-CN" sz="2400" baseline="-25000" dirty="0" smtClean="0"/>
              <a:t>h</a:t>
            </a:r>
            <a:r>
              <a:rPr lang="zh-CN" altLang="en-US" sz="2400" dirty="0" smtClean="0"/>
              <a:t>以下的记录用于规定数据类型，</a:t>
            </a:r>
            <a:r>
              <a:rPr lang="en-US" altLang="zh-CN" sz="2400" dirty="0" smtClean="0"/>
              <a:t>0260</a:t>
            </a:r>
            <a:r>
              <a:rPr lang="en-US" altLang="zh-CN" sz="2400" baseline="-25000" dirty="0" smtClean="0"/>
              <a:t>h</a:t>
            </a:r>
            <a:r>
              <a:rPr lang="en-US" altLang="zh-CN" sz="2400" dirty="0" smtClean="0"/>
              <a:t>~0FFF</a:t>
            </a:r>
            <a:r>
              <a:rPr lang="en-US" altLang="zh-CN" sz="2400" baseline="-25000" dirty="0" smtClean="0"/>
              <a:t>h</a:t>
            </a:r>
            <a:r>
              <a:rPr lang="zh-CN" altLang="en-US" sz="2400" dirty="0" smtClean="0"/>
              <a:t>保留；</a:t>
            </a:r>
            <a:endParaRPr lang="en-US" altLang="zh-CN" sz="2400" dirty="0" smtClean="0"/>
          </a:p>
          <a:p>
            <a:pPr>
              <a:buFont typeface="Arial" panose="020B0604020202020204" pitchFamily="34" charset="0"/>
              <a:buChar char="•"/>
            </a:pPr>
            <a:r>
              <a:rPr lang="en-US" altLang="zh-CN" sz="2400" dirty="0" smtClean="0"/>
              <a:t>1000</a:t>
            </a:r>
            <a:r>
              <a:rPr lang="en-US" altLang="zh-CN" sz="2400" baseline="-25000" dirty="0" smtClean="0"/>
              <a:t>h</a:t>
            </a:r>
            <a:r>
              <a:rPr lang="en-US" altLang="zh-CN" sz="2400" dirty="0" smtClean="0"/>
              <a:t>~1FFF</a:t>
            </a:r>
            <a:r>
              <a:rPr lang="en-US" altLang="zh-CN" sz="2400" baseline="-25000" dirty="0" smtClean="0"/>
              <a:t>h</a:t>
            </a:r>
            <a:r>
              <a:rPr lang="zh-CN" altLang="en-US" sz="2400" dirty="0" smtClean="0"/>
              <a:t>为通信配置区，用于描述通信相关参数、设备与</a:t>
            </a:r>
            <a:r>
              <a:rPr lang="en-US" altLang="zh-CN" sz="2400" dirty="0" smtClean="0"/>
              <a:t>CAN</a:t>
            </a:r>
            <a:r>
              <a:rPr lang="zh-CN" altLang="en-US" sz="2400" dirty="0" smtClean="0"/>
              <a:t>的接口模型等；</a:t>
            </a:r>
            <a:endParaRPr lang="en-US" altLang="zh-CN" sz="2400" dirty="0" smtClean="0"/>
          </a:p>
          <a:p>
            <a:pPr>
              <a:buFont typeface="Arial" panose="020B0604020202020204" pitchFamily="34" charset="0"/>
              <a:buChar char="•"/>
            </a:pPr>
            <a:r>
              <a:rPr lang="en-US" altLang="zh-CN" sz="2400" dirty="0" smtClean="0"/>
              <a:t>2000</a:t>
            </a:r>
            <a:r>
              <a:rPr lang="en-US" altLang="zh-CN" sz="2400" baseline="-25000" dirty="0" smtClean="0"/>
              <a:t>h</a:t>
            </a:r>
            <a:r>
              <a:rPr lang="en-US" altLang="zh-CN" sz="2400" dirty="0" smtClean="0"/>
              <a:t>~5FFF</a:t>
            </a:r>
            <a:r>
              <a:rPr lang="en-US" altLang="zh-CN" sz="2400" baseline="-25000" dirty="0" smtClean="0"/>
              <a:t>h</a:t>
            </a:r>
            <a:r>
              <a:rPr lang="zh-CN" altLang="en-US" sz="2400" dirty="0" smtClean="0"/>
              <a:t>为生产商配置区，生产商在此区域扩展其设备的基本功能，</a:t>
            </a:r>
            <a:endParaRPr lang="en-US" altLang="zh-CN" sz="2400" dirty="0" smtClean="0"/>
          </a:p>
          <a:p>
            <a:pPr>
              <a:buFont typeface="Arial" panose="020B0604020202020204" pitchFamily="34" charset="0"/>
              <a:buChar char="•"/>
            </a:pPr>
            <a:r>
              <a:rPr lang="en-US" altLang="zh-CN" sz="2400" dirty="0" smtClean="0"/>
              <a:t>6000</a:t>
            </a:r>
            <a:r>
              <a:rPr lang="en-US" altLang="zh-CN" sz="2400" baseline="-25000" dirty="0" smtClean="0"/>
              <a:t>h</a:t>
            </a:r>
            <a:r>
              <a:rPr lang="en-US" altLang="zh-CN" sz="2400" dirty="0" smtClean="0"/>
              <a:t>~9FFF</a:t>
            </a:r>
            <a:r>
              <a:rPr lang="en-US" altLang="zh-CN" sz="2400" baseline="-25000" dirty="0" smtClean="0"/>
              <a:t>h</a:t>
            </a:r>
            <a:r>
              <a:rPr lang="zh-CN" altLang="en-US" sz="2400" dirty="0" smtClean="0"/>
              <a:t>为标准配置区，用标准化方法描述给定类型设备的所有信息，其被分为</a:t>
            </a:r>
            <a:r>
              <a:rPr lang="en-US" altLang="zh-CN" sz="2400" dirty="0" smtClean="0"/>
              <a:t>8</a:t>
            </a:r>
            <a:r>
              <a:rPr lang="zh-CN" altLang="en-US" sz="2400" dirty="0" smtClean="0"/>
              <a:t>个部分，每部分对应一个逻辑设备；</a:t>
            </a:r>
            <a:endParaRPr lang="en-US" altLang="zh-CN" sz="2400" dirty="0" smtClean="0"/>
          </a:p>
          <a:p>
            <a:pPr>
              <a:buFont typeface="Arial" panose="020B0604020202020204" pitchFamily="34" charset="0"/>
              <a:buChar char="•"/>
            </a:pPr>
            <a:r>
              <a:rPr lang="en-US" altLang="zh-CN" sz="2400" dirty="0" err="1" smtClean="0"/>
              <a:t>CANopen</a:t>
            </a:r>
            <a:r>
              <a:rPr lang="en-US" altLang="zh-CN" sz="2400" dirty="0" smtClean="0"/>
              <a:t> v4.2.0</a:t>
            </a:r>
            <a:r>
              <a:rPr lang="zh-CN" altLang="en-US" sz="2400" dirty="0" smtClean="0"/>
              <a:t>中，</a:t>
            </a:r>
            <a:r>
              <a:rPr lang="en-US" altLang="zh-CN" sz="2400" dirty="0" smtClean="0"/>
              <a:t>A000</a:t>
            </a:r>
            <a:r>
              <a:rPr lang="en-US" altLang="zh-CN" sz="2400" baseline="-25000" dirty="0" smtClean="0"/>
              <a:t>h</a:t>
            </a:r>
            <a:r>
              <a:rPr lang="en-US" altLang="zh-CN" sz="2400" dirty="0" smtClean="0"/>
              <a:t>~BFFF</a:t>
            </a:r>
            <a:r>
              <a:rPr lang="en-US" altLang="zh-CN" sz="2400" baseline="-25000" dirty="0" smtClean="0"/>
              <a:t>h</a:t>
            </a:r>
            <a:r>
              <a:rPr lang="zh-CN" altLang="en-US" sz="2400" dirty="0"/>
              <a:t>为</a:t>
            </a:r>
            <a:r>
              <a:rPr lang="zh-CN" altLang="en-US" sz="2400" dirty="0" smtClean="0"/>
              <a:t>标准化网络与系统变量区，</a:t>
            </a:r>
            <a:r>
              <a:rPr lang="en-US" altLang="zh-CN" sz="2400" dirty="0" smtClean="0"/>
              <a:t>C000</a:t>
            </a:r>
            <a:r>
              <a:rPr lang="en-US" altLang="zh-CN" sz="2400" baseline="-25000" dirty="0" smtClean="0"/>
              <a:t>h</a:t>
            </a:r>
            <a:r>
              <a:rPr lang="zh-CN" altLang="en-US" sz="2400" dirty="0" smtClean="0"/>
              <a:t>以上目前保留</a:t>
            </a:r>
            <a:endParaRPr lang="zh-CN" altLang="en-US" sz="2400" dirty="0"/>
          </a:p>
        </p:txBody>
      </p:sp>
    </p:spTree>
    <p:extLst>
      <p:ext uri="{BB962C8B-B14F-4D97-AF65-F5344CB8AC3E}">
        <p14:creationId xmlns:p14="http://schemas.microsoft.com/office/powerpoint/2010/main" val="1457384783"/>
      </p:ext>
    </p:extLst>
  </p:cSld>
  <p:clrMapOvr>
    <a:masterClrMapping/>
  </p:clrMapOvr>
  <p:transition spd="slow">
    <p:push dir="u"/>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 </a:t>
            </a:r>
            <a:r>
              <a:rPr lang="en-US" altLang="zh-CN" dirty="0" err="1"/>
              <a:t>CANopen</a:t>
            </a:r>
            <a:endParaRPr lang="zh-CN" altLang="en-US" dirty="0"/>
          </a:p>
        </p:txBody>
      </p:sp>
      <p:sp>
        <p:nvSpPr>
          <p:cNvPr id="3" name="内容占位符 2"/>
          <p:cNvSpPr>
            <a:spLocks noGrp="1"/>
          </p:cNvSpPr>
          <p:nvPr>
            <p:ph idx="1"/>
          </p:nvPr>
        </p:nvSpPr>
        <p:spPr/>
        <p:txBody>
          <a:bodyPr/>
          <a:lstStyle/>
          <a:p>
            <a:pPr marL="0" indent="0">
              <a:buNone/>
            </a:pPr>
            <a:r>
              <a:rPr lang="en-US" altLang="zh-CN" b="1" dirty="0" smtClean="0">
                <a:solidFill>
                  <a:srgbClr val="FF0000"/>
                </a:solidFill>
              </a:rPr>
              <a:t>3. </a:t>
            </a:r>
            <a:r>
              <a:rPr lang="zh-CN" altLang="en-US" b="1" dirty="0">
                <a:solidFill>
                  <a:srgbClr val="FF0000"/>
                </a:solidFill>
              </a:rPr>
              <a:t>过程数据</a:t>
            </a:r>
            <a:r>
              <a:rPr lang="zh-CN" altLang="en-US" b="1" dirty="0" smtClean="0">
                <a:solidFill>
                  <a:srgbClr val="FF0000"/>
                </a:solidFill>
              </a:rPr>
              <a:t>对象 </a:t>
            </a:r>
            <a:r>
              <a:rPr lang="en-US" altLang="zh-CN" b="1" dirty="0" smtClean="0">
                <a:solidFill>
                  <a:srgbClr val="FF0000"/>
                </a:solidFill>
              </a:rPr>
              <a:t>– Process Data Objects</a:t>
            </a:r>
          </a:p>
          <a:p>
            <a:pPr>
              <a:buFont typeface="Arial" panose="020B0604020202020204" pitchFamily="34" charset="0"/>
              <a:buChar char="•"/>
            </a:pPr>
            <a:r>
              <a:rPr lang="zh-CN" altLang="en-US" sz="2400" dirty="0" smtClean="0">
                <a:solidFill>
                  <a:schemeClr val="accent3">
                    <a:lumMod val="50000"/>
                  </a:schemeClr>
                </a:solidFill>
              </a:rPr>
              <a:t>根据生产</a:t>
            </a:r>
            <a:r>
              <a:rPr lang="en-US" altLang="zh-CN" sz="2400" dirty="0" smtClean="0">
                <a:solidFill>
                  <a:schemeClr val="accent3">
                    <a:lumMod val="50000"/>
                  </a:schemeClr>
                </a:solidFill>
              </a:rPr>
              <a:t>/</a:t>
            </a:r>
            <a:r>
              <a:rPr lang="zh-CN" altLang="en-US" sz="2400" dirty="0" smtClean="0">
                <a:solidFill>
                  <a:schemeClr val="accent3">
                    <a:lumMod val="50000"/>
                  </a:schemeClr>
                </a:solidFill>
              </a:rPr>
              <a:t>消费模型，控制物理系统的实时数据通过</a:t>
            </a:r>
            <a:r>
              <a:rPr lang="zh-CN" altLang="en-US" sz="2400" dirty="0" smtClean="0">
                <a:solidFill>
                  <a:srgbClr val="FF0000"/>
                </a:solidFill>
              </a:rPr>
              <a:t>过程数据对象</a:t>
            </a:r>
            <a:r>
              <a:rPr lang="zh-CN" altLang="en-US" sz="2400" dirty="0" smtClean="0">
                <a:solidFill>
                  <a:schemeClr val="accent3">
                    <a:lumMod val="50000"/>
                  </a:schemeClr>
                </a:solidFill>
              </a:rPr>
              <a:t>进行交换；</a:t>
            </a:r>
            <a:endParaRPr lang="en-US" altLang="zh-CN" sz="2400" dirty="0" smtClean="0">
              <a:solidFill>
                <a:schemeClr val="accent3">
                  <a:lumMod val="50000"/>
                </a:schemeClr>
              </a:solidFill>
            </a:endParaRPr>
          </a:p>
          <a:p>
            <a:pPr>
              <a:buFont typeface="Arial" panose="020B0604020202020204" pitchFamily="34" charset="0"/>
              <a:buChar char="•"/>
            </a:pPr>
            <a:r>
              <a:rPr lang="en-US" altLang="zh-CN" sz="2400" dirty="0" smtClean="0">
                <a:solidFill>
                  <a:schemeClr val="accent3">
                    <a:lumMod val="50000"/>
                  </a:schemeClr>
                </a:solidFill>
              </a:rPr>
              <a:t>PDO</a:t>
            </a:r>
            <a:r>
              <a:rPr lang="zh-CN" altLang="en-US" sz="2400" dirty="0" smtClean="0">
                <a:solidFill>
                  <a:schemeClr val="accent3">
                    <a:lumMod val="50000"/>
                  </a:schemeClr>
                </a:solidFill>
              </a:rPr>
              <a:t>的过程数据被编码至</a:t>
            </a:r>
            <a:r>
              <a:rPr lang="en-US" altLang="zh-CN" sz="2400" dirty="0" smtClean="0">
                <a:solidFill>
                  <a:schemeClr val="accent3">
                    <a:lumMod val="50000"/>
                  </a:schemeClr>
                </a:solidFill>
              </a:rPr>
              <a:t>CAN</a:t>
            </a:r>
            <a:r>
              <a:rPr lang="zh-CN" altLang="en-US" sz="2400" dirty="0" smtClean="0">
                <a:solidFill>
                  <a:schemeClr val="accent3">
                    <a:lumMod val="50000"/>
                  </a:schemeClr>
                </a:solidFill>
              </a:rPr>
              <a:t>数据帧的数据场中</a:t>
            </a:r>
            <a:r>
              <a:rPr lang="zh-CN" altLang="en-US" sz="2400" dirty="0">
                <a:solidFill>
                  <a:schemeClr val="accent3">
                    <a:lumMod val="50000"/>
                  </a:schemeClr>
                </a:solidFill>
              </a:rPr>
              <a:t>（一个过程数据对象最多有</a:t>
            </a:r>
            <a:r>
              <a:rPr lang="en-US" altLang="zh-CN" sz="2400" dirty="0">
                <a:solidFill>
                  <a:schemeClr val="accent3">
                    <a:lumMod val="50000"/>
                  </a:schemeClr>
                </a:solidFill>
              </a:rPr>
              <a:t>8byte</a:t>
            </a:r>
            <a:r>
              <a:rPr lang="zh-CN" altLang="en-US" sz="2400" dirty="0">
                <a:solidFill>
                  <a:schemeClr val="accent3">
                    <a:lumMod val="50000"/>
                  </a:schemeClr>
                </a:solidFill>
              </a:rPr>
              <a:t>数据</a:t>
            </a:r>
            <a:r>
              <a:rPr lang="zh-CN" altLang="en-US" sz="2400" dirty="0" smtClean="0">
                <a:solidFill>
                  <a:schemeClr val="accent3">
                    <a:lumMod val="50000"/>
                  </a:schemeClr>
                </a:solidFill>
              </a:rPr>
              <a:t>）；</a:t>
            </a:r>
            <a:endParaRPr lang="en-US" altLang="zh-CN" sz="2400" dirty="0" smtClean="0">
              <a:solidFill>
                <a:schemeClr val="accent3">
                  <a:lumMod val="50000"/>
                </a:schemeClr>
              </a:solidFill>
            </a:endParaRPr>
          </a:p>
          <a:p>
            <a:pPr>
              <a:buFont typeface="Arial" panose="020B0604020202020204" pitchFamily="34" charset="0"/>
              <a:buChar char="•"/>
            </a:pPr>
            <a:r>
              <a:rPr lang="en-US" altLang="zh-CN" sz="2400" dirty="0" err="1" smtClean="0">
                <a:solidFill>
                  <a:schemeClr val="accent3">
                    <a:lumMod val="50000"/>
                  </a:schemeClr>
                </a:solidFill>
              </a:rPr>
              <a:t>CANopen</a:t>
            </a:r>
            <a:r>
              <a:rPr lang="zh-CN" altLang="en-US" sz="2400" dirty="0" smtClean="0">
                <a:solidFill>
                  <a:schemeClr val="accent3">
                    <a:lumMod val="50000"/>
                  </a:schemeClr>
                </a:solidFill>
              </a:rPr>
              <a:t>设备中有</a:t>
            </a:r>
            <a:r>
              <a:rPr lang="zh-CN" altLang="en-US" sz="2400" dirty="0" smtClean="0">
                <a:solidFill>
                  <a:srgbClr val="FF0000"/>
                </a:solidFill>
              </a:rPr>
              <a:t>两种类型</a:t>
            </a:r>
            <a:r>
              <a:rPr lang="zh-CN" altLang="en-US" sz="2400" dirty="0" smtClean="0">
                <a:solidFill>
                  <a:schemeClr val="accent3">
                    <a:lumMod val="50000"/>
                  </a:schemeClr>
                </a:solidFill>
              </a:rPr>
              <a:t>过程数据对象，</a:t>
            </a:r>
            <a:r>
              <a:rPr lang="zh-CN" altLang="en-US" sz="2400" dirty="0" smtClean="0">
                <a:solidFill>
                  <a:srgbClr val="C00000"/>
                </a:solidFill>
              </a:rPr>
              <a:t>发送过程数据对象 </a:t>
            </a:r>
            <a:r>
              <a:rPr lang="zh-CN" altLang="en-US" sz="2400" dirty="0" smtClean="0">
                <a:solidFill>
                  <a:schemeClr val="accent3">
                    <a:lumMod val="50000"/>
                  </a:schemeClr>
                </a:solidFill>
              </a:rPr>
              <a:t>（</a:t>
            </a:r>
            <a:r>
              <a:rPr lang="en-US" altLang="zh-CN" sz="2400" dirty="0" smtClean="0">
                <a:solidFill>
                  <a:schemeClr val="accent3">
                    <a:lumMod val="50000"/>
                  </a:schemeClr>
                </a:solidFill>
              </a:rPr>
              <a:t>TPDO</a:t>
            </a:r>
            <a:r>
              <a:rPr lang="zh-CN" altLang="en-US" sz="2400" dirty="0" smtClean="0">
                <a:solidFill>
                  <a:schemeClr val="accent3">
                    <a:lumMod val="50000"/>
                  </a:schemeClr>
                </a:solidFill>
              </a:rPr>
              <a:t>）、</a:t>
            </a:r>
            <a:r>
              <a:rPr lang="zh-CN" altLang="en-US" sz="2400" dirty="0" smtClean="0">
                <a:solidFill>
                  <a:srgbClr val="C00000"/>
                </a:solidFill>
              </a:rPr>
              <a:t>接收过程数据对象</a:t>
            </a:r>
            <a:r>
              <a:rPr lang="zh-CN" altLang="en-US" sz="2400" dirty="0" smtClean="0">
                <a:solidFill>
                  <a:schemeClr val="accent3">
                    <a:lumMod val="50000"/>
                  </a:schemeClr>
                </a:solidFill>
              </a:rPr>
              <a:t>（</a:t>
            </a:r>
            <a:r>
              <a:rPr lang="en-US" altLang="zh-CN" sz="2400" dirty="0" smtClean="0">
                <a:solidFill>
                  <a:schemeClr val="accent3">
                    <a:lumMod val="50000"/>
                  </a:schemeClr>
                </a:solidFill>
              </a:rPr>
              <a:t>RPDO</a:t>
            </a:r>
            <a:r>
              <a:rPr lang="zh-CN" altLang="en-US" sz="2400" dirty="0" smtClean="0">
                <a:solidFill>
                  <a:schemeClr val="accent3">
                    <a:lumMod val="50000"/>
                  </a:schemeClr>
                </a:solidFill>
              </a:rPr>
              <a:t>）；</a:t>
            </a:r>
            <a:endParaRPr lang="en-US" altLang="zh-CN" sz="2400" dirty="0" smtClean="0">
              <a:solidFill>
                <a:schemeClr val="accent3">
                  <a:lumMod val="50000"/>
                </a:schemeClr>
              </a:solidFill>
            </a:endParaRPr>
          </a:p>
          <a:p>
            <a:pPr>
              <a:buFont typeface="Arial" panose="020B0604020202020204" pitchFamily="34" charset="0"/>
              <a:buChar char="•"/>
            </a:pPr>
            <a:r>
              <a:rPr lang="zh-CN" altLang="en-US" sz="2400" dirty="0" smtClean="0">
                <a:solidFill>
                  <a:schemeClr val="accent3">
                    <a:lumMod val="50000"/>
                  </a:schemeClr>
                </a:solidFill>
              </a:rPr>
              <a:t>理论上，每个设备</a:t>
            </a:r>
            <a:r>
              <a:rPr lang="zh-CN" altLang="en-US" sz="2400" dirty="0" smtClean="0">
                <a:solidFill>
                  <a:srgbClr val="C00000"/>
                </a:solidFill>
              </a:rPr>
              <a:t>最多</a:t>
            </a:r>
            <a:r>
              <a:rPr lang="zh-CN" altLang="en-US" sz="2400" dirty="0" smtClean="0">
                <a:solidFill>
                  <a:schemeClr val="accent3">
                    <a:lumMod val="50000"/>
                  </a:schemeClr>
                </a:solidFill>
              </a:rPr>
              <a:t>定义</a:t>
            </a:r>
            <a:r>
              <a:rPr lang="en-US" altLang="zh-CN" sz="2400" dirty="0" smtClean="0">
                <a:solidFill>
                  <a:schemeClr val="accent3">
                    <a:lumMod val="50000"/>
                  </a:schemeClr>
                </a:solidFill>
              </a:rPr>
              <a:t>512</a:t>
            </a:r>
            <a:r>
              <a:rPr lang="zh-CN" altLang="en-US" sz="2400" dirty="0" smtClean="0">
                <a:solidFill>
                  <a:schemeClr val="accent3">
                    <a:lumMod val="50000"/>
                  </a:schemeClr>
                </a:solidFill>
              </a:rPr>
              <a:t>个</a:t>
            </a:r>
            <a:r>
              <a:rPr lang="en-US" altLang="zh-CN" sz="2400" dirty="0" smtClean="0">
                <a:solidFill>
                  <a:schemeClr val="accent3">
                    <a:lumMod val="50000"/>
                  </a:schemeClr>
                </a:solidFill>
              </a:rPr>
              <a:t>TPDO</a:t>
            </a:r>
            <a:r>
              <a:rPr lang="zh-CN" altLang="en-US" sz="2400" dirty="0" smtClean="0">
                <a:solidFill>
                  <a:schemeClr val="accent3">
                    <a:lumMod val="50000"/>
                  </a:schemeClr>
                </a:solidFill>
              </a:rPr>
              <a:t>和</a:t>
            </a:r>
            <a:r>
              <a:rPr lang="en-US" altLang="zh-CN" sz="2400" dirty="0" smtClean="0">
                <a:solidFill>
                  <a:schemeClr val="accent3">
                    <a:lumMod val="50000"/>
                  </a:schemeClr>
                </a:solidFill>
              </a:rPr>
              <a:t>512</a:t>
            </a:r>
            <a:r>
              <a:rPr lang="zh-CN" altLang="en-US" sz="2400" dirty="0" smtClean="0">
                <a:solidFill>
                  <a:schemeClr val="accent3">
                    <a:lumMod val="50000"/>
                  </a:schemeClr>
                </a:solidFill>
              </a:rPr>
              <a:t>个</a:t>
            </a:r>
            <a:r>
              <a:rPr lang="en-US" altLang="zh-CN" sz="2400" dirty="0" smtClean="0">
                <a:solidFill>
                  <a:schemeClr val="accent3">
                    <a:lumMod val="50000"/>
                  </a:schemeClr>
                </a:solidFill>
              </a:rPr>
              <a:t>RPDO</a:t>
            </a:r>
            <a:r>
              <a:rPr lang="zh-CN" altLang="en-US" sz="2400" dirty="0" smtClean="0">
                <a:solidFill>
                  <a:schemeClr val="accent3">
                    <a:lumMod val="50000"/>
                  </a:schemeClr>
                </a:solidFill>
              </a:rPr>
              <a:t>，但</a:t>
            </a:r>
            <a:r>
              <a:rPr lang="en-US" altLang="zh-CN" sz="2400" dirty="0" err="1" smtClean="0">
                <a:solidFill>
                  <a:schemeClr val="accent3">
                    <a:lumMod val="50000"/>
                  </a:schemeClr>
                </a:solidFill>
              </a:rPr>
              <a:t>CANopen</a:t>
            </a:r>
            <a:r>
              <a:rPr lang="zh-CN" altLang="en-US" sz="2400" dirty="0" smtClean="0">
                <a:solidFill>
                  <a:schemeClr val="accent3">
                    <a:lumMod val="50000"/>
                  </a:schemeClr>
                </a:solidFill>
              </a:rPr>
              <a:t>中的每个节点最多</a:t>
            </a:r>
            <a:r>
              <a:rPr lang="en-US" altLang="zh-CN" sz="2400" dirty="0" smtClean="0">
                <a:solidFill>
                  <a:schemeClr val="accent3">
                    <a:lumMod val="50000"/>
                  </a:schemeClr>
                </a:solidFill>
              </a:rPr>
              <a:t>4</a:t>
            </a:r>
            <a:r>
              <a:rPr lang="zh-CN" altLang="en-US" sz="2400" dirty="0" smtClean="0">
                <a:solidFill>
                  <a:schemeClr val="accent3">
                    <a:lumMod val="50000"/>
                  </a:schemeClr>
                </a:solidFill>
              </a:rPr>
              <a:t>个</a:t>
            </a:r>
            <a:r>
              <a:rPr lang="en-US" altLang="zh-CN" sz="2400" dirty="0" smtClean="0">
                <a:solidFill>
                  <a:schemeClr val="accent3">
                    <a:lumMod val="50000"/>
                  </a:schemeClr>
                </a:solidFill>
              </a:rPr>
              <a:t>TPDO</a:t>
            </a:r>
            <a:r>
              <a:rPr lang="zh-CN" altLang="en-US" sz="2400" dirty="0" smtClean="0">
                <a:solidFill>
                  <a:schemeClr val="accent3">
                    <a:lumMod val="50000"/>
                  </a:schemeClr>
                </a:solidFill>
              </a:rPr>
              <a:t>和</a:t>
            </a:r>
            <a:r>
              <a:rPr lang="en-US" altLang="zh-CN" sz="2400" dirty="0" smtClean="0">
                <a:solidFill>
                  <a:schemeClr val="accent3">
                    <a:lumMod val="50000"/>
                  </a:schemeClr>
                </a:solidFill>
              </a:rPr>
              <a:t>4</a:t>
            </a:r>
            <a:r>
              <a:rPr lang="zh-CN" altLang="en-US" sz="2400" dirty="0" smtClean="0">
                <a:solidFill>
                  <a:schemeClr val="accent3">
                    <a:lumMod val="50000"/>
                  </a:schemeClr>
                </a:solidFill>
              </a:rPr>
              <a:t>个</a:t>
            </a:r>
            <a:r>
              <a:rPr lang="en-US" altLang="zh-CN" sz="2400" dirty="0" smtClean="0">
                <a:solidFill>
                  <a:schemeClr val="accent3">
                    <a:lumMod val="50000"/>
                  </a:schemeClr>
                </a:solidFill>
              </a:rPr>
              <a:t>RPDO</a:t>
            </a:r>
            <a:r>
              <a:rPr lang="zh-CN" altLang="en-US" sz="2400" dirty="0" smtClean="0">
                <a:solidFill>
                  <a:schemeClr val="accent3">
                    <a:lumMod val="50000"/>
                  </a:schemeClr>
                </a:solidFill>
              </a:rPr>
              <a:t>；</a:t>
            </a:r>
            <a:endParaRPr lang="en-US" altLang="zh-CN" sz="2400" dirty="0" smtClean="0">
              <a:solidFill>
                <a:schemeClr val="accent3">
                  <a:lumMod val="50000"/>
                </a:schemeClr>
              </a:solidFill>
            </a:endParaRPr>
          </a:p>
          <a:p>
            <a:pPr>
              <a:buFont typeface="Arial" panose="020B0604020202020204" pitchFamily="34" charset="0"/>
              <a:buChar char="•"/>
            </a:pPr>
            <a:endParaRPr lang="zh-CN" altLang="en-US" sz="2400" dirty="0">
              <a:solidFill>
                <a:schemeClr val="accent3">
                  <a:lumMod val="50000"/>
                </a:schemeClr>
              </a:solidFill>
            </a:endParaRPr>
          </a:p>
        </p:txBody>
      </p:sp>
    </p:spTree>
    <p:extLst>
      <p:ext uri="{BB962C8B-B14F-4D97-AF65-F5344CB8AC3E}">
        <p14:creationId xmlns:p14="http://schemas.microsoft.com/office/powerpoint/2010/main" val="1116787498"/>
      </p:ext>
    </p:extLst>
  </p:cSld>
  <p:clrMapOvr>
    <a:masterClrMapping/>
  </p:clrMapOvr>
  <p:transition spd="slow">
    <p:push dir="u"/>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 </a:t>
            </a:r>
            <a:r>
              <a:rPr lang="en-US" altLang="zh-CN" dirty="0" err="1"/>
              <a:t>CANopen</a:t>
            </a:r>
            <a:endParaRPr lang="zh-CN" altLang="en-US" dirty="0"/>
          </a:p>
        </p:txBody>
      </p:sp>
      <p:sp>
        <p:nvSpPr>
          <p:cNvPr id="3" name="内容占位符 2"/>
          <p:cNvSpPr>
            <a:spLocks noGrp="1"/>
          </p:cNvSpPr>
          <p:nvPr>
            <p:ph idx="1"/>
          </p:nvPr>
        </p:nvSpPr>
        <p:spPr/>
        <p:txBody>
          <a:bodyPr/>
          <a:lstStyle/>
          <a:p>
            <a:pPr>
              <a:buFont typeface="Wingdings" panose="05000000000000000000" pitchFamily="2" charset="2"/>
              <a:buChar char="p"/>
            </a:pPr>
            <a:r>
              <a:rPr lang="zh-CN" altLang="en-US" sz="2800" b="1" dirty="0">
                <a:solidFill>
                  <a:srgbClr val="FF0000"/>
                </a:solidFill>
              </a:rPr>
              <a:t>传输模式</a:t>
            </a:r>
            <a:endParaRPr lang="en-US" altLang="zh-CN" sz="2800" b="1" dirty="0">
              <a:solidFill>
                <a:srgbClr val="FF0000"/>
              </a:solidFill>
            </a:endParaRPr>
          </a:p>
          <a:p>
            <a:pPr>
              <a:buFont typeface="Arial" panose="020B0604020202020204" pitchFamily="34" charset="0"/>
              <a:buChar char="•"/>
            </a:pPr>
            <a:r>
              <a:rPr lang="zh-CN" altLang="en-US" sz="2400" dirty="0"/>
              <a:t>过程数据对象</a:t>
            </a:r>
            <a:r>
              <a:rPr lang="zh-CN" altLang="en-US" sz="2400" dirty="0" smtClean="0"/>
              <a:t>有两种传输模式，</a:t>
            </a:r>
            <a:r>
              <a:rPr lang="zh-CN" altLang="en-US" sz="2400" dirty="0" smtClean="0">
                <a:solidFill>
                  <a:srgbClr val="C00000"/>
                </a:solidFill>
              </a:rPr>
              <a:t>事件驱动传输</a:t>
            </a:r>
            <a:r>
              <a:rPr lang="zh-CN" altLang="en-US" sz="2400" dirty="0" smtClean="0"/>
              <a:t>与</a:t>
            </a:r>
            <a:r>
              <a:rPr lang="zh-CN" altLang="en-US" sz="2400" dirty="0" smtClean="0">
                <a:solidFill>
                  <a:srgbClr val="C00000"/>
                </a:solidFill>
              </a:rPr>
              <a:t>同步传输</a:t>
            </a:r>
            <a:r>
              <a:rPr lang="zh-CN" altLang="en-US" sz="2400" dirty="0" smtClean="0"/>
              <a:t>；</a:t>
            </a:r>
            <a:endParaRPr lang="en-US" altLang="zh-CN" sz="2400" dirty="0" smtClean="0"/>
          </a:p>
          <a:p>
            <a:pPr>
              <a:buFont typeface="Arial" panose="020B0604020202020204" pitchFamily="34" charset="0"/>
              <a:buChar char="•"/>
            </a:pPr>
            <a:r>
              <a:rPr lang="zh-CN" altLang="en-US" sz="2400" dirty="0" smtClean="0">
                <a:solidFill>
                  <a:srgbClr val="C00000"/>
                </a:solidFill>
              </a:rPr>
              <a:t>事件驱动传输</a:t>
            </a:r>
            <a:r>
              <a:rPr lang="zh-CN" altLang="en-US" sz="2400" dirty="0" smtClean="0"/>
              <a:t>可由节点在任意时刻发起，因此是异步的；</a:t>
            </a:r>
            <a:endParaRPr lang="en-US" altLang="zh-CN" sz="2400" dirty="0" smtClean="0"/>
          </a:p>
          <a:p>
            <a:pPr>
              <a:buFont typeface="Arial" panose="020B0604020202020204" pitchFamily="34" charset="0"/>
              <a:buChar char="•"/>
            </a:pPr>
            <a:r>
              <a:rPr lang="zh-CN" altLang="en-US" sz="2400" dirty="0" smtClean="0">
                <a:solidFill>
                  <a:srgbClr val="C00000"/>
                </a:solidFill>
              </a:rPr>
              <a:t>同步传输</a:t>
            </a:r>
            <a:r>
              <a:rPr lang="zh-CN" altLang="en-US" sz="2400" dirty="0" smtClean="0"/>
              <a:t>由网络同步事件发起，同步事件由特定节点在规定时间间隔产生的特殊消息（</a:t>
            </a:r>
            <a:r>
              <a:rPr lang="en-US" altLang="zh-CN" sz="2400" dirty="0" smtClean="0"/>
              <a:t>SYNC</a:t>
            </a:r>
            <a:r>
              <a:rPr lang="zh-CN" altLang="en-US" sz="2400" dirty="0" smtClean="0"/>
              <a:t>）触发；</a:t>
            </a:r>
            <a:endParaRPr lang="en-US" altLang="zh-CN" sz="2400" dirty="0" smtClean="0"/>
          </a:p>
          <a:p>
            <a:pPr>
              <a:buFont typeface="Arial" panose="020B0604020202020204" pitchFamily="34" charset="0"/>
              <a:buChar char="•"/>
            </a:pPr>
            <a:r>
              <a:rPr lang="zh-CN" altLang="en-US" sz="2400" dirty="0" smtClean="0"/>
              <a:t>在同步传输操作中，由</a:t>
            </a:r>
            <a:r>
              <a:rPr lang="zh-CN" altLang="en-US" sz="2400" dirty="0" smtClean="0">
                <a:solidFill>
                  <a:srgbClr val="C00000"/>
                </a:solidFill>
              </a:rPr>
              <a:t>当前</a:t>
            </a:r>
            <a:r>
              <a:rPr lang="en-US" altLang="zh-CN" sz="2400" dirty="0" smtClean="0">
                <a:solidFill>
                  <a:srgbClr val="C00000"/>
                </a:solidFill>
              </a:rPr>
              <a:t>SYNC</a:t>
            </a:r>
            <a:r>
              <a:rPr lang="zh-CN" altLang="en-US" sz="2400" dirty="0" smtClean="0"/>
              <a:t>消息触发的同步事件中，设备不会立即执行收到的指令，传感器采样值也不会被立即发送，所有的操作会在</a:t>
            </a:r>
            <a:r>
              <a:rPr lang="zh-CN" altLang="en-US" sz="2400" dirty="0" smtClean="0">
                <a:solidFill>
                  <a:srgbClr val="C00000"/>
                </a:solidFill>
              </a:rPr>
              <a:t>下一个</a:t>
            </a:r>
            <a:r>
              <a:rPr lang="en-US" altLang="zh-CN" sz="2400" dirty="0" smtClean="0">
                <a:solidFill>
                  <a:srgbClr val="C00000"/>
                </a:solidFill>
              </a:rPr>
              <a:t>SYNC</a:t>
            </a:r>
            <a:r>
              <a:rPr lang="zh-CN" altLang="en-US" sz="2400" dirty="0" smtClean="0"/>
              <a:t>消息触发时进行（从而将</a:t>
            </a:r>
            <a:r>
              <a:rPr lang="en-US" altLang="zh-CN" sz="2400" dirty="0" smtClean="0"/>
              <a:t>PDO</a:t>
            </a:r>
            <a:r>
              <a:rPr lang="zh-CN" altLang="en-US" sz="2400" dirty="0" smtClean="0"/>
              <a:t>时序与系统操作时序解耦，避免总线干扰影响）；</a:t>
            </a:r>
            <a:endParaRPr lang="en-US" altLang="zh-CN" sz="2400" dirty="0" smtClean="0"/>
          </a:p>
          <a:p>
            <a:pPr>
              <a:buFont typeface="Arial" panose="020B0604020202020204" pitchFamily="34" charset="0"/>
              <a:buChar char="•"/>
            </a:pPr>
            <a:endParaRPr lang="zh-CN" altLang="en-US" dirty="0"/>
          </a:p>
        </p:txBody>
      </p:sp>
    </p:spTree>
    <p:extLst>
      <p:ext uri="{BB962C8B-B14F-4D97-AF65-F5344CB8AC3E}">
        <p14:creationId xmlns:p14="http://schemas.microsoft.com/office/powerpoint/2010/main" val="3822597491"/>
      </p:ext>
    </p:extLst>
  </p:cSld>
  <p:clrMapOvr>
    <a:masterClrMapping/>
  </p:clrMapOvr>
  <p:transition spd="slow">
    <p:push dir="u"/>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 </a:t>
            </a:r>
            <a:r>
              <a:rPr lang="en-US" altLang="zh-CN" dirty="0" err="1"/>
              <a:t>CANopen</a:t>
            </a:r>
            <a:endParaRPr lang="zh-CN" altLang="en-US" dirty="0"/>
          </a:p>
        </p:txBody>
      </p:sp>
      <p:sp>
        <p:nvSpPr>
          <p:cNvPr id="3" name="内容占位符 2"/>
          <p:cNvSpPr>
            <a:spLocks noGrp="1"/>
          </p:cNvSpPr>
          <p:nvPr>
            <p:ph idx="1"/>
          </p:nvPr>
        </p:nvSpPr>
        <p:spPr/>
        <p:txBody>
          <a:bodyPr/>
          <a:lstStyle/>
          <a:p>
            <a:pPr>
              <a:buFont typeface="Wingdings" panose="05000000000000000000" pitchFamily="2" charset="2"/>
              <a:buChar char="p"/>
            </a:pPr>
            <a:r>
              <a:rPr lang="zh-CN" altLang="en-US" sz="2800" b="1" dirty="0">
                <a:solidFill>
                  <a:srgbClr val="FF0000"/>
                </a:solidFill>
              </a:rPr>
              <a:t>过程数据对象触发</a:t>
            </a:r>
            <a:r>
              <a:rPr lang="zh-CN" altLang="en-US" sz="2800" b="1" dirty="0" smtClean="0">
                <a:solidFill>
                  <a:srgbClr val="FF0000"/>
                </a:solidFill>
              </a:rPr>
              <a:t>模式</a:t>
            </a:r>
            <a:endParaRPr lang="en-US" altLang="zh-CN" sz="2800" b="1" dirty="0" smtClean="0">
              <a:solidFill>
                <a:srgbClr val="FF0000"/>
              </a:solidFill>
            </a:endParaRPr>
          </a:p>
          <a:p>
            <a:pPr>
              <a:buFont typeface="Arial" panose="020B0604020202020204" pitchFamily="34" charset="0"/>
              <a:buChar char="•"/>
            </a:pPr>
            <a:r>
              <a:rPr lang="en-US" altLang="zh-CN" sz="2400" dirty="0" err="1"/>
              <a:t>CANopen</a:t>
            </a:r>
            <a:r>
              <a:rPr lang="zh-CN" altLang="en-US" sz="2400" dirty="0" smtClean="0"/>
              <a:t>中有三种</a:t>
            </a:r>
            <a:r>
              <a:rPr lang="en-US" altLang="zh-CN" sz="2400" dirty="0" smtClean="0"/>
              <a:t>PDO</a:t>
            </a:r>
            <a:r>
              <a:rPr lang="zh-CN" altLang="en-US" sz="2400" dirty="0" smtClean="0"/>
              <a:t>的触发模式，规定了在总线上发送特定</a:t>
            </a:r>
            <a:r>
              <a:rPr lang="en-US" altLang="zh-CN" sz="2400" dirty="0" smtClean="0"/>
              <a:t>PDO</a:t>
            </a:r>
            <a:r>
              <a:rPr lang="zh-CN" altLang="en-US" sz="2400" dirty="0" smtClean="0"/>
              <a:t>的对应条件：</a:t>
            </a:r>
            <a:endParaRPr lang="en-US" altLang="zh-CN" sz="2400" dirty="0" smtClean="0"/>
          </a:p>
          <a:p>
            <a:pPr marL="457200" indent="-457200">
              <a:buFont typeface="+mj-ea"/>
              <a:buAutoNum type="circleNumDbPlain"/>
            </a:pPr>
            <a:r>
              <a:rPr lang="zh-CN" altLang="en-US" sz="2200" dirty="0" smtClean="0">
                <a:solidFill>
                  <a:schemeClr val="accent6">
                    <a:lumMod val="50000"/>
                  </a:schemeClr>
                </a:solidFill>
              </a:rPr>
              <a:t>事件与时间驱动：</a:t>
            </a:r>
            <a:r>
              <a:rPr lang="en-US" altLang="zh-CN" sz="2200" dirty="0" smtClean="0">
                <a:solidFill>
                  <a:schemeClr val="accent6">
                    <a:lumMod val="50000"/>
                  </a:schemeClr>
                </a:solidFill>
              </a:rPr>
              <a:t>PDO</a:t>
            </a:r>
            <a:r>
              <a:rPr lang="zh-CN" altLang="en-US" sz="2200" dirty="0" smtClean="0">
                <a:solidFill>
                  <a:schemeClr val="accent6">
                    <a:lumMod val="50000"/>
                  </a:schemeClr>
                </a:solidFill>
              </a:rPr>
              <a:t>的传输由发送节点决定，通过应用相关事件或本地定时器触发；</a:t>
            </a:r>
            <a:endParaRPr lang="en-US" altLang="zh-CN" sz="2200" dirty="0" smtClean="0">
              <a:solidFill>
                <a:schemeClr val="accent6">
                  <a:lumMod val="50000"/>
                </a:schemeClr>
              </a:solidFill>
            </a:endParaRPr>
          </a:p>
          <a:p>
            <a:pPr marL="457200" indent="-457200">
              <a:buFont typeface="+mj-ea"/>
              <a:buAutoNum type="circleNumDbPlain"/>
            </a:pPr>
            <a:r>
              <a:rPr lang="zh-CN" altLang="en-US" sz="2200" dirty="0" smtClean="0">
                <a:solidFill>
                  <a:schemeClr val="accent6">
                    <a:lumMod val="50000"/>
                  </a:schemeClr>
                </a:solidFill>
              </a:rPr>
              <a:t>远程请求：</a:t>
            </a:r>
            <a:r>
              <a:rPr lang="en-US" altLang="zh-CN" sz="2200" dirty="0" smtClean="0">
                <a:solidFill>
                  <a:schemeClr val="accent6">
                    <a:lumMod val="50000"/>
                  </a:schemeClr>
                </a:solidFill>
              </a:rPr>
              <a:t>PDO</a:t>
            </a:r>
            <a:r>
              <a:rPr lang="zh-CN" altLang="en-US" sz="2200" dirty="0" smtClean="0">
                <a:solidFill>
                  <a:schemeClr val="accent6">
                    <a:lumMod val="50000"/>
                  </a:schemeClr>
                </a:solidFill>
              </a:rPr>
              <a:t>的传输由远程节点决定，通过远程帧触发；</a:t>
            </a:r>
            <a:endParaRPr lang="en-US" altLang="zh-CN" sz="2200" dirty="0" smtClean="0">
              <a:solidFill>
                <a:schemeClr val="accent6">
                  <a:lumMod val="50000"/>
                </a:schemeClr>
              </a:solidFill>
            </a:endParaRPr>
          </a:p>
          <a:p>
            <a:pPr marL="457200" indent="-457200">
              <a:buFont typeface="+mj-ea"/>
              <a:buAutoNum type="circleNumDbPlain"/>
            </a:pPr>
            <a:r>
              <a:rPr lang="zh-CN" altLang="en-US" sz="2200" dirty="0" smtClean="0">
                <a:solidFill>
                  <a:schemeClr val="accent6">
                    <a:lumMod val="50000"/>
                  </a:schemeClr>
                </a:solidFill>
              </a:rPr>
              <a:t>同步触发：产生同步信号</a:t>
            </a:r>
            <a:r>
              <a:rPr lang="en-US" altLang="zh-CN" sz="2200" dirty="0" smtClean="0">
                <a:solidFill>
                  <a:schemeClr val="accent6">
                    <a:lumMod val="50000"/>
                  </a:schemeClr>
                </a:solidFill>
              </a:rPr>
              <a:t>SYNC</a:t>
            </a:r>
            <a:r>
              <a:rPr lang="zh-CN" altLang="en-US" sz="2200" dirty="0" smtClean="0">
                <a:solidFill>
                  <a:schemeClr val="accent6">
                    <a:lumMod val="50000"/>
                  </a:schemeClr>
                </a:solidFill>
              </a:rPr>
              <a:t>的节点触发数据交换过程。</a:t>
            </a:r>
            <a:endParaRPr lang="en-US" altLang="zh-CN" sz="2200" dirty="0" smtClean="0">
              <a:solidFill>
                <a:schemeClr val="accent6">
                  <a:lumMod val="50000"/>
                </a:schemeClr>
              </a:solidFill>
            </a:endParaRPr>
          </a:p>
          <a:p>
            <a:pPr marL="0" indent="0">
              <a:buNone/>
            </a:pPr>
            <a:endParaRPr lang="en-US" altLang="zh-CN" sz="2200" dirty="0">
              <a:solidFill>
                <a:schemeClr val="accent6">
                  <a:lumMod val="50000"/>
                </a:schemeClr>
              </a:solidFill>
            </a:endParaRPr>
          </a:p>
          <a:p>
            <a:pPr marL="0" indent="0">
              <a:buNone/>
            </a:pPr>
            <a:r>
              <a:rPr lang="en-US" altLang="zh-CN" sz="2200" dirty="0" smtClean="0">
                <a:solidFill>
                  <a:srgbClr val="7030A0"/>
                </a:solidFill>
              </a:rPr>
              <a:t>PDO</a:t>
            </a:r>
            <a:r>
              <a:rPr lang="zh-CN" altLang="en-US" sz="2200" dirty="0" smtClean="0">
                <a:solidFill>
                  <a:srgbClr val="7030A0"/>
                </a:solidFill>
              </a:rPr>
              <a:t>触发模式通过传输类型参数进行配置，为</a:t>
            </a:r>
            <a:r>
              <a:rPr lang="en-US" altLang="zh-CN" sz="2200" dirty="0" smtClean="0">
                <a:solidFill>
                  <a:srgbClr val="7030A0"/>
                </a:solidFill>
              </a:rPr>
              <a:t>8</a:t>
            </a:r>
            <a:r>
              <a:rPr lang="zh-CN" altLang="en-US" sz="2200" dirty="0" smtClean="0">
                <a:solidFill>
                  <a:srgbClr val="7030A0"/>
                </a:solidFill>
              </a:rPr>
              <a:t>位无符号整数</a:t>
            </a:r>
            <a:endParaRPr lang="zh-CN" altLang="en-US" sz="2200" dirty="0">
              <a:solidFill>
                <a:srgbClr val="7030A0"/>
              </a:solidFill>
            </a:endParaRPr>
          </a:p>
        </p:txBody>
      </p:sp>
    </p:spTree>
    <p:extLst>
      <p:ext uri="{BB962C8B-B14F-4D97-AF65-F5344CB8AC3E}">
        <p14:creationId xmlns:p14="http://schemas.microsoft.com/office/powerpoint/2010/main" val="4095767351"/>
      </p:ext>
    </p:extLst>
  </p:cSld>
  <p:clrMapOvr>
    <a:masterClrMapping/>
  </p:clrMapOvr>
  <p:transition spd="slow">
    <p:push dir="u"/>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 </a:t>
            </a:r>
            <a:r>
              <a:rPr lang="en-US" altLang="zh-CN" dirty="0" err="1"/>
              <a:t>CANopen</a:t>
            </a:r>
            <a:endParaRPr lang="zh-CN" altLang="en-US" dirty="0"/>
          </a:p>
        </p:txBody>
      </p:sp>
      <p:sp>
        <p:nvSpPr>
          <p:cNvPr id="3" name="内容占位符 2"/>
          <p:cNvSpPr>
            <a:spLocks noGrp="1"/>
          </p:cNvSpPr>
          <p:nvPr>
            <p:ph idx="1"/>
          </p:nvPr>
        </p:nvSpPr>
        <p:spPr/>
        <p:txBody>
          <a:bodyPr/>
          <a:lstStyle/>
          <a:p>
            <a:pPr>
              <a:buFont typeface="Wingdings" panose="05000000000000000000" pitchFamily="2" charset="2"/>
              <a:buChar char="p"/>
            </a:pPr>
            <a:r>
              <a:rPr lang="zh-CN" altLang="en-US" sz="2800" b="1" dirty="0">
                <a:solidFill>
                  <a:srgbClr val="FF0000"/>
                </a:solidFill>
              </a:rPr>
              <a:t>过程数据</a:t>
            </a:r>
            <a:r>
              <a:rPr lang="zh-CN" altLang="en-US" sz="2800" b="1" dirty="0" smtClean="0">
                <a:solidFill>
                  <a:srgbClr val="FF0000"/>
                </a:solidFill>
              </a:rPr>
              <a:t>对象配置</a:t>
            </a:r>
            <a:endParaRPr lang="en-US" altLang="zh-CN" sz="2800" b="1" dirty="0" smtClean="0">
              <a:solidFill>
                <a:srgbClr val="FF0000"/>
              </a:solidFill>
            </a:endParaRPr>
          </a:p>
          <a:p>
            <a:pPr>
              <a:buFont typeface="Arial" panose="020B0604020202020204" pitchFamily="34" charset="0"/>
              <a:buChar char="•"/>
            </a:pPr>
            <a:r>
              <a:rPr lang="en-US" altLang="zh-CN" sz="2400" dirty="0" err="1"/>
              <a:t>CANopen</a:t>
            </a:r>
            <a:r>
              <a:rPr lang="zh-CN" altLang="en-US" sz="2400" dirty="0" smtClean="0"/>
              <a:t>中使用对象词典来配置过程数据对象</a:t>
            </a:r>
            <a:r>
              <a:rPr lang="en-US" altLang="zh-CN" sz="2400" dirty="0" smtClean="0"/>
              <a:t>PDO</a:t>
            </a:r>
            <a:r>
              <a:rPr lang="zh-CN" altLang="en-US" sz="2400" dirty="0" smtClean="0"/>
              <a:t>，对象词典为每个过程数据对象分配一定数量的记录，其中最重要的是</a:t>
            </a:r>
            <a:r>
              <a:rPr lang="zh-CN" altLang="en-US" sz="2400" dirty="0" smtClean="0">
                <a:solidFill>
                  <a:srgbClr val="C00000"/>
                </a:solidFill>
              </a:rPr>
              <a:t>通信参数</a:t>
            </a:r>
            <a:r>
              <a:rPr lang="zh-CN" altLang="en-US" sz="2400" dirty="0" smtClean="0"/>
              <a:t>与</a:t>
            </a:r>
            <a:r>
              <a:rPr lang="zh-CN" altLang="en-US" sz="2400" dirty="0" smtClean="0">
                <a:solidFill>
                  <a:srgbClr val="C00000"/>
                </a:solidFill>
              </a:rPr>
              <a:t>映射参数</a:t>
            </a:r>
            <a:r>
              <a:rPr lang="zh-CN" altLang="en-US" sz="2400" dirty="0" smtClean="0"/>
              <a:t>；</a:t>
            </a:r>
            <a:endParaRPr lang="en-US" altLang="zh-CN" sz="2400" dirty="0" smtClean="0"/>
          </a:p>
          <a:p>
            <a:pPr>
              <a:buFont typeface="Arial" panose="020B0604020202020204" pitchFamily="34" charset="0"/>
              <a:buChar char="•"/>
            </a:pPr>
            <a:r>
              <a:rPr lang="zh-CN" altLang="en-US" sz="2400" dirty="0" smtClean="0">
                <a:solidFill>
                  <a:srgbClr val="C00000"/>
                </a:solidFill>
              </a:rPr>
              <a:t>通信</a:t>
            </a:r>
            <a:r>
              <a:rPr lang="zh-CN" altLang="en-US" sz="2400" dirty="0">
                <a:solidFill>
                  <a:srgbClr val="C00000"/>
                </a:solidFill>
              </a:rPr>
              <a:t>参数</a:t>
            </a:r>
            <a:r>
              <a:rPr lang="zh-CN" altLang="en-US" sz="2400" dirty="0"/>
              <a:t>包括</a:t>
            </a:r>
            <a:r>
              <a:rPr lang="zh-CN" altLang="en-US" sz="2400" dirty="0">
                <a:solidFill>
                  <a:srgbClr val="C00000"/>
                </a:solidFill>
              </a:rPr>
              <a:t>两个必须项</a:t>
            </a:r>
            <a:r>
              <a:rPr lang="zh-CN" altLang="en-US" sz="2400" dirty="0"/>
              <a:t>与</a:t>
            </a:r>
            <a:r>
              <a:rPr lang="zh-CN" altLang="en-US" sz="2400" dirty="0">
                <a:solidFill>
                  <a:srgbClr val="C00000"/>
                </a:solidFill>
              </a:rPr>
              <a:t>多个可选项</a:t>
            </a:r>
            <a:endParaRPr lang="en-US" altLang="zh-CN" sz="2400" dirty="0">
              <a:solidFill>
                <a:srgbClr val="C00000"/>
              </a:solidFill>
            </a:endParaRPr>
          </a:p>
          <a:p>
            <a:pPr lvl="1"/>
            <a:r>
              <a:rPr lang="zh-CN" altLang="en-US" sz="2200" dirty="0" smtClean="0"/>
              <a:t>必须项：包含</a:t>
            </a:r>
            <a:r>
              <a:rPr lang="en-US" altLang="zh-CN" sz="2200" dirty="0" smtClean="0"/>
              <a:t>PDO</a:t>
            </a:r>
            <a:r>
              <a:rPr lang="zh-CN" altLang="en-US" sz="2200" dirty="0" smtClean="0"/>
              <a:t>的</a:t>
            </a:r>
            <a:r>
              <a:rPr lang="en-US" altLang="zh-CN" sz="2200" dirty="0" smtClean="0"/>
              <a:t>CAN</a:t>
            </a:r>
            <a:r>
              <a:rPr lang="zh-CN" altLang="en-US" sz="2200" dirty="0" smtClean="0"/>
              <a:t>帧的</a:t>
            </a:r>
            <a:r>
              <a:rPr lang="en-US" altLang="zh-CN" sz="2200" dirty="0" smtClean="0">
                <a:solidFill>
                  <a:srgbClr val="C00000"/>
                </a:solidFill>
              </a:rPr>
              <a:t>ID</a:t>
            </a:r>
            <a:r>
              <a:rPr lang="zh-CN" altLang="en-US" sz="2200" dirty="0" smtClean="0"/>
              <a:t>以及</a:t>
            </a:r>
            <a:r>
              <a:rPr lang="zh-CN" altLang="en-US" sz="2200" dirty="0" smtClean="0">
                <a:solidFill>
                  <a:srgbClr val="C00000"/>
                </a:solidFill>
              </a:rPr>
              <a:t>传输类型</a:t>
            </a:r>
            <a:r>
              <a:rPr lang="zh-CN" altLang="en-US" sz="2200" dirty="0" smtClean="0"/>
              <a:t>；</a:t>
            </a:r>
            <a:endParaRPr lang="en-US" altLang="zh-CN" sz="2200" dirty="0" smtClean="0"/>
          </a:p>
          <a:p>
            <a:pPr lvl="1"/>
            <a:r>
              <a:rPr lang="zh-CN" altLang="en-US" sz="2200" dirty="0"/>
              <a:t>可</a:t>
            </a:r>
            <a:r>
              <a:rPr lang="zh-CN" altLang="en-US" sz="2200" dirty="0" smtClean="0"/>
              <a:t>选项：</a:t>
            </a:r>
            <a:r>
              <a:rPr lang="zh-CN" altLang="en-US" sz="2200" dirty="0" smtClean="0">
                <a:solidFill>
                  <a:srgbClr val="C00000"/>
                </a:solidFill>
              </a:rPr>
              <a:t>禁止时间</a:t>
            </a:r>
            <a:r>
              <a:rPr lang="zh-CN" altLang="en-US" sz="2200" dirty="0" smtClean="0"/>
              <a:t>（</a:t>
            </a:r>
            <a:r>
              <a:rPr lang="en-US" altLang="zh-CN" sz="2200" dirty="0" smtClean="0"/>
              <a:t>100us</a:t>
            </a:r>
            <a:r>
              <a:rPr lang="zh-CN" altLang="en-US" sz="2200" dirty="0" smtClean="0"/>
              <a:t>的倍数），两个相邻</a:t>
            </a:r>
            <a:r>
              <a:rPr lang="en-US" altLang="zh-CN" sz="2200" dirty="0" smtClean="0"/>
              <a:t>PDO</a:t>
            </a:r>
            <a:r>
              <a:rPr lang="zh-CN" altLang="en-US" sz="2200" dirty="0" smtClean="0"/>
              <a:t>传输间的最短间隔时间；</a:t>
            </a:r>
            <a:r>
              <a:rPr lang="zh-CN" altLang="en-US" sz="2200" dirty="0" smtClean="0">
                <a:solidFill>
                  <a:srgbClr val="C00000"/>
                </a:solidFill>
              </a:rPr>
              <a:t>事件定时器</a:t>
            </a:r>
            <a:r>
              <a:rPr lang="zh-CN" altLang="en-US" sz="2200" dirty="0" smtClean="0"/>
              <a:t>（</a:t>
            </a:r>
            <a:r>
              <a:rPr lang="en-US" altLang="zh-CN" sz="2200" dirty="0" smtClean="0"/>
              <a:t>1ms</a:t>
            </a:r>
            <a:r>
              <a:rPr lang="zh-CN" altLang="en-US" sz="2200" dirty="0" smtClean="0"/>
              <a:t>的倍数），同一个</a:t>
            </a:r>
            <a:r>
              <a:rPr lang="en-US" altLang="zh-CN" sz="2200" dirty="0" smtClean="0"/>
              <a:t>PDO</a:t>
            </a:r>
            <a:r>
              <a:rPr lang="zh-CN" altLang="en-US" sz="2200" dirty="0" smtClean="0"/>
              <a:t>两次相邻传输间的最大间隔时间；</a:t>
            </a:r>
            <a:r>
              <a:rPr lang="en-US" altLang="zh-CN" sz="2200" dirty="0" smtClean="0">
                <a:solidFill>
                  <a:srgbClr val="C00000"/>
                </a:solidFill>
              </a:rPr>
              <a:t>SYNC</a:t>
            </a:r>
            <a:r>
              <a:rPr lang="zh-CN" altLang="en-US" sz="2200" dirty="0" smtClean="0">
                <a:solidFill>
                  <a:srgbClr val="C00000"/>
                </a:solidFill>
              </a:rPr>
              <a:t>起始值</a:t>
            </a:r>
            <a:r>
              <a:rPr lang="zh-CN" altLang="en-US" sz="2200" dirty="0" smtClean="0"/>
              <a:t>，用于替代周期比循环时间长的同步发送</a:t>
            </a:r>
            <a:r>
              <a:rPr lang="en-US" altLang="zh-CN" sz="2200" dirty="0" smtClean="0"/>
              <a:t>PDO</a:t>
            </a:r>
            <a:r>
              <a:rPr lang="zh-CN" altLang="en-US" sz="2200" dirty="0" smtClean="0"/>
              <a:t>；</a:t>
            </a:r>
            <a:endParaRPr lang="en-US" altLang="zh-CN" sz="2200" dirty="0" smtClean="0"/>
          </a:p>
          <a:p>
            <a:pPr>
              <a:buFont typeface="Arial" panose="020B0604020202020204" pitchFamily="34" charset="0"/>
              <a:buChar char="•"/>
            </a:pPr>
            <a:r>
              <a:rPr lang="zh-CN" altLang="en-US" sz="2400" dirty="0" smtClean="0">
                <a:solidFill>
                  <a:srgbClr val="C00000"/>
                </a:solidFill>
              </a:rPr>
              <a:t>映射参数</a:t>
            </a:r>
            <a:r>
              <a:rPr lang="zh-CN" altLang="en-US" sz="2400" dirty="0" smtClean="0"/>
              <a:t>描述的是信息如何被存储在发送</a:t>
            </a:r>
            <a:r>
              <a:rPr lang="en-US" altLang="zh-CN" sz="2400" dirty="0" smtClean="0"/>
              <a:t>PDO</a:t>
            </a:r>
            <a:r>
              <a:rPr lang="zh-CN" altLang="en-US" sz="2400" dirty="0" smtClean="0"/>
              <a:t>，或者如何从接收</a:t>
            </a:r>
            <a:r>
              <a:rPr lang="en-US" altLang="zh-CN" sz="2400" dirty="0" smtClean="0"/>
              <a:t>PDO</a:t>
            </a:r>
            <a:r>
              <a:rPr lang="zh-CN" altLang="en-US" sz="2400" dirty="0" smtClean="0"/>
              <a:t>中解码信息，分为</a:t>
            </a:r>
            <a:r>
              <a:rPr lang="zh-CN" altLang="en-US" sz="2400" dirty="0" smtClean="0">
                <a:solidFill>
                  <a:srgbClr val="C00000"/>
                </a:solidFill>
              </a:rPr>
              <a:t>静态</a:t>
            </a:r>
            <a:r>
              <a:rPr lang="zh-CN" altLang="en-US" sz="2400" dirty="0" smtClean="0"/>
              <a:t>与</a:t>
            </a:r>
            <a:r>
              <a:rPr lang="zh-CN" altLang="en-US" sz="2400" dirty="0" smtClean="0">
                <a:solidFill>
                  <a:srgbClr val="C00000"/>
                </a:solidFill>
              </a:rPr>
              <a:t>动态</a:t>
            </a:r>
            <a:r>
              <a:rPr lang="zh-CN" altLang="en-US" sz="2400" dirty="0" smtClean="0"/>
              <a:t>两种参数；</a:t>
            </a:r>
            <a:endParaRPr lang="zh-CN" altLang="en-US" sz="2400" dirty="0"/>
          </a:p>
        </p:txBody>
      </p:sp>
    </p:spTree>
    <p:extLst>
      <p:ext uri="{BB962C8B-B14F-4D97-AF65-F5344CB8AC3E}">
        <p14:creationId xmlns:p14="http://schemas.microsoft.com/office/powerpoint/2010/main" val="1765737583"/>
      </p:ext>
    </p:extLst>
  </p:cSld>
  <p:clrMapOvr>
    <a:masterClrMapping/>
  </p:clrMapOvr>
  <p:transition spd="slow">
    <p:push dir="u"/>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 </a:t>
            </a:r>
            <a:r>
              <a:rPr lang="en-US" altLang="zh-CN" dirty="0" err="1"/>
              <a:t>CANopen</a:t>
            </a:r>
            <a:endParaRPr lang="zh-CN" altLang="en-US" dirty="0"/>
          </a:p>
        </p:txBody>
      </p:sp>
      <p:sp>
        <p:nvSpPr>
          <p:cNvPr id="3" name="内容占位符 2"/>
          <p:cNvSpPr>
            <a:spLocks noGrp="1"/>
          </p:cNvSpPr>
          <p:nvPr>
            <p:ph idx="1"/>
          </p:nvPr>
        </p:nvSpPr>
        <p:spPr/>
        <p:txBody>
          <a:bodyPr/>
          <a:lstStyle/>
          <a:p>
            <a:pPr marL="0" indent="0">
              <a:buNone/>
            </a:pPr>
            <a:r>
              <a:rPr lang="en-US" altLang="zh-CN" b="1" dirty="0">
                <a:solidFill>
                  <a:srgbClr val="FF0000"/>
                </a:solidFill>
              </a:rPr>
              <a:t>4. </a:t>
            </a:r>
            <a:r>
              <a:rPr lang="zh-CN" altLang="en-US" b="1" dirty="0">
                <a:solidFill>
                  <a:srgbClr val="FF0000"/>
                </a:solidFill>
              </a:rPr>
              <a:t>服务数据对象 </a:t>
            </a:r>
            <a:r>
              <a:rPr lang="en-US" altLang="zh-CN" b="1" dirty="0">
                <a:solidFill>
                  <a:srgbClr val="FF0000"/>
                </a:solidFill>
              </a:rPr>
              <a:t>– Service Data Objects</a:t>
            </a:r>
          </a:p>
          <a:p>
            <a:pPr>
              <a:buFont typeface="Arial" panose="020B0604020202020204" pitchFamily="34" charset="0"/>
              <a:buChar char="•"/>
            </a:pPr>
            <a:r>
              <a:rPr lang="en-US" altLang="zh-CN" sz="2400" dirty="0" smtClean="0"/>
              <a:t>SDO</a:t>
            </a:r>
            <a:r>
              <a:rPr lang="zh-CN" altLang="en-US" sz="2400" dirty="0" smtClean="0"/>
              <a:t>提供远程读写</a:t>
            </a:r>
            <a:r>
              <a:rPr lang="en-US" altLang="zh-CN" sz="2400" dirty="0" smtClean="0"/>
              <a:t>OD</a:t>
            </a:r>
            <a:r>
              <a:rPr lang="zh-CN" altLang="en-US" sz="2400" dirty="0" smtClean="0"/>
              <a:t>的直接入口，在</a:t>
            </a:r>
            <a:r>
              <a:rPr lang="en-US" altLang="zh-CN" sz="2400" dirty="0" err="1" smtClean="0"/>
              <a:t>CANopen</a:t>
            </a:r>
            <a:r>
              <a:rPr lang="zh-CN" altLang="en-US" sz="2400" dirty="0" smtClean="0"/>
              <a:t>的配置阶段用于参数配置，非实时且优先级低于过程数据对象</a:t>
            </a:r>
            <a:r>
              <a:rPr lang="en-US" altLang="zh-CN" sz="2400" dirty="0" smtClean="0"/>
              <a:t>PDO</a:t>
            </a:r>
            <a:r>
              <a:rPr lang="zh-CN" altLang="en-US" sz="2400" dirty="0" smtClean="0"/>
              <a:t>，应用或配置工具使用</a:t>
            </a:r>
            <a:r>
              <a:rPr lang="en-US" altLang="zh-CN" sz="2400" dirty="0" smtClean="0"/>
              <a:t>SDO</a:t>
            </a:r>
            <a:r>
              <a:rPr lang="zh-CN" altLang="en-US" sz="2400" dirty="0" smtClean="0"/>
              <a:t>的上传</a:t>
            </a:r>
            <a:r>
              <a:rPr lang="en-US" altLang="zh-CN" sz="2400" dirty="0" smtClean="0"/>
              <a:t>/</a:t>
            </a:r>
            <a:r>
              <a:rPr lang="zh-CN" altLang="en-US" sz="2400" dirty="0" smtClean="0"/>
              <a:t>下载服务读写</a:t>
            </a:r>
            <a:r>
              <a:rPr lang="en-US" altLang="zh-CN" sz="2400" dirty="0" smtClean="0"/>
              <a:t>OD</a:t>
            </a:r>
            <a:r>
              <a:rPr lang="zh-CN" altLang="en-US" sz="2400" dirty="0" smtClean="0"/>
              <a:t>中的记录。</a:t>
            </a:r>
            <a:endParaRPr lang="en-US" altLang="zh-CN" sz="2400" dirty="0" smtClean="0"/>
          </a:p>
          <a:p>
            <a:pPr marL="0" indent="0">
              <a:buNone/>
            </a:pPr>
            <a:endParaRPr lang="en-US" altLang="zh-CN" sz="2400" dirty="0" smtClean="0"/>
          </a:p>
          <a:p>
            <a:pPr>
              <a:buFont typeface="Wingdings" panose="05000000000000000000" pitchFamily="2" charset="2"/>
              <a:buChar char="p"/>
            </a:pPr>
            <a:r>
              <a:rPr lang="en-US" altLang="zh-CN" sz="2800" b="1" dirty="0">
                <a:solidFill>
                  <a:srgbClr val="FF0000"/>
                </a:solidFill>
              </a:rPr>
              <a:t>SDO</a:t>
            </a:r>
            <a:r>
              <a:rPr lang="zh-CN" altLang="en-US" sz="2800" b="1" dirty="0">
                <a:solidFill>
                  <a:srgbClr val="FF0000"/>
                </a:solidFill>
              </a:rPr>
              <a:t>传输类型</a:t>
            </a:r>
            <a:endParaRPr lang="en-US" altLang="zh-CN" sz="2800" b="1" dirty="0">
              <a:solidFill>
                <a:srgbClr val="FF0000"/>
              </a:solidFill>
            </a:endParaRPr>
          </a:p>
          <a:p>
            <a:pPr>
              <a:buFont typeface="Arial" panose="020B0604020202020204" pitchFamily="34" charset="0"/>
              <a:buChar char="•"/>
            </a:pPr>
            <a:r>
              <a:rPr lang="zh-CN" altLang="en-US" sz="2400" dirty="0" smtClean="0">
                <a:solidFill>
                  <a:srgbClr val="C00000"/>
                </a:solidFill>
              </a:rPr>
              <a:t>加速传输</a:t>
            </a:r>
            <a:r>
              <a:rPr lang="zh-CN" altLang="en-US" sz="2400" dirty="0" smtClean="0"/>
              <a:t>：客户端</a:t>
            </a:r>
            <a:r>
              <a:rPr lang="en-US" altLang="zh-CN" sz="2400" dirty="0" smtClean="0"/>
              <a:t>/</a:t>
            </a:r>
            <a:r>
              <a:rPr lang="zh-CN" altLang="en-US" sz="2400" dirty="0" smtClean="0"/>
              <a:t>服务器之间只需交换两帧最多</a:t>
            </a:r>
            <a:r>
              <a:rPr lang="en-US" altLang="zh-CN" sz="2400" dirty="0" smtClean="0"/>
              <a:t>4bytes</a:t>
            </a:r>
            <a:r>
              <a:rPr lang="zh-CN" altLang="en-US" sz="2400" dirty="0" smtClean="0"/>
              <a:t>数据；</a:t>
            </a:r>
            <a:endParaRPr lang="en-US" altLang="zh-CN" sz="2400" dirty="0" smtClean="0"/>
          </a:p>
          <a:p>
            <a:pPr>
              <a:buFont typeface="Arial" panose="020B0604020202020204" pitchFamily="34" charset="0"/>
              <a:buChar char="•"/>
            </a:pPr>
            <a:r>
              <a:rPr lang="zh-CN" altLang="en-US" sz="2400" dirty="0" smtClean="0">
                <a:solidFill>
                  <a:srgbClr val="C00000"/>
                </a:solidFill>
              </a:rPr>
              <a:t>正常传输</a:t>
            </a:r>
            <a:r>
              <a:rPr lang="zh-CN" altLang="en-US" sz="2400" dirty="0" smtClean="0"/>
              <a:t>：将数据分段传输，每段最多</a:t>
            </a:r>
            <a:r>
              <a:rPr lang="en-US" altLang="zh-CN" sz="2400" dirty="0" smtClean="0"/>
              <a:t>7bytes</a:t>
            </a:r>
            <a:r>
              <a:rPr lang="zh-CN" altLang="en-US" sz="2400" dirty="0" smtClean="0"/>
              <a:t>数据；</a:t>
            </a:r>
            <a:endParaRPr lang="en-US" altLang="zh-CN" sz="2400" dirty="0" smtClean="0"/>
          </a:p>
          <a:p>
            <a:pPr>
              <a:buFont typeface="Arial" panose="020B0604020202020204" pitchFamily="34" charset="0"/>
              <a:buChar char="•"/>
            </a:pPr>
            <a:r>
              <a:rPr lang="zh-CN" altLang="en-US" sz="2400" dirty="0" smtClean="0">
                <a:solidFill>
                  <a:srgbClr val="C00000"/>
                </a:solidFill>
              </a:rPr>
              <a:t>块传输</a:t>
            </a:r>
            <a:r>
              <a:rPr lang="zh-CN" altLang="en-US" sz="2400" dirty="0" smtClean="0"/>
              <a:t>：信息以快序列的方式传输，每块数据序列最多</a:t>
            </a:r>
            <a:r>
              <a:rPr lang="en-US" altLang="zh-CN" sz="2400" dirty="0" smtClean="0"/>
              <a:t>127</a:t>
            </a:r>
            <a:r>
              <a:rPr lang="zh-CN" altLang="en-US" sz="2400" dirty="0" smtClean="0"/>
              <a:t>段。</a:t>
            </a:r>
            <a:endParaRPr lang="zh-CN" altLang="en-US" sz="2400" dirty="0"/>
          </a:p>
        </p:txBody>
      </p:sp>
    </p:spTree>
    <p:extLst>
      <p:ext uri="{BB962C8B-B14F-4D97-AF65-F5344CB8AC3E}">
        <p14:creationId xmlns:p14="http://schemas.microsoft.com/office/powerpoint/2010/main" val="1432760951"/>
      </p:ext>
    </p:extLst>
  </p:cSld>
  <p:clrMapOvr>
    <a:masterClrMapping/>
  </p:clrMapOvr>
  <p:transition spd="slow">
    <p:push dir="u"/>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 </a:t>
            </a:r>
            <a:r>
              <a:rPr lang="en-US" altLang="zh-CN" dirty="0" err="1"/>
              <a:t>CANopen</a:t>
            </a:r>
            <a:endParaRPr lang="zh-CN" altLang="en-US" dirty="0"/>
          </a:p>
        </p:txBody>
      </p:sp>
      <p:sp>
        <p:nvSpPr>
          <p:cNvPr id="3" name="内容占位符 2"/>
          <p:cNvSpPr>
            <a:spLocks noGrp="1"/>
          </p:cNvSpPr>
          <p:nvPr>
            <p:ph idx="1"/>
          </p:nvPr>
        </p:nvSpPr>
        <p:spPr/>
        <p:txBody>
          <a:bodyPr/>
          <a:lstStyle/>
          <a:p>
            <a:pPr marL="0" indent="0">
              <a:buNone/>
            </a:pPr>
            <a:r>
              <a:rPr lang="en-US" altLang="zh-CN" b="1" dirty="0" smtClean="0">
                <a:solidFill>
                  <a:srgbClr val="FF0000"/>
                </a:solidFill>
              </a:rPr>
              <a:t>5. </a:t>
            </a:r>
            <a:r>
              <a:rPr lang="zh-CN" altLang="en-US" b="1" dirty="0" smtClean="0">
                <a:solidFill>
                  <a:srgbClr val="FF0000"/>
                </a:solidFill>
              </a:rPr>
              <a:t>其他对象</a:t>
            </a:r>
            <a:endParaRPr lang="en-US" altLang="zh-CN" b="1" dirty="0" smtClean="0">
              <a:solidFill>
                <a:srgbClr val="FF0000"/>
              </a:solidFill>
            </a:endParaRPr>
          </a:p>
          <a:p>
            <a:pPr>
              <a:buFont typeface="Wingdings" panose="05000000000000000000" pitchFamily="2" charset="2"/>
              <a:buChar char="p"/>
            </a:pPr>
            <a:r>
              <a:rPr lang="zh-CN" altLang="en-US" sz="2800" b="1" dirty="0">
                <a:solidFill>
                  <a:srgbClr val="FF0000"/>
                </a:solidFill>
              </a:rPr>
              <a:t>同步</a:t>
            </a:r>
            <a:r>
              <a:rPr lang="zh-CN" altLang="en-US" sz="2800" b="1" dirty="0" smtClean="0">
                <a:solidFill>
                  <a:srgbClr val="FF0000"/>
                </a:solidFill>
              </a:rPr>
              <a:t>对象</a:t>
            </a:r>
            <a:endParaRPr lang="en-US" altLang="zh-CN" sz="2800" b="1" dirty="0" smtClean="0">
              <a:solidFill>
                <a:srgbClr val="FF0000"/>
              </a:solidFill>
            </a:endParaRPr>
          </a:p>
          <a:p>
            <a:pPr>
              <a:buFont typeface="Arial" panose="020B0604020202020204" pitchFamily="34" charset="0"/>
              <a:buChar char="•"/>
            </a:pPr>
            <a:r>
              <a:rPr lang="zh-CN" altLang="en-US" sz="2400" dirty="0" smtClean="0"/>
              <a:t>同步操作通过周期性的在网络上广播同步</a:t>
            </a:r>
            <a:r>
              <a:rPr lang="en-US" altLang="zh-CN" sz="2400" dirty="0" smtClean="0"/>
              <a:t>SYNC</a:t>
            </a:r>
            <a:r>
              <a:rPr lang="zh-CN" altLang="en-US" sz="2400" dirty="0" smtClean="0"/>
              <a:t>消息来实现；</a:t>
            </a:r>
            <a:endParaRPr lang="en-US" altLang="zh-CN" sz="2400" dirty="0" smtClean="0"/>
          </a:p>
          <a:p>
            <a:pPr>
              <a:buFont typeface="Arial" panose="020B0604020202020204" pitchFamily="34" charset="0"/>
              <a:buChar char="•"/>
            </a:pPr>
            <a:r>
              <a:rPr lang="en-US" altLang="zh-CN" sz="2400" dirty="0" err="1" smtClean="0"/>
              <a:t>CANopen</a:t>
            </a:r>
            <a:r>
              <a:rPr lang="zh-CN" altLang="en-US" sz="2400" dirty="0" smtClean="0"/>
              <a:t>的最初标准中，同步</a:t>
            </a:r>
            <a:r>
              <a:rPr lang="en-US" altLang="zh-CN" sz="2400" dirty="0" smtClean="0"/>
              <a:t>SYNC</a:t>
            </a:r>
            <a:r>
              <a:rPr lang="zh-CN" altLang="en-US" sz="2400" dirty="0" smtClean="0"/>
              <a:t>对象被映射到空数据帧上，为应用提供网络时钟；</a:t>
            </a:r>
            <a:endParaRPr lang="en-US" altLang="zh-CN" sz="2400" dirty="0" smtClean="0"/>
          </a:p>
          <a:p>
            <a:pPr>
              <a:buFont typeface="Arial" panose="020B0604020202020204" pitchFamily="34" charset="0"/>
              <a:buChar char="•"/>
            </a:pPr>
            <a:r>
              <a:rPr lang="en-US" altLang="zh-CN" sz="2400" dirty="0" err="1" smtClean="0"/>
              <a:t>CANopen</a:t>
            </a:r>
            <a:r>
              <a:rPr lang="zh-CN" altLang="en-US" sz="2400" dirty="0" smtClean="0"/>
              <a:t>新的标准中，定义了额外的</a:t>
            </a:r>
            <a:r>
              <a:rPr lang="en-US" altLang="zh-CN" sz="2400" dirty="0" smtClean="0"/>
              <a:t>SYNC</a:t>
            </a:r>
            <a:r>
              <a:rPr lang="zh-CN" altLang="en-US" sz="2400" dirty="0" smtClean="0"/>
              <a:t>消息，在原有的基础上扩展了一个包含</a:t>
            </a:r>
            <a:r>
              <a:rPr lang="en-US" altLang="zh-CN" sz="2400" dirty="0" smtClean="0"/>
              <a:t>1byte</a:t>
            </a:r>
            <a:r>
              <a:rPr lang="zh-CN" altLang="en-US" sz="2400" dirty="0" smtClean="0"/>
              <a:t>大小计数器的数据场，每次</a:t>
            </a:r>
            <a:r>
              <a:rPr lang="en-US" altLang="zh-CN" sz="2400" dirty="0" smtClean="0"/>
              <a:t>SYNC</a:t>
            </a:r>
            <a:r>
              <a:rPr lang="zh-CN" altLang="en-US" sz="2400" dirty="0" smtClean="0"/>
              <a:t>传输计数器增加</a:t>
            </a:r>
            <a:r>
              <a:rPr lang="en-US" altLang="zh-CN" sz="2400" dirty="0" smtClean="0"/>
              <a:t>1</a:t>
            </a:r>
            <a:r>
              <a:rPr lang="zh-CN" altLang="en-US" sz="2400" dirty="0" smtClean="0"/>
              <a:t>（初始值为</a:t>
            </a:r>
            <a:r>
              <a:rPr lang="en-US" altLang="zh-CN" sz="2400" dirty="0" smtClean="0"/>
              <a:t>1</a:t>
            </a:r>
            <a:r>
              <a:rPr lang="zh-CN" altLang="en-US" sz="2400" dirty="0" smtClean="0"/>
              <a:t>），增加至最大值后重置为</a:t>
            </a:r>
            <a:r>
              <a:rPr lang="en-US" altLang="zh-CN" sz="2400" dirty="0" smtClean="0"/>
              <a:t>1</a:t>
            </a:r>
            <a:r>
              <a:rPr lang="zh-CN" altLang="en-US" sz="2400" dirty="0"/>
              <a:t>，</a:t>
            </a:r>
            <a:r>
              <a:rPr lang="zh-CN" altLang="en-US" sz="2400" dirty="0" smtClean="0"/>
              <a:t>其使得设备能够以大于通信周期的时间间隔进行同步</a:t>
            </a:r>
            <a:r>
              <a:rPr lang="en-US" altLang="zh-CN" sz="2400" dirty="0" smtClean="0"/>
              <a:t>PDO</a:t>
            </a:r>
            <a:r>
              <a:rPr lang="zh-CN" altLang="en-US" sz="2400" dirty="0" smtClean="0"/>
              <a:t>的传输。</a:t>
            </a:r>
            <a:endParaRPr lang="zh-CN" altLang="en-US" sz="2400" dirty="0"/>
          </a:p>
        </p:txBody>
      </p:sp>
    </p:spTree>
    <p:extLst>
      <p:ext uri="{BB962C8B-B14F-4D97-AF65-F5344CB8AC3E}">
        <p14:creationId xmlns:p14="http://schemas.microsoft.com/office/powerpoint/2010/main" val="1325234888"/>
      </p:ext>
    </p:extLst>
  </p:cSld>
  <p:clrMapOvr>
    <a:masterClrMapping/>
  </p:clrMapOvr>
  <p:transition spd="slow">
    <p:push dir="u"/>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 </a:t>
            </a:r>
            <a:r>
              <a:rPr lang="en-US" altLang="zh-CN" dirty="0" err="1"/>
              <a:t>CANopen</a:t>
            </a:r>
            <a:endParaRPr lang="zh-CN" altLang="en-US" dirty="0"/>
          </a:p>
        </p:txBody>
      </p:sp>
      <p:sp>
        <p:nvSpPr>
          <p:cNvPr id="3" name="内容占位符 2"/>
          <p:cNvSpPr>
            <a:spLocks noGrp="1"/>
          </p:cNvSpPr>
          <p:nvPr>
            <p:ph idx="1"/>
          </p:nvPr>
        </p:nvSpPr>
        <p:spPr/>
        <p:txBody>
          <a:bodyPr/>
          <a:lstStyle/>
          <a:p>
            <a:pPr>
              <a:buFont typeface="Wingdings" panose="05000000000000000000" pitchFamily="2" charset="2"/>
              <a:buChar char="p"/>
            </a:pPr>
            <a:r>
              <a:rPr lang="zh-CN" altLang="en-US" sz="2800" b="1" dirty="0">
                <a:solidFill>
                  <a:srgbClr val="FF0000"/>
                </a:solidFill>
              </a:rPr>
              <a:t>紧急</a:t>
            </a:r>
            <a:r>
              <a:rPr lang="zh-CN" altLang="en-US" sz="2800" b="1" dirty="0" smtClean="0">
                <a:solidFill>
                  <a:srgbClr val="FF0000"/>
                </a:solidFill>
              </a:rPr>
              <a:t>对象 </a:t>
            </a:r>
            <a:r>
              <a:rPr lang="en-US" altLang="zh-CN" sz="2800" b="1" dirty="0" smtClean="0">
                <a:solidFill>
                  <a:srgbClr val="FF0000"/>
                </a:solidFill>
              </a:rPr>
              <a:t>– Emergency Object</a:t>
            </a:r>
          </a:p>
          <a:p>
            <a:pPr>
              <a:buFont typeface="Arial" panose="020B0604020202020204" pitchFamily="34" charset="0"/>
              <a:buChar char="•"/>
            </a:pPr>
            <a:r>
              <a:rPr lang="zh-CN" altLang="en-US" sz="2400" dirty="0"/>
              <a:t>内部出错条件</a:t>
            </a:r>
            <a:r>
              <a:rPr lang="zh-CN" altLang="en-US" sz="2400" dirty="0" smtClean="0"/>
              <a:t>下，</a:t>
            </a:r>
            <a:r>
              <a:rPr lang="zh-CN" altLang="en-US" sz="2400" dirty="0" smtClean="0">
                <a:solidFill>
                  <a:srgbClr val="C00000"/>
                </a:solidFill>
              </a:rPr>
              <a:t>异步</a:t>
            </a:r>
            <a:r>
              <a:rPr lang="zh-CN" altLang="en-US" sz="2400" dirty="0" smtClean="0"/>
              <a:t>发送</a:t>
            </a:r>
            <a:r>
              <a:rPr lang="en-US" altLang="zh-CN" sz="2400" dirty="0" smtClean="0"/>
              <a:t>EMCY</a:t>
            </a:r>
            <a:r>
              <a:rPr lang="zh-CN" altLang="en-US" sz="2400" dirty="0"/>
              <a:t>，</a:t>
            </a:r>
            <a:r>
              <a:rPr lang="zh-CN" altLang="en-US" sz="2400" dirty="0" smtClean="0"/>
              <a:t>可看作是一种用于触发紧急警报的中断，非强制实施；</a:t>
            </a:r>
            <a:endParaRPr lang="en-US" altLang="zh-CN" sz="2400" dirty="0" smtClean="0"/>
          </a:p>
          <a:p>
            <a:pPr>
              <a:buFont typeface="Arial" panose="020B0604020202020204" pitchFamily="34" charset="0"/>
              <a:buChar char="•"/>
            </a:pPr>
            <a:r>
              <a:rPr lang="zh-CN" altLang="en-US" sz="2400" dirty="0" smtClean="0"/>
              <a:t>与</a:t>
            </a:r>
            <a:r>
              <a:rPr lang="en-US" altLang="zh-CN" sz="2400" dirty="0" smtClean="0"/>
              <a:t>CAN</a:t>
            </a:r>
            <a:r>
              <a:rPr lang="zh-CN" altLang="en-US" sz="2400" dirty="0" smtClean="0"/>
              <a:t>中处理通信错误的机制不同，紧急对象用于</a:t>
            </a:r>
            <a:r>
              <a:rPr lang="zh-CN" altLang="en-US" sz="2400" dirty="0" smtClean="0">
                <a:solidFill>
                  <a:srgbClr val="C00000"/>
                </a:solidFill>
              </a:rPr>
              <a:t>处理应用层错误</a:t>
            </a:r>
            <a:r>
              <a:rPr lang="zh-CN" altLang="en-US" sz="2400" dirty="0" smtClean="0"/>
              <a:t>（输出通道短路，内部温度过高，电源电压过低等）；</a:t>
            </a:r>
            <a:endParaRPr lang="en-US" altLang="zh-CN" sz="2400" dirty="0" smtClean="0"/>
          </a:p>
          <a:p>
            <a:pPr>
              <a:buFont typeface="Arial" panose="020B0604020202020204" pitchFamily="34" charset="0"/>
              <a:buChar char="•"/>
            </a:pPr>
            <a:r>
              <a:rPr lang="zh-CN" altLang="en-US" sz="2400" dirty="0" smtClean="0">
                <a:solidFill>
                  <a:srgbClr val="C00000"/>
                </a:solidFill>
              </a:rPr>
              <a:t>每个错误事件只发送一个</a:t>
            </a:r>
            <a:r>
              <a:rPr lang="en-US" altLang="zh-CN" sz="2400" dirty="0" smtClean="0">
                <a:solidFill>
                  <a:srgbClr val="C00000"/>
                </a:solidFill>
              </a:rPr>
              <a:t>EMCY</a:t>
            </a:r>
            <a:r>
              <a:rPr lang="zh-CN" altLang="en-US" sz="2400" dirty="0" smtClean="0"/>
              <a:t>，随后针对设备的当前错误条件定义一个状态机，所有的错误修复后，设备返回无错误状态；</a:t>
            </a:r>
            <a:endParaRPr lang="en-US" altLang="zh-CN" sz="2400" dirty="0" smtClean="0"/>
          </a:p>
          <a:p>
            <a:pPr>
              <a:buFont typeface="Arial" panose="020B0604020202020204" pitchFamily="34" charset="0"/>
              <a:buChar char="•"/>
            </a:pPr>
            <a:r>
              <a:rPr lang="en-US" altLang="zh-CN" sz="2400" dirty="0" smtClean="0"/>
              <a:t>EMCY</a:t>
            </a:r>
            <a:r>
              <a:rPr lang="zh-CN" altLang="en-US" sz="2400" dirty="0" smtClean="0"/>
              <a:t>在</a:t>
            </a:r>
            <a:r>
              <a:rPr lang="en-US" altLang="zh-CN" sz="2400" dirty="0" smtClean="0"/>
              <a:t>CAN</a:t>
            </a:r>
            <a:r>
              <a:rPr lang="zh-CN" altLang="en-US" sz="2400" dirty="0" smtClean="0"/>
              <a:t>数据帧中的</a:t>
            </a:r>
            <a:r>
              <a:rPr lang="en-US" altLang="zh-CN" sz="2400" dirty="0" smtClean="0">
                <a:solidFill>
                  <a:srgbClr val="C00000"/>
                </a:solidFill>
              </a:rPr>
              <a:t>8bytes</a:t>
            </a:r>
            <a:r>
              <a:rPr lang="zh-CN" altLang="en-US" sz="2400" dirty="0" smtClean="0">
                <a:solidFill>
                  <a:srgbClr val="C00000"/>
                </a:solidFill>
              </a:rPr>
              <a:t>数据场</a:t>
            </a:r>
            <a:r>
              <a:rPr lang="zh-CN" altLang="en-US" sz="2400" dirty="0" smtClean="0"/>
              <a:t>中发送，由</a:t>
            </a:r>
            <a:r>
              <a:rPr lang="en-US" altLang="zh-CN" sz="2400" dirty="0" smtClean="0">
                <a:solidFill>
                  <a:srgbClr val="C00000"/>
                </a:solidFill>
              </a:rPr>
              <a:t>3</a:t>
            </a:r>
            <a:r>
              <a:rPr lang="zh-CN" altLang="en-US" sz="2400" dirty="0" smtClean="0">
                <a:solidFill>
                  <a:srgbClr val="C00000"/>
                </a:solidFill>
              </a:rPr>
              <a:t>部分</a:t>
            </a:r>
            <a:r>
              <a:rPr lang="zh-CN" altLang="en-US" sz="2400" dirty="0" smtClean="0"/>
              <a:t>组成</a:t>
            </a:r>
            <a:endParaRPr lang="en-US" altLang="zh-CN" sz="2400" dirty="0" smtClean="0"/>
          </a:p>
          <a:p>
            <a:pPr marL="857250" lvl="1" indent="-457200">
              <a:buFont typeface="+mj-ea"/>
              <a:buAutoNum type="circleNumDbPlain"/>
            </a:pPr>
            <a:r>
              <a:rPr lang="zh-CN" altLang="en-US" sz="2000" dirty="0" smtClean="0"/>
              <a:t>紧急错误码（</a:t>
            </a:r>
            <a:r>
              <a:rPr lang="en-US" altLang="zh-CN" sz="2000" dirty="0" smtClean="0"/>
              <a:t>2bytes</a:t>
            </a:r>
            <a:r>
              <a:rPr lang="zh-CN" altLang="en-US" sz="2000" dirty="0" smtClean="0"/>
              <a:t>），</a:t>
            </a:r>
            <a:r>
              <a:rPr lang="en-US" altLang="zh-CN" sz="2000" dirty="0" err="1" smtClean="0"/>
              <a:t>CANopen</a:t>
            </a:r>
            <a:r>
              <a:rPr lang="zh-CN" altLang="en-US" sz="2000" dirty="0" smtClean="0"/>
              <a:t>中定义了标准错误码，设备商还可自行添加；</a:t>
            </a:r>
            <a:endParaRPr lang="en-US" altLang="zh-CN" sz="2000" dirty="0" smtClean="0"/>
          </a:p>
          <a:p>
            <a:pPr marL="857250" lvl="1" indent="-457200">
              <a:buFont typeface="+mj-ea"/>
              <a:buAutoNum type="circleNumDbPlain"/>
            </a:pPr>
            <a:r>
              <a:rPr lang="zh-CN" altLang="en-US" sz="2000" dirty="0" smtClean="0"/>
              <a:t>错误寄存器（</a:t>
            </a:r>
            <a:r>
              <a:rPr lang="en-US" altLang="zh-CN" sz="2000" dirty="0" smtClean="0"/>
              <a:t>OD</a:t>
            </a:r>
            <a:r>
              <a:rPr lang="zh-CN" altLang="en-US" sz="2000" dirty="0" smtClean="0"/>
              <a:t>中</a:t>
            </a:r>
            <a:r>
              <a:rPr lang="en-US" altLang="zh-CN" sz="2000" dirty="0" smtClean="0"/>
              <a:t>1001</a:t>
            </a:r>
            <a:r>
              <a:rPr lang="en-US" altLang="zh-CN" sz="2000" baseline="-25000" dirty="0" smtClean="0"/>
              <a:t>h</a:t>
            </a:r>
            <a:r>
              <a:rPr lang="zh-CN" altLang="en-US" sz="2000" dirty="0" smtClean="0"/>
              <a:t>），</a:t>
            </a:r>
            <a:r>
              <a:rPr lang="en-US" altLang="zh-CN" sz="2000" dirty="0" smtClean="0"/>
              <a:t>1byte</a:t>
            </a:r>
            <a:r>
              <a:rPr lang="zh-CN" altLang="en-US" sz="2000" dirty="0" smtClean="0"/>
              <a:t>，标识未修复的错误，每一位对应特定错误类（电流、电压、温度、通信等）；</a:t>
            </a:r>
            <a:endParaRPr lang="en-US" altLang="zh-CN" sz="2000" dirty="0" smtClean="0"/>
          </a:p>
          <a:p>
            <a:pPr marL="857250" lvl="1" indent="-457200">
              <a:buFont typeface="+mj-ea"/>
              <a:buAutoNum type="circleNumDbPlain"/>
            </a:pPr>
            <a:r>
              <a:rPr lang="zh-CN" altLang="en-US" sz="2000" dirty="0" smtClean="0"/>
              <a:t>制造商特殊错误，包含设备制造商关于错误的附加信息；</a:t>
            </a:r>
            <a:endParaRPr lang="en-US" altLang="zh-CN" sz="2000" dirty="0" smtClean="0"/>
          </a:p>
          <a:p>
            <a:pPr>
              <a:buFont typeface="Arial" panose="020B0604020202020204" pitchFamily="34" charset="0"/>
              <a:buChar char="•"/>
            </a:pPr>
            <a:endParaRPr lang="zh-CN" altLang="en-US" sz="2400" dirty="0"/>
          </a:p>
        </p:txBody>
      </p:sp>
    </p:spTree>
    <p:extLst>
      <p:ext uri="{BB962C8B-B14F-4D97-AF65-F5344CB8AC3E}">
        <p14:creationId xmlns:p14="http://schemas.microsoft.com/office/powerpoint/2010/main" val="812273995"/>
      </p:ext>
    </p:extLst>
  </p:cSld>
  <p:clrMapOvr>
    <a:masterClrMapping/>
  </p:clrMapOvr>
  <p:transition spd="slow">
    <p:push dir="u"/>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 </a:t>
            </a:r>
            <a:r>
              <a:rPr lang="en-US" altLang="zh-CN" dirty="0" err="1"/>
              <a:t>CANopen</a:t>
            </a:r>
            <a:endParaRPr lang="zh-CN" altLang="en-US" dirty="0"/>
          </a:p>
        </p:txBody>
      </p:sp>
      <p:sp>
        <p:nvSpPr>
          <p:cNvPr id="3" name="内容占位符 2"/>
          <p:cNvSpPr>
            <a:spLocks noGrp="1"/>
          </p:cNvSpPr>
          <p:nvPr>
            <p:ph idx="1"/>
          </p:nvPr>
        </p:nvSpPr>
        <p:spPr/>
        <p:txBody>
          <a:bodyPr/>
          <a:lstStyle/>
          <a:p>
            <a:pPr marL="0" indent="0">
              <a:buNone/>
            </a:pPr>
            <a:r>
              <a:rPr lang="en-US" altLang="zh-CN" b="1" dirty="0">
                <a:solidFill>
                  <a:srgbClr val="FF0000"/>
                </a:solidFill>
              </a:rPr>
              <a:t>6. </a:t>
            </a:r>
            <a:r>
              <a:rPr lang="zh-CN" altLang="en-US" b="1" dirty="0" smtClean="0">
                <a:solidFill>
                  <a:srgbClr val="FF0000"/>
                </a:solidFill>
              </a:rPr>
              <a:t>网络管理 </a:t>
            </a:r>
            <a:r>
              <a:rPr lang="en-US" altLang="zh-CN" b="1" dirty="0" smtClean="0">
                <a:solidFill>
                  <a:srgbClr val="FF0000"/>
                </a:solidFill>
              </a:rPr>
              <a:t>– Network Management(NMT)</a:t>
            </a:r>
          </a:p>
          <a:p>
            <a:pPr marL="0" indent="0">
              <a:buNone/>
            </a:pPr>
            <a:r>
              <a:rPr lang="en-US" altLang="zh-CN" sz="2400" dirty="0" err="1" smtClean="0">
                <a:solidFill>
                  <a:schemeClr val="accent3">
                    <a:lumMod val="50000"/>
                  </a:schemeClr>
                </a:solidFill>
              </a:rPr>
              <a:t>CANopen</a:t>
            </a:r>
            <a:r>
              <a:rPr lang="zh-CN" altLang="en-US" sz="2400" dirty="0" smtClean="0">
                <a:solidFill>
                  <a:schemeClr val="accent3">
                    <a:lumMod val="50000"/>
                  </a:schemeClr>
                </a:solidFill>
              </a:rPr>
              <a:t>中的网络管理使用</a:t>
            </a:r>
            <a:r>
              <a:rPr lang="zh-CN" altLang="en-US" sz="2400" dirty="0" smtClean="0">
                <a:solidFill>
                  <a:srgbClr val="C00000"/>
                </a:solidFill>
              </a:rPr>
              <a:t>主</a:t>
            </a:r>
            <a:r>
              <a:rPr lang="en-US" altLang="zh-CN" sz="2400" dirty="0" smtClean="0">
                <a:solidFill>
                  <a:srgbClr val="C00000"/>
                </a:solidFill>
              </a:rPr>
              <a:t>/</a:t>
            </a:r>
            <a:r>
              <a:rPr lang="zh-CN" altLang="en-US" sz="2400" dirty="0" smtClean="0">
                <a:solidFill>
                  <a:srgbClr val="C00000"/>
                </a:solidFill>
              </a:rPr>
              <a:t>从方式</a:t>
            </a:r>
            <a:r>
              <a:rPr lang="zh-CN" altLang="en-US" sz="2400" dirty="0" smtClean="0">
                <a:solidFill>
                  <a:schemeClr val="accent3">
                    <a:lumMod val="50000"/>
                  </a:schemeClr>
                </a:solidFill>
              </a:rPr>
              <a:t>，通常</a:t>
            </a:r>
            <a:r>
              <a:rPr lang="zh-CN" altLang="en-US" sz="2400" dirty="0" smtClean="0">
                <a:solidFill>
                  <a:srgbClr val="C00000"/>
                </a:solidFill>
              </a:rPr>
              <a:t>所有</a:t>
            </a:r>
            <a:r>
              <a:rPr lang="zh-CN" altLang="en-US" sz="2400" dirty="0" smtClean="0">
                <a:solidFill>
                  <a:schemeClr val="accent3">
                    <a:lumMod val="50000"/>
                  </a:schemeClr>
                </a:solidFill>
              </a:rPr>
              <a:t>的</a:t>
            </a:r>
            <a:r>
              <a:rPr lang="en-US" altLang="zh-CN" sz="2400" dirty="0" err="1" smtClean="0">
                <a:solidFill>
                  <a:schemeClr val="accent3">
                    <a:lumMod val="50000"/>
                  </a:schemeClr>
                </a:solidFill>
              </a:rPr>
              <a:t>CANopen</a:t>
            </a:r>
            <a:r>
              <a:rPr lang="zh-CN" altLang="en-US" sz="2400" dirty="0" smtClean="0">
                <a:solidFill>
                  <a:schemeClr val="accent3">
                    <a:lumMod val="50000"/>
                  </a:schemeClr>
                </a:solidFill>
              </a:rPr>
              <a:t>设备都可看做是</a:t>
            </a:r>
            <a:r>
              <a:rPr lang="en-US" altLang="zh-CN" sz="2400" dirty="0" smtClean="0">
                <a:solidFill>
                  <a:schemeClr val="accent3">
                    <a:lumMod val="50000"/>
                  </a:schemeClr>
                </a:solidFill>
              </a:rPr>
              <a:t>NMT</a:t>
            </a:r>
            <a:r>
              <a:rPr lang="zh-CN" altLang="en-US" sz="2400" dirty="0" smtClean="0">
                <a:solidFill>
                  <a:schemeClr val="accent3">
                    <a:lumMod val="50000"/>
                  </a:schemeClr>
                </a:solidFill>
              </a:rPr>
              <a:t>中的从设备，并通过</a:t>
            </a:r>
            <a:r>
              <a:rPr lang="en-US" altLang="zh-CN" sz="2400" dirty="0" smtClean="0">
                <a:solidFill>
                  <a:srgbClr val="C00000"/>
                </a:solidFill>
              </a:rPr>
              <a:t>1~127</a:t>
            </a:r>
            <a:r>
              <a:rPr lang="zh-CN" altLang="en-US" sz="2400" dirty="0">
                <a:solidFill>
                  <a:srgbClr val="C00000"/>
                </a:solidFill>
              </a:rPr>
              <a:t>范围</a:t>
            </a:r>
            <a:r>
              <a:rPr lang="zh-CN" altLang="en-US" sz="2400" dirty="0" smtClean="0">
                <a:solidFill>
                  <a:srgbClr val="C00000"/>
                </a:solidFill>
              </a:rPr>
              <a:t>内的整数节点</a:t>
            </a:r>
            <a:r>
              <a:rPr lang="en-US" altLang="zh-CN" sz="2400" dirty="0" smtClean="0">
                <a:solidFill>
                  <a:srgbClr val="C00000"/>
                </a:solidFill>
              </a:rPr>
              <a:t>ID</a:t>
            </a:r>
            <a:r>
              <a:rPr lang="zh-CN" altLang="en-US" sz="2400" dirty="0" smtClean="0">
                <a:solidFill>
                  <a:schemeClr val="accent3">
                    <a:lumMod val="50000"/>
                  </a:schemeClr>
                </a:solidFill>
              </a:rPr>
              <a:t>标识，</a:t>
            </a:r>
            <a:r>
              <a:rPr lang="en-US" altLang="zh-CN" sz="2400" dirty="0" smtClean="0">
                <a:solidFill>
                  <a:schemeClr val="accent3">
                    <a:lumMod val="50000"/>
                  </a:schemeClr>
                </a:solidFill>
              </a:rPr>
              <a:t>NMT</a:t>
            </a:r>
            <a:r>
              <a:rPr lang="zh-CN" altLang="en-US" sz="2400" dirty="0" smtClean="0">
                <a:solidFill>
                  <a:schemeClr val="accent3">
                    <a:lumMod val="50000"/>
                  </a:schemeClr>
                </a:solidFill>
              </a:rPr>
              <a:t>指定网络中的</a:t>
            </a:r>
            <a:r>
              <a:rPr lang="zh-CN" altLang="en-US" sz="2400" dirty="0" smtClean="0">
                <a:solidFill>
                  <a:srgbClr val="C00000"/>
                </a:solidFill>
              </a:rPr>
              <a:t>一个设备</a:t>
            </a:r>
            <a:r>
              <a:rPr lang="zh-CN" altLang="en-US" sz="2400" dirty="0" smtClean="0">
                <a:solidFill>
                  <a:schemeClr val="accent3">
                    <a:lumMod val="50000"/>
                  </a:schemeClr>
                </a:solidFill>
              </a:rPr>
              <a:t>实现主设备功能。</a:t>
            </a:r>
            <a:r>
              <a:rPr lang="en-US" altLang="zh-CN" sz="2400" dirty="0" smtClean="0">
                <a:solidFill>
                  <a:schemeClr val="accent3">
                    <a:lumMod val="50000"/>
                  </a:schemeClr>
                </a:solidFill>
              </a:rPr>
              <a:t>NMT</a:t>
            </a:r>
            <a:r>
              <a:rPr lang="zh-CN" altLang="en-US" sz="2400" dirty="0" smtClean="0">
                <a:solidFill>
                  <a:schemeClr val="accent3">
                    <a:lumMod val="50000"/>
                  </a:schemeClr>
                </a:solidFill>
              </a:rPr>
              <a:t>提供两种服务，</a:t>
            </a:r>
            <a:r>
              <a:rPr lang="zh-CN" altLang="en-US" sz="2400" dirty="0" smtClean="0">
                <a:solidFill>
                  <a:srgbClr val="C00000"/>
                </a:solidFill>
              </a:rPr>
              <a:t>节点控制</a:t>
            </a:r>
            <a:r>
              <a:rPr lang="zh-CN" altLang="en-US" sz="2400" dirty="0" smtClean="0">
                <a:solidFill>
                  <a:schemeClr val="accent3">
                    <a:lumMod val="50000"/>
                  </a:schemeClr>
                </a:solidFill>
              </a:rPr>
              <a:t>与</a:t>
            </a:r>
            <a:r>
              <a:rPr lang="zh-CN" altLang="en-US" sz="2400" dirty="0" smtClean="0">
                <a:solidFill>
                  <a:srgbClr val="C00000"/>
                </a:solidFill>
              </a:rPr>
              <a:t>错误控制</a:t>
            </a:r>
            <a:r>
              <a:rPr lang="zh-CN" altLang="en-US" sz="2400" dirty="0" smtClean="0">
                <a:solidFill>
                  <a:schemeClr val="accent3">
                    <a:lumMod val="50000"/>
                  </a:schemeClr>
                </a:solidFill>
              </a:rPr>
              <a:t>。</a:t>
            </a:r>
            <a:endParaRPr lang="en-US" altLang="zh-CN" sz="2400" dirty="0" smtClean="0">
              <a:solidFill>
                <a:schemeClr val="accent3">
                  <a:lumMod val="50000"/>
                </a:schemeClr>
              </a:solidFill>
            </a:endParaRPr>
          </a:p>
          <a:p>
            <a:pPr>
              <a:buFont typeface="Wingdings" panose="05000000000000000000" pitchFamily="2" charset="2"/>
              <a:buChar char="p"/>
            </a:pPr>
            <a:r>
              <a:rPr lang="zh-CN" altLang="en-US" sz="2800" b="1" dirty="0">
                <a:solidFill>
                  <a:srgbClr val="FF0000"/>
                </a:solidFill>
              </a:rPr>
              <a:t>节点</a:t>
            </a:r>
            <a:r>
              <a:rPr lang="zh-CN" altLang="en-US" sz="2800" b="1" dirty="0" smtClean="0">
                <a:solidFill>
                  <a:srgbClr val="FF0000"/>
                </a:solidFill>
              </a:rPr>
              <a:t>控制服务</a:t>
            </a:r>
            <a:endParaRPr lang="en-US" altLang="zh-CN" sz="2800" b="1" dirty="0">
              <a:solidFill>
                <a:srgbClr val="FF0000"/>
              </a:solidFill>
            </a:endParaRPr>
          </a:p>
          <a:p>
            <a:pPr marL="0" indent="0">
              <a:buNone/>
            </a:pPr>
            <a:r>
              <a:rPr lang="zh-CN" altLang="en-US" sz="2400" dirty="0" smtClean="0">
                <a:solidFill>
                  <a:schemeClr val="accent3">
                    <a:lumMod val="50000"/>
                  </a:schemeClr>
                </a:solidFill>
              </a:rPr>
              <a:t>从</a:t>
            </a:r>
            <a:r>
              <a:rPr lang="en-US" altLang="zh-CN" sz="2400" dirty="0" smtClean="0">
                <a:solidFill>
                  <a:schemeClr val="accent3">
                    <a:lumMod val="50000"/>
                  </a:schemeClr>
                </a:solidFill>
              </a:rPr>
              <a:t>NMT</a:t>
            </a:r>
            <a:r>
              <a:rPr lang="zh-CN" altLang="en-US" sz="2400" dirty="0" smtClean="0">
                <a:solidFill>
                  <a:schemeClr val="accent3">
                    <a:lumMod val="50000"/>
                  </a:schemeClr>
                </a:solidFill>
              </a:rPr>
              <a:t>的角度看，每个设备都通过</a:t>
            </a:r>
            <a:r>
              <a:rPr lang="en-US" altLang="zh-CN" sz="2400" dirty="0" smtClean="0">
                <a:solidFill>
                  <a:schemeClr val="accent3">
                    <a:lumMod val="50000"/>
                  </a:schemeClr>
                </a:solidFill>
              </a:rPr>
              <a:t>NMT</a:t>
            </a:r>
            <a:r>
              <a:rPr lang="zh-CN" altLang="en-US" sz="2400" dirty="0" smtClean="0">
                <a:solidFill>
                  <a:schemeClr val="accent3">
                    <a:lumMod val="50000"/>
                  </a:schemeClr>
                </a:solidFill>
              </a:rPr>
              <a:t>状态机描述，任一时刻节点都处于如下</a:t>
            </a:r>
            <a:r>
              <a:rPr lang="en-US" altLang="zh-CN" sz="2400" dirty="0" smtClean="0">
                <a:solidFill>
                  <a:srgbClr val="C00000"/>
                </a:solidFill>
              </a:rPr>
              <a:t>4</a:t>
            </a:r>
            <a:r>
              <a:rPr lang="zh-CN" altLang="en-US" sz="2400" dirty="0" smtClean="0">
                <a:solidFill>
                  <a:srgbClr val="C00000"/>
                </a:solidFill>
              </a:rPr>
              <a:t>个状态</a:t>
            </a:r>
            <a:r>
              <a:rPr lang="zh-CN" altLang="en-US" sz="2400" dirty="0" smtClean="0">
                <a:solidFill>
                  <a:schemeClr val="accent3">
                    <a:lumMod val="50000"/>
                  </a:schemeClr>
                </a:solidFill>
              </a:rPr>
              <a:t>之一，其描述了设备的当前行为与允许操作</a:t>
            </a:r>
            <a:endParaRPr lang="en-US" altLang="zh-CN" sz="2400" dirty="0" smtClean="0">
              <a:solidFill>
                <a:schemeClr val="accent3">
                  <a:lumMod val="50000"/>
                </a:schemeClr>
              </a:solidFill>
            </a:endParaRPr>
          </a:p>
          <a:p>
            <a:pPr>
              <a:buFont typeface="Arial" panose="020B0604020202020204" pitchFamily="34" charset="0"/>
              <a:buChar char="•"/>
            </a:pPr>
            <a:r>
              <a:rPr lang="zh-CN" altLang="en-US" sz="2400" dirty="0" smtClean="0">
                <a:solidFill>
                  <a:srgbClr val="C00000"/>
                </a:solidFill>
              </a:rPr>
              <a:t>初始化（</a:t>
            </a:r>
            <a:r>
              <a:rPr lang="en-US" altLang="zh-CN" sz="2400" dirty="0" smtClean="0">
                <a:solidFill>
                  <a:srgbClr val="C00000"/>
                </a:solidFill>
              </a:rPr>
              <a:t>Initialization</a:t>
            </a:r>
            <a:r>
              <a:rPr lang="zh-CN" altLang="en-US" sz="2400" dirty="0" smtClean="0">
                <a:solidFill>
                  <a:srgbClr val="C00000"/>
                </a:solidFill>
              </a:rPr>
              <a:t>）</a:t>
            </a:r>
            <a:r>
              <a:rPr lang="zh-CN" altLang="en-US" sz="2400" dirty="0" smtClean="0">
                <a:solidFill>
                  <a:schemeClr val="accent3">
                    <a:lumMod val="50000"/>
                  </a:schemeClr>
                </a:solidFill>
              </a:rPr>
              <a:t>：包含顺序执行的</a:t>
            </a:r>
            <a:r>
              <a:rPr lang="zh-CN" altLang="en-US" sz="2400" dirty="0" smtClean="0">
                <a:solidFill>
                  <a:srgbClr val="C00000"/>
                </a:solidFill>
              </a:rPr>
              <a:t>三个子状态</a:t>
            </a:r>
            <a:r>
              <a:rPr lang="zh-CN" altLang="en-US" sz="2400" dirty="0" smtClean="0">
                <a:solidFill>
                  <a:schemeClr val="accent3">
                    <a:lumMod val="50000"/>
                  </a:schemeClr>
                </a:solidFill>
              </a:rPr>
              <a:t>，设备上电或重置后进入</a:t>
            </a:r>
            <a:r>
              <a:rPr lang="zh-CN" altLang="en-US" sz="2400" dirty="0" smtClean="0">
                <a:solidFill>
                  <a:srgbClr val="C00000"/>
                </a:solidFill>
              </a:rPr>
              <a:t>初始化状</a:t>
            </a:r>
            <a:r>
              <a:rPr lang="zh-CN" altLang="en-US" sz="2400" dirty="0" smtClean="0">
                <a:solidFill>
                  <a:schemeClr val="accent3">
                    <a:lumMod val="50000"/>
                  </a:schemeClr>
                </a:solidFill>
              </a:rPr>
              <a:t>态，随后在</a:t>
            </a:r>
            <a:r>
              <a:rPr lang="zh-CN" altLang="en-US" sz="2400" dirty="0" smtClean="0">
                <a:solidFill>
                  <a:srgbClr val="C00000"/>
                </a:solidFill>
              </a:rPr>
              <a:t>重置应用</a:t>
            </a:r>
            <a:r>
              <a:rPr lang="zh-CN" altLang="en-US" sz="2400" dirty="0" smtClean="0">
                <a:solidFill>
                  <a:schemeClr val="accent3">
                    <a:lumMod val="50000"/>
                  </a:schemeClr>
                </a:solidFill>
              </a:rPr>
              <a:t>（</a:t>
            </a:r>
            <a:r>
              <a:rPr lang="en-US" altLang="zh-CN" sz="2400" dirty="0" smtClean="0">
                <a:solidFill>
                  <a:schemeClr val="accent3">
                    <a:lumMod val="50000"/>
                  </a:schemeClr>
                </a:solidFill>
              </a:rPr>
              <a:t>reset application</a:t>
            </a:r>
            <a:r>
              <a:rPr lang="zh-CN" altLang="en-US" sz="2400" dirty="0" smtClean="0">
                <a:solidFill>
                  <a:schemeClr val="accent3">
                    <a:lumMod val="50000"/>
                  </a:schemeClr>
                </a:solidFill>
              </a:rPr>
              <a:t>）状态加载设备上电后参数，此后在</a:t>
            </a:r>
            <a:r>
              <a:rPr lang="zh-CN" altLang="en-US" sz="2400" dirty="0" smtClean="0">
                <a:solidFill>
                  <a:srgbClr val="C00000"/>
                </a:solidFill>
              </a:rPr>
              <a:t>重置通信</a:t>
            </a:r>
            <a:r>
              <a:rPr lang="zh-CN" altLang="en-US" sz="2400" dirty="0" smtClean="0">
                <a:solidFill>
                  <a:schemeClr val="accent3">
                    <a:lumMod val="50000"/>
                  </a:schemeClr>
                </a:solidFill>
              </a:rPr>
              <a:t>（</a:t>
            </a:r>
            <a:r>
              <a:rPr lang="en-US" altLang="zh-CN" sz="2400" dirty="0" smtClean="0">
                <a:solidFill>
                  <a:schemeClr val="accent3">
                    <a:lumMod val="50000"/>
                  </a:schemeClr>
                </a:solidFill>
              </a:rPr>
              <a:t>reset communication</a:t>
            </a:r>
            <a:r>
              <a:rPr lang="zh-CN" altLang="en-US" sz="2400" dirty="0" smtClean="0">
                <a:solidFill>
                  <a:schemeClr val="accent3">
                    <a:lumMod val="50000"/>
                  </a:schemeClr>
                </a:solidFill>
              </a:rPr>
              <a:t>）</a:t>
            </a:r>
            <a:r>
              <a:rPr lang="zh-CN" altLang="en-US" sz="2400" dirty="0" smtClean="0">
                <a:solidFill>
                  <a:srgbClr val="C00000"/>
                </a:solidFill>
              </a:rPr>
              <a:t>状态</a:t>
            </a:r>
            <a:r>
              <a:rPr lang="zh-CN" altLang="en-US" sz="2400" dirty="0" smtClean="0">
                <a:solidFill>
                  <a:schemeClr val="accent3">
                    <a:lumMod val="50000"/>
                  </a:schemeClr>
                </a:solidFill>
              </a:rPr>
              <a:t>加载设备通信参数。初始化完成后，发送引导消息，进入</a:t>
            </a:r>
            <a:r>
              <a:rPr lang="zh-CN" altLang="en-US" sz="2400" b="1" dirty="0" smtClean="0">
                <a:solidFill>
                  <a:schemeClr val="accent3">
                    <a:lumMod val="50000"/>
                  </a:schemeClr>
                </a:solidFill>
              </a:rPr>
              <a:t>前操作状态</a:t>
            </a:r>
            <a:r>
              <a:rPr lang="zh-CN" altLang="en-US" sz="2400" dirty="0" smtClean="0">
                <a:solidFill>
                  <a:schemeClr val="accent3">
                    <a:lumMod val="50000"/>
                  </a:schemeClr>
                </a:solidFill>
              </a:rPr>
              <a:t>；</a:t>
            </a:r>
            <a:endParaRPr lang="en-US" altLang="zh-CN" sz="2400" dirty="0" smtClean="0">
              <a:solidFill>
                <a:schemeClr val="accent3">
                  <a:lumMod val="50000"/>
                </a:schemeClr>
              </a:solidFill>
            </a:endParaRPr>
          </a:p>
          <a:p>
            <a:pPr>
              <a:buFont typeface="Arial" panose="020B0604020202020204" pitchFamily="34" charset="0"/>
              <a:buChar char="•"/>
            </a:pPr>
            <a:endParaRPr lang="zh-CN" altLang="en-US" sz="2400" b="1" dirty="0">
              <a:solidFill>
                <a:schemeClr val="accent3">
                  <a:lumMod val="50000"/>
                </a:schemeClr>
              </a:solidFill>
            </a:endParaRPr>
          </a:p>
        </p:txBody>
      </p:sp>
    </p:spTree>
    <p:extLst>
      <p:ext uri="{BB962C8B-B14F-4D97-AF65-F5344CB8AC3E}">
        <p14:creationId xmlns:p14="http://schemas.microsoft.com/office/powerpoint/2010/main" val="2814746752"/>
      </p:ext>
    </p:extLst>
  </p:cSld>
  <p:clrMapOvr>
    <a:masterClrMapping/>
  </p:clrMapOvr>
  <p:transition spd="slow">
    <p:push dir="u"/>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 </a:t>
            </a:r>
            <a:r>
              <a:rPr lang="en-US" altLang="zh-CN" dirty="0" err="1"/>
              <a:t>CANopen</a:t>
            </a:r>
            <a:endParaRPr lang="zh-CN" altLang="en-US" dirty="0"/>
          </a:p>
        </p:txBody>
      </p:sp>
      <p:sp>
        <p:nvSpPr>
          <p:cNvPr id="3" name="内容占位符 2"/>
          <p:cNvSpPr>
            <a:spLocks noGrp="1"/>
          </p:cNvSpPr>
          <p:nvPr>
            <p:ph idx="1"/>
          </p:nvPr>
        </p:nvSpPr>
        <p:spPr/>
        <p:txBody>
          <a:bodyPr/>
          <a:lstStyle/>
          <a:p>
            <a:pPr>
              <a:buFont typeface="Arial" panose="020B0604020202020204" pitchFamily="34" charset="0"/>
              <a:buChar char="•"/>
            </a:pPr>
            <a:r>
              <a:rPr lang="zh-CN" altLang="en-US" sz="2400" dirty="0" smtClean="0">
                <a:solidFill>
                  <a:srgbClr val="C00000"/>
                </a:solidFill>
              </a:rPr>
              <a:t>前操作（</a:t>
            </a:r>
            <a:r>
              <a:rPr lang="en-US" altLang="zh-CN" sz="2400" dirty="0" smtClean="0">
                <a:solidFill>
                  <a:srgbClr val="C00000"/>
                </a:solidFill>
              </a:rPr>
              <a:t>Preoperational</a:t>
            </a:r>
            <a:r>
              <a:rPr lang="zh-CN" altLang="en-US" sz="2400" dirty="0" smtClean="0">
                <a:solidFill>
                  <a:srgbClr val="C00000"/>
                </a:solidFill>
              </a:rPr>
              <a:t>）：</a:t>
            </a:r>
            <a:r>
              <a:rPr lang="zh-CN" altLang="en-US" sz="2400" dirty="0" smtClean="0"/>
              <a:t>配置设备状态，可经由</a:t>
            </a:r>
            <a:r>
              <a:rPr lang="en-US" altLang="zh-CN" sz="2400" dirty="0" smtClean="0"/>
              <a:t>SDO</a:t>
            </a:r>
            <a:r>
              <a:rPr lang="zh-CN" altLang="en-US" sz="2400" dirty="0" smtClean="0"/>
              <a:t>通信，配置应用与工具可远程访问（修改）</a:t>
            </a:r>
            <a:r>
              <a:rPr lang="en-US" altLang="zh-CN" sz="2400" dirty="0" smtClean="0"/>
              <a:t>OD</a:t>
            </a:r>
            <a:r>
              <a:rPr lang="zh-CN" altLang="en-US" sz="2400" dirty="0" smtClean="0"/>
              <a:t>中的记录，但不允许</a:t>
            </a:r>
            <a:r>
              <a:rPr lang="en-US" altLang="zh-CN" sz="2400" dirty="0" smtClean="0"/>
              <a:t>PDO</a:t>
            </a:r>
            <a:r>
              <a:rPr lang="zh-CN" altLang="en-US" sz="2400" dirty="0" smtClean="0"/>
              <a:t>通信；</a:t>
            </a:r>
            <a:endParaRPr lang="en-US" altLang="zh-CN" sz="2400" dirty="0" smtClean="0"/>
          </a:p>
          <a:p>
            <a:pPr>
              <a:buFont typeface="Arial" panose="020B0604020202020204" pitchFamily="34" charset="0"/>
              <a:buChar char="•"/>
            </a:pPr>
            <a:r>
              <a:rPr lang="zh-CN" altLang="en-US" sz="2400" dirty="0" smtClean="0">
                <a:solidFill>
                  <a:srgbClr val="C00000"/>
                </a:solidFill>
              </a:rPr>
              <a:t>操作（</a:t>
            </a:r>
            <a:r>
              <a:rPr lang="en-US" altLang="zh-CN" sz="2400" dirty="0" smtClean="0">
                <a:solidFill>
                  <a:srgbClr val="C00000"/>
                </a:solidFill>
              </a:rPr>
              <a:t>Operational</a:t>
            </a:r>
            <a:r>
              <a:rPr lang="zh-CN" altLang="en-US" sz="2400" dirty="0" smtClean="0">
                <a:solidFill>
                  <a:srgbClr val="C00000"/>
                </a:solidFill>
              </a:rPr>
              <a:t>）：</a:t>
            </a:r>
            <a:r>
              <a:rPr lang="zh-CN" altLang="en-US" sz="2400" dirty="0"/>
              <a:t>设备全部</a:t>
            </a:r>
            <a:r>
              <a:rPr lang="zh-CN" altLang="en-US" sz="2400" dirty="0" smtClean="0"/>
              <a:t>功能及通信操作都可运行，但为了防止错误改变系统行为，</a:t>
            </a:r>
            <a:r>
              <a:rPr lang="en-US" altLang="zh-CN" sz="2400" dirty="0" smtClean="0"/>
              <a:t>OD</a:t>
            </a:r>
            <a:r>
              <a:rPr lang="zh-CN" altLang="en-US" sz="2400" dirty="0" smtClean="0"/>
              <a:t>的访问可能在某种程度上被限制；</a:t>
            </a:r>
            <a:endParaRPr lang="en-US" altLang="zh-CN" sz="2400" dirty="0" smtClean="0"/>
          </a:p>
          <a:p>
            <a:pPr>
              <a:buFont typeface="Arial" panose="020B0604020202020204" pitchFamily="34" charset="0"/>
              <a:buChar char="•"/>
            </a:pPr>
            <a:r>
              <a:rPr lang="zh-CN" altLang="en-US" sz="2400" dirty="0" smtClean="0">
                <a:solidFill>
                  <a:srgbClr val="C00000"/>
                </a:solidFill>
              </a:rPr>
              <a:t>停止（</a:t>
            </a:r>
            <a:r>
              <a:rPr lang="en-US" altLang="zh-CN" sz="2400" dirty="0" smtClean="0">
                <a:solidFill>
                  <a:srgbClr val="C00000"/>
                </a:solidFill>
              </a:rPr>
              <a:t>Stopped</a:t>
            </a:r>
            <a:r>
              <a:rPr lang="zh-CN" altLang="en-US" sz="2400" dirty="0" smtClean="0">
                <a:solidFill>
                  <a:srgbClr val="C00000"/>
                </a:solidFill>
              </a:rPr>
              <a:t>）：</a:t>
            </a:r>
            <a:r>
              <a:rPr lang="zh-CN" altLang="en-US" sz="2400" dirty="0" smtClean="0"/>
              <a:t>除</a:t>
            </a:r>
            <a:r>
              <a:rPr lang="en-US" altLang="zh-CN" sz="2400" dirty="0" smtClean="0"/>
              <a:t>NMT</a:t>
            </a:r>
            <a:r>
              <a:rPr lang="zh-CN" altLang="en-US" sz="2400" dirty="0" smtClean="0"/>
              <a:t>服务外，所有的通信都停止，但与设备停止时对应的特定功能可加强（在设备配置文件中指定），同时执行安全功能。</a:t>
            </a:r>
            <a:endParaRPr lang="en-US" altLang="zh-CN" sz="2400" dirty="0" smtClean="0"/>
          </a:p>
          <a:p>
            <a:pPr marL="0" indent="0">
              <a:buNone/>
            </a:pPr>
            <a:r>
              <a:rPr lang="en-US" altLang="zh-CN" sz="2400" dirty="0" smtClean="0"/>
              <a:t>NMT</a:t>
            </a:r>
            <a:r>
              <a:rPr lang="zh-CN" altLang="en-US" sz="2400" dirty="0" smtClean="0"/>
              <a:t>指令在</a:t>
            </a:r>
            <a:r>
              <a:rPr lang="en-US" altLang="zh-CN" sz="2400" dirty="0" smtClean="0"/>
              <a:t>CAN</a:t>
            </a:r>
            <a:r>
              <a:rPr lang="zh-CN" altLang="en-US" sz="2400" dirty="0" smtClean="0"/>
              <a:t>中具有最高优先级（</a:t>
            </a:r>
            <a:r>
              <a:rPr lang="en-US" altLang="zh-CN" sz="2400" dirty="0" smtClean="0"/>
              <a:t>CAN-ID</a:t>
            </a:r>
            <a:r>
              <a:rPr lang="zh-CN" altLang="en-US" sz="2400" dirty="0" smtClean="0"/>
              <a:t>为</a:t>
            </a:r>
            <a:r>
              <a:rPr lang="en-US" altLang="zh-CN" sz="2400" dirty="0" smtClean="0"/>
              <a:t>0</a:t>
            </a:r>
            <a:r>
              <a:rPr lang="zh-CN" altLang="en-US" sz="2400" dirty="0" smtClean="0"/>
              <a:t>），数据场</a:t>
            </a:r>
            <a:r>
              <a:rPr lang="en-US" altLang="zh-CN" sz="2400" dirty="0" smtClean="0"/>
              <a:t>2bytes</a:t>
            </a:r>
            <a:r>
              <a:rPr lang="zh-CN" altLang="en-US" sz="2400" dirty="0" smtClean="0"/>
              <a:t>，第一个字节指定服务，第二个字节标识目标节点。</a:t>
            </a:r>
            <a:r>
              <a:rPr lang="en-US" altLang="zh-CN" sz="2400" dirty="0" smtClean="0"/>
              <a:t>NMT</a:t>
            </a:r>
            <a:r>
              <a:rPr lang="zh-CN" altLang="en-US" sz="2400" dirty="0" smtClean="0"/>
              <a:t>主节点可以在同一时刻调用一个或所有节点的服务。</a:t>
            </a:r>
            <a:endParaRPr lang="en-US" altLang="zh-CN" sz="2400" dirty="0" smtClean="0"/>
          </a:p>
          <a:p>
            <a:pPr marL="0" indent="0">
              <a:buNone/>
            </a:pPr>
            <a:r>
              <a:rPr lang="zh-CN" altLang="en-US" sz="2400" dirty="0" smtClean="0"/>
              <a:t>（</a:t>
            </a:r>
            <a:r>
              <a:rPr lang="en-US" altLang="zh-CN" sz="2400" dirty="0" smtClean="0"/>
              <a:t>NMT</a:t>
            </a:r>
            <a:r>
              <a:rPr lang="zh-CN" altLang="en-US" sz="2400" dirty="0" smtClean="0"/>
              <a:t>状态机如下页图所示）</a:t>
            </a:r>
            <a:endParaRPr lang="zh-CN" altLang="en-US" sz="2400" dirty="0"/>
          </a:p>
        </p:txBody>
      </p:sp>
    </p:spTree>
    <p:extLst>
      <p:ext uri="{BB962C8B-B14F-4D97-AF65-F5344CB8AC3E}">
        <p14:creationId xmlns:p14="http://schemas.microsoft.com/office/powerpoint/2010/main" val="2809676858"/>
      </p:ext>
    </p:extLst>
  </p:cSld>
  <p:clrMapOvr>
    <a:masterClrMapping/>
  </p:clrMapOvr>
  <p:transition spd="slow">
    <p:push dir="u"/>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 </a:t>
            </a:r>
            <a:r>
              <a:rPr lang="en-US" altLang="zh-CN" dirty="0" err="1"/>
              <a:t>CANopen</a:t>
            </a:r>
            <a:endParaRPr lang="zh-CN" altLang="en-US" dirty="0"/>
          </a:p>
        </p:txBody>
      </p:sp>
      <p:pic>
        <p:nvPicPr>
          <p:cNvPr id="4" name="内容占位符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83568" y="980728"/>
            <a:ext cx="7395739" cy="4608512"/>
          </a:xfrm>
        </p:spPr>
      </p:pic>
      <p:sp>
        <p:nvSpPr>
          <p:cNvPr id="5" name="TextBox 4"/>
          <p:cNvSpPr txBox="1"/>
          <p:nvPr/>
        </p:nvSpPr>
        <p:spPr>
          <a:xfrm>
            <a:off x="2555776" y="5805264"/>
            <a:ext cx="4176464" cy="523220"/>
          </a:xfrm>
          <a:prstGeom prst="rect">
            <a:avLst/>
          </a:prstGeom>
          <a:noFill/>
        </p:spPr>
        <p:txBody>
          <a:bodyPr wrap="square" rtlCol="0">
            <a:spAutoFit/>
          </a:bodyPr>
          <a:lstStyle/>
          <a:p>
            <a:pPr algn="ctr"/>
            <a:r>
              <a:rPr lang="en-US" altLang="zh-CN" sz="2800" b="1" dirty="0" smtClean="0">
                <a:solidFill>
                  <a:schemeClr val="accent3">
                    <a:lumMod val="50000"/>
                  </a:schemeClr>
                </a:solidFill>
              </a:rPr>
              <a:t>NMT</a:t>
            </a:r>
            <a:r>
              <a:rPr lang="zh-CN" altLang="en-US" sz="2800" b="1" dirty="0" smtClean="0">
                <a:solidFill>
                  <a:schemeClr val="accent3">
                    <a:lumMod val="50000"/>
                  </a:schemeClr>
                </a:solidFill>
              </a:rPr>
              <a:t>状态机</a:t>
            </a:r>
            <a:endParaRPr lang="zh-CN" altLang="en-US" sz="2800" b="1" dirty="0">
              <a:solidFill>
                <a:schemeClr val="accent3">
                  <a:lumMod val="50000"/>
                </a:schemeClr>
              </a:solidFill>
            </a:endParaRPr>
          </a:p>
        </p:txBody>
      </p:sp>
    </p:spTree>
    <p:extLst>
      <p:ext uri="{BB962C8B-B14F-4D97-AF65-F5344CB8AC3E}">
        <p14:creationId xmlns:p14="http://schemas.microsoft.com/office/powerpoint/2010/main" val="3141447602"/>
      </p:ext>
    </p:extLst>
  </p:cSld>
  <p:clrMapOvr>
    <a:masterClrMapping/>
  </p:clrMapOvr>
  <p:transition spd="slow">
    <p:push dir="u"/>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 </a:t>
            </a:r>
            <a:r>
              <a:rPr lang="en-US" altLang="zh-CN" dirty="0" err="1"/>
              <a:t>CANopen</a:t>
            </a:r>
            <a:endParaRPr lang="zh-CN" altLang="en-US" dirty="0"/>
          </a:p>
        </p:txBody>
      </p:sp>
      <p:sp>
        <p:nvSpPr>
          <p:cNvPr id="3" name="内容占位符 2"/>
          <p:cNvSpPr>
            <a:spLocks noGrp="1"/>
          </p:cNvSpPr>
          <p:nvPr>
            <p:ph idx="1"/>
          </p:nvPr>
        </p:nvSpPr>
        <p:spPr/>
        <p:txBody>
          <a:bodyPr/>
          <a:lstStyle/>
          <a:p>
            <a:pPr>
              <a:buFont typeface="Wingdings" panose="05000000000000000000" pitchFamily="2" charset="2"/>
              <a:buChar char="p"/>
            </a:pPr>
            <a:r>
              <a:rPr lang="zh-CN" altLang="en-US" sz="2800" b="1" dirty="0" smtClean="0">
                <a:solidFill>
                  <a:srgbClr val="FF0000"/>
                </a:solidFill>
              </a:rPr>
              <a:t>错误控制服务</a:t>
            </a:r>
            <a:endParaRPr lang="en-US" altLang="zh-CN" sz="2800" b="1" dirty="0" smtClean="0">
              <a:solidFill>
                <a:srgbClr val="FF0000"/>
              </a:solidFill>
            </a:endParaRPr>
          </a:p>
          <a:p>
            <a:pPr>
              <a:buFont typeface="Arial" panose="020B0604020202020204" pitchFamily="34" charset="0"/>
              <a:buChar char="•"/>
            </a:pPr>
            <a:r>
              <a:rPr lang="zh-CN" altLang="en-US" sz="2400" dirty="0"/>
              <a:t>通过监测网络操作，错误控制服务</a:t>
            </a:r>
            <a:r>
              <a:rPr lang="zh-CN" altLang="en-US" sz="2400" dirty="0">
                <a:solidFill>
                  <a:srgbClr val="C00000"/>
                </a:solidFill>
              </a:rPr>
              <a:t>检测可能的</a:t>
            </a:r>
            <a:r>
              <a:rPr lang="zh-CN" altLang="en-US" sz="2400" dirty="0" smtClean="0">
                <a:solidFill>
                  <a:srgbClr val="C00000"/>
                </a:solidFill>
              </a:rPr>
              <a:t>故障</a:t>
            </a:r>
            <a:r>
              <a:rPr lang="zh-CN" altLang="en-US" sz="2400" dirty="0" smtClean="0"/>
              <a:t>；</a:t>
            </a:r>
            <a:endParaRPr lang="en-US" altLang="zh-CN" sz="2400" dirty="0" smtClean="0"/>
          </a:p>
          <a:p>
            <a:pPr>
              <a:buFont typeface="Arial" panose="020B0604020202020204" pitchFamily="34" charset="0"/>
              <a:buChar char="•"/>
            </a:pPr>
            <a:r>
              <a:rPr lang="zh-CN" altLang="en-US" sz="2400" dirty="0" smtClean="0"/>
              <a:t>错误控制服务的实现有</a:t>
            </a:r>
            <a:r>
              <a:rPr lang="zh-CN" altLang="en-US" sz="2400" dirty="0" smtClean="0">
                <a:solidFill>
                  <a:srgbClr val="C00000"/>
                </a:solidFill>
              </a:rPr>
              <a:t>两种机制</a:t>
            </a:r>
            <a:r>
              <a:rPr lang="zh-CN" altLang="en-US" sz="2400" dirty="0" smtClean="0"/>
              <a:t>，</a:t>
            </a:r>
            <a:r>
              <a:rPr lang="en-US" altLang="zh-CN" sz="2400" dirty="0" smtClean="0"/>
              <a:t>node </a:t>
            </a:r>
            <a:r>
              <a:rPr lang="en-US" altLang="zh-CN" sz="2400" dirty="0" err="1" smtClean="0"/>
              <a:t>garding</a:t>
            </a:r>
            <a:r>
              <a:rPr lang="zh-CN" altLang="en-US" sz="2400" dirty="0" smtClean="0"/>
              <a:t>与</a:t>
            </a:r>
            <a:r>
              <a:rPr lang="en-US" altLang="zh-CN" sz="2400" dirty="0" smtClean="0"/>
              <a:t>heartbeat</a:t>
            </a:r>
            <a:r>
              <a:rPr lang="zh-CN" altLang="en-US" sz="2400" dirty="0" smtClean="0"/>
              <a:t>；</a:t>
            </a:r>
            <a:endParaRPr lang="en-US" altLang="zh-CN" sz="2400" dirty="0" smtClean="0"/>
          </a:p>
          <a:p>
            <a:pPr>
              <a:buFont typeface="Arial" panose="020B0604020202020204" pitchFamily="34" charset="0"/>
              <a:buChar char="•"/>
            </a:pPr>
            <a:r>
              <a:rPr lang="en-US" altLang="zh-CN" sz="2400" dirty="0" smtClean="0">
                <a:solidFill>
                  <a:srgbClr val="C00000"/>
                </a:solidFill>
              </a:rPr>
              <a:t>Node </a:t>
            </a:r>
            <a:r>
              <a:rPr lang="en-US" altLang="zh-CN" sz="2400" dirty="0" err="1" smtClean="0">
                <a:solidFill>
                  <a:srgbClr val="C00000"/>
                </a:solidFill>
              </a:rPr>
              <a:t>garding</a:t>
            </a:r>
            <a:r>
              <a:rPr lang="zh-CN" altLang="en-US" sz="2400" dirty="0" smtClean="0">
                <a:solidFill>
                  <a:srgbClr val="C00000"/>
                </a:solidFill>
              </a:rPr>
              <a:t>机制</a:t>
            </a:r>
            <a:r>
              <a:rPr lang="zh-CN" altLang="en-US" sz="2400" dirty="0" smtClean="0"/>
              <a:t>中，</a:t>
            </a:r>
            <a:r>
              <a:rPr lang="en-US" altLang="zh-CN" sz="2400" dirty="0" smtClean="0"/>
              <a:t>NMT</a:t>
            </a:r>
            <a:r>
              <a:rPr lang="zh-CN" altLang="en-US" sz="2400" dirty="0" smtClean="0"/>
              <a:t>主节点以规定间隔，通过</a:t>
            </a:r>
            <a:r>
              <a:rPr lang="en-US" altLang="zh-CN" sz="2400" dirty="0" smtClean="0"/>
              <a:t>CAN</a:t>
            </a:r>
            <a:r>
              <a:rPr lang="zh-CN" altLang="en-US" sz="2400" dirty="0" smtClean="0"/>
              <a:t>远程帧查询</a:t>
            </a:r>
            <a:r>
              <a:rPr lang="en-US" altLang="zh-CN" sz="2400" dirty="0" smtClean="0"/>
              <a:t>NMT</a:t>
            </a:r>
            <a:r>
              <a:rPr lang="zh-CN" altLang="en-US" sz="2400" dirty="0" smtClean="0"/>
              <a:t>从节点，若从节点在规定时间内无响应，则主节点知道从节点可能故障；同样的方法可以应用在从节点上，使从节点知道主节点故障。</a:t>
            </a:r>
            <a:endParaRPr lang="en-US" altLang="zh-CN" sz="2400" dirty="0" smtClean="0"/>
          </a:p>
          <a:p>
            <a:pPr>
              <a:buFont typeface="Arial" panose="020B0604020202020204" pitchFamily="34" charset="0"/>
              <a:buChar char="•"/>
            </a:pPr>
            <a:r>
              <a:rPr lang="en-US" altLang="zh-CN" sz="2400" dirty="0" smtClean="0">
                <a:solidFill>
                  <a:srgbClr val="C00000"/>
                </a:solidFill>
              </a:rPr>
              <a:t>Heartbeat</a:t>
            </a:r>
            <a:r>
              <a:rPr lang="zh-CN" altLang="en-US" sz="2400" dirty="0" smtClean="0">
                <a:solidFill>
                  <a:srgbClr val="C00000"/>
                </a:solidFill>
              </a:rPr>
              <a:t>机制</a:t>
            </a:r>
            <a:r>
              <a:rPr lang="zh-CN" altLang="en-US" sz="2400" dirty="0" smtClean="0"/>
              <a:t>中，一个节点自动周期性的生成</a:t>
            </a:r>
            <a:r>
              <a:rPr lang="en-US" altLang="zh-CN" sz="2400" dirty="0" smtClean="0"/>
              <a:t>heartbeat</a:t>
            </a:r>
            <a:r>
              <a:rPr lang="zh-CN" altLang="en-US" sz="2400" dirty="0" smtClean="0"/>
              <a:t>消息，总线上的其他节点监测此节点的</a:t>
            </a:r>
            <a:r>
              <a:rPr lang="en-US" altLang="zh-CN" sz="2400" dirty="0" smtClean="0"/>
              <a:t>heartbeat</a:t>
            </a:r>
            <a:r>
              <a:rPr lang="zh-CN" altLang="en-US" sz="2400" dirty="0" smtClean="0"/>
              <a:t>消息。若在给定时间内，</a:t>
            </a:r>
            <a:r>
              <a:rPr lang="en-US" altLang="zh-CN" sz="2400" dirty="0"/>
              <a:t> heartbeat</a:t>
            </a:r>
            <a:r>
              <a:rPr lang="zh-CN" altLang="en-US" sz="2400" dirty="0" smtClean="0"/>
              <a:t>消息的消费节点没有收到</a:t>
            </a:r>
            <a:r>
              <a:rPr lang="en-US" altLang="zh-CN" sz="2400" dirty="0"/>
              <a:t>heartbeat</a:t>
            </a:r>
            <a:r>
              <a:rPr lang="zh-CN" altLang="en-US" sz="2400" dirty="0" smtClean="0"/>
              <a:t>消息生成节点的</a:t>
            </a:r>
            <a:r>
              <a:rPr lang="en-US" altLang="zh-CN" sz="2400" dirty="0"/>
              <a:t>heartbeat</a:t>
            </a:r>
            <a:r>
              <a:rPr lang="zh-CN" altLang="en-US" sz="2400" dirty="0" smtClean="0"/>
              <a:t>消息，则通知本地应用。</a:t>
            </a:r>
            <a:endParaRPr lang="en-US" altLang="zh-CN" sz="2400" dirty="0" smtClean="0"/>
          </a:p>
          <a:p>
            <a:pPr marL="0" indent="0">
              <a:buNone/>
            </a:pPr>
            <a:endParaRPr lang="en-US" altLang="zh-CN" sz="2400" dirty="0" smtClean="0"/>
          </a:p>
        </p:txBody>
      </p:sp>
    </p:spTree>
    <p:extLst>
      <p:ext uri="{BB962C8B-B14F-4D97-AF65-F5344CB8AC3E}">
        <p14:creationId xmlns:p14="http://schemas.microsoft.com/office/powerpoint/2010/main" val="500254710"/>
      </p:ext>
    </p:extLst>
  </p:cSld>
  <p:clrMapOvr>
    <a:masterClrMapping/>
  </p:clrMapOvr>
  <p:transition spd="slow">
    <p:push dir="u"/>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26372</TotalTime>
  <Words>7755</Words>
  <Application>Microsoft Office PowerPoint</Application>
  <PresentationFormat>全屏显示(4:3)</PresentationFormat>
  <Paragraphs>505</Paragraphs>
  <Slides>69</Slides>
  <Notes>40</Notes>
  <HiddenSlides>0</HiddenSlides>
  <MMClips>0</MMClips>
  <ScaleCrop>false</ScaleCrop>
  <HeadingPairs>
    <vt:vector size="4" baseType="variant">
      <vt:variant>
        <vt:lpstr>主题</vt:lpstr>
      </vt:variant>
      <vt:variant>
        <vt:i4>1</vt:i4>
      </vt:variant>
      <vt:variant>
        <vt:lpstr>幻灯片标题</vt:lpstr>
      </vt:variant>
      <vt:variant>
        <vt:i4>69</vt:i4>
      </vt:variant>
    </vt:vector>
  </HeadingPairs>
  <TitlesOfParts>
    <vt:vector size="70" baseType="lpstr">
      <vt:lpstr>Office 主题</vt:lpstr>
      <vt:lpstr>第3章 CAN总线</vt:lpstr>
      <vt:lpstr>第3章 CAN总线</vt:lpstr>
      <vt:lpstr>3.1 概述</vt:lpstr>
      <vt:lpstr>3.1 概述</vt:lpstr>
      <vt:lpstr>3.1 概述</vt:lpstr>
      <vt:lpstr>第3章 CAN总线</vt:lpstr>
      <vt:lpstr>3.2 CAN协议基础</vt:lpstr>
      <vt:lpstr>3.2 CAN协议基础</vt:lpstr>
      <vt:lpstr>3.2 CAN协议基础</vt:lpstr>
      <vt:lpstr>3.2 CAN协议基础</vt:lpstr>
      <vt:lpstr>3.2 CAN协议基础</vt:lpstr>
      <vt:lpstr>3.2 CAN协议基础</vt:lpstr>
      <vt:lpstr>3.2 CAN协议基础</vt:lpstr>
      <vt:lpstr>3.2 CAN协议基础</vt:lpstr>
      <vt:lpstr>3.2 CAN协议基础</vt:lpstr>
      <vt:lpstr>3.2 CAN协议基础</vt:lpstr>
      <vt:lpstr>3.2 CAN协议基础</vt:lpstr>
      <vt:lpstr>3.2 CAN协议基础</vt:lpstr>
      <vt:lpstr>3.2 CAN协议基础</vt:lpstr>
      <vt:lpstr>3.2 CAN协议基础</vt:lpstr>
      <vt:lpstr>3.2 CAN协议基础</vt:lpstr>
      <vt:lpstr>3.2 CAN协议基础</vt:lpstr>
      <vt:lpstr>3.2 CAN协议基础</vt:lpstr>
      <vt:lpstr>3.2 CAN协议基础</vt:lpstr>
      <vt:lpstr>3.2 CAN协议基础</vt:lpstr>
      <vt:lpstr>3.2 CAN协议基础</vt:lpstr>
      <vt:lpstr>3.2 CAN协议基础</vt:lpstr>
      <vt:lpstr>3.2 CAN协议基础</vt:lpstr>
      <vt:lpstr>3.2 CAN协议基础</vt:lpstr>
      <vt:lpstr>3.2 CAN协议基础</vt:lpstr>
      <vt:lpstr>3.2 CAN协议基础</vt:lpstr>
      <vt:lpstr>3.2 CAN协议基础</vt:lpstr>
      <vt:lpstr>3.2 CAN协议基础</vt:lpstr>
      <vt:lpstr>3.2 CAN协议基础</vt:lpstr>
      <vt:lpstr>3.2 CAN协议基础</vt:lpstr>
      <vt:lpstr>3.2 CAN协议基础</vt:lpstr>
      <vt:lpstr>3.2 CAN协议基础</vt:lpstr>
      <vt:lpstr>3.2 CAN协议基础</vt:lpstr>
      <vt:lpstr>3.2 CAN协议基础</vt:lpstr>
      <vt:lpstr>3.2 CAN协议基础</vt:lpstr>
      <vt:lpstr>3.2 CAN协议基础</vt:lpstr>
      <vt:lpstr>3.2 CAN协议基础</vt:lpstr>
      <vt:lpstr>3.2 CAN协议基础</vt:lpstr>
      <vt:lpstr>3.2 CAN协议基础</vt:lpstr>
      <vt:lpstr>第3章 CAN总线</vt:lpstr>
      <vt:lpstr>3.3 CAN总线的优势与不足</vt:lpstr>
      <vt:lpstr>3.3 CAN总线的优势与不足</vt:lpstr>
      <vt:lpstr>3.3 CAN总线的优势与不足</vt:lpstr>
      <vt:lpstr>3.3 CAN总线的优势与不足</vt:lpstr>
      <vt:lpstr>3.3 CAN总线的优势与不足</vt:lpstr>
      <vt:lpstr>第3章 CAN总线</vt:lpstr>
      <vt:lpstr>3.4 CANopen</vt:lpstr>
      <vt:lpstr>3.4 CANopen</vt:lpstr>
      <vt:lpstr>3.4 CANopen</vt:lpstr>
      <vt:lpstr>3.4 CANopen</vt:lpstr>
      <vt:lpstr>3.4 CANopen</vt:lpstr>
      <vt:lpstr>3.4 CANopen</vt:lpstr>
      <vt:lpstr>3.4 CANopen</vt:lpstr>
      <vt:lpstr>3.4 CANopen</vt:lpstr>
      <vt:lpstr>3.4 CANopen</vt:lpstr>
      <vt:lpstr>3.4 CANopen</vt:lpstr>
      <vt:lpstr>3.4 CANopen</vt:lpstr>
      <vt:lpstr>3.4 CANopen</vt:lpstr>
      <vt:lpstr>3.4 CANopen</vt:lpstr>
      <vt:lpstr>3.4 CANopen</vt:lpstr>
      <vt:lpstr>3.4 CANopen</vt:lpstr>
      <vt:lpstr>3.4 CANopen</vt:lpstr>
      <vt:lpstr>3.4 CANopen</vt:lpstr>
      <vt:lpstr>3.4 CANopen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Zachary</dc:creator>
  <cp:lastModifiedBy>Windows User</cp:lastModifiedBy>
  <cp:revision>3238</cp:revision>
  <dcterms:modified xsi:type="dcterms:W3CDTF">2016-09-25T03:44:38Z</dcterms:modified>
</cp:coreProperties>
</file>